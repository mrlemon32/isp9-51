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78" r:id="rId3"/>
    <p:sldId id="271" r:id="rId4"/>
    <p:sldId id="272" r:id="rId5"/>
    <p:sldId id="273" r:id="rId6"/>
    <p:sldId id="257" r:id="rId7"/>
    <p:sldId id="258" r:id="rId8"/>
    <p:sldId id="274" r:id="rId9"/>
    <p:sldId id="270" r:id="rId10"/>
    <p:sldId id="275" r:id="rId11"/>
    <p:sldId id="276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1"/>
    <p:restoredTop sz="94674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F794-C895-4B34-B804-2354C417239C}" type="datetimeFigureOut">
              <a:rPr lang="ru-RU" smtClean="0"/>
              <a:pPr/>
              <a:t>13.01.2022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E48AB-84EC-4E8E-9944-7FCD6135A77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1/13/2022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i="1" dirty="0"/>
              <a:t>МДК. 04.01 Внедрение и поддержка компьютерных систем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b="1" dirty="0" smtClean="0"/>
              <a:t>		Компьютерные </a:t>
            </a:r>
            <a:r>
              <a:rPr lang="ru-RU" b="1" dirty="0" smtClean="0"/>
              <a:t>системы</a:t>
            </a:r>
            <a:r>
              <a:rPr lang="ru-RU" dirty="0" smtClean="0"/>
              <a:t> – комплекс компьютерного, активного сетевого оборудования, системного и офисного программного обеспечения, необходимого для успешного функционирования комплексной автоматизированной системы предприятия.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Новая жизнь старого компьютера - Hi-Tech Mail.r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33350"/>
            <a:ext cx="8001000" cy="6724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722" name="AutoShape 2" descr="старый компьютер - Создать мем - Meme-arsenal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24" name="AutoShape 4" descr="старый компьютер - Создать мем - Meme-arsenal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26" name="AutoShape 6" descr="запустил пару программ на старом пк! дыши родной, я в тебя верю , Мем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27" name="Picture 7" descr="C:\Users\home\Desktop\Новая папка (7)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857232"/>
            <a:ext cx="3500462" cy="2728706"/>
          </a:xfrm>
          <a:prstGeom prst="rect">
            <a:avLst/>
          </a:prstGeom>
          <a:noFill/>
        </p:spPr>
      </p:pic>
      <p:pic>
        <p:nvPicPr>
          <p:cNvPr id="30728" name="Picture 8" descr="C:\Users\home\Desktop\Новая папка (7)\maxresdefaul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2495" y="1484493"/>
            <a:ext cx="4395745" cy="2472606"/>
          </a:xfrm>
          <a:prstGeom prst="rect">
            <a:avLst/>
          </a:prstGeom>
          <a:noFill/>
        </p:spPr>
      </p:pic>
      <p:pic>
        <p:nvPicPr>
          <p:cNvPr id="30729" name="Picture 9" descr="C:\Users\home\Desktop\Новая папка (7)\Без названия (1)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3929066"/>
            <a:ext cx="2924194" cy="1970884"/>
          </a:xfrm>
          <a:prstGeom prst="rect">
            <a:avLst/>
          </a:prstGeom>
          <a:noFill/>
        </p:spPr>
      </p:pic>
      <p:pic>
        <p:nvPicPr>
          <p:cNvPr id="30730" name="Picture 10" descr="C:\Users\home\Desktop\Новая папка (7)\Без названия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00232" y="3857628"/>
            <a:ext cx="3143272" cy="23544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1746" name="Picture 2" descr="C:\Users\home\Desktop\Новая папка (7)\cov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2928934"/>
            <a:ext cx="2595566" cy="3739975"/>
          </a:xfrm>
          <a:prstGeom prst="rect">
            <a:avLst/>
          </a:prstGeom>
          <a:noFill/>
        </p:spPr>
      </p:pic>
      <p:pic>
        <p:nvPicPr>
          <p:cNvPr id="31747" name="Picture 3" descr="C:\Users\home\Desktop\Новая папка (7)\Msdos-ico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57222" y="-214338"/>
            <a:ext cx="4929199" cy="4929198"/>
          </a:xfrm>
          <a:prstGeom prst="rect">
            <a:avLst/>
          </a:prstGeom>
          <a:noFill/>
        </p:spPr>
      </p:pic>
      <p:pic>
        <p:nvPicPr>
          <p:cNvPr id="31748" name="Picture 4" descr="C:\Users\home\Desktop\Новая папка (7)\Без названия (2)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3372" y="285728"/>
            <a:ext cx="4572032" cy="25603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2800" dirty="0" smtClean="0"/>
              <a:t>ГОСТ Р ИСО/МЭК 12207-2010. </a:t>
            </a:r>
            <a:br>
              <a:rPr lang="ru-RU" sz="2800" dirty="0" smtClean="0"/>
            </a:br>
            <a:r>
              <a:rPr lang="ru-RU" sz="2800" i="1" dirty="0" smtClean="0">
                <a:effectLst/>
              </a:rPr>
              <a:t>Основные методы внедрения программного обеспечения и компьютерных систем</a:t>
            </a:r>
            <a:r>
              <a:rPr lang="ru-RU" sz="2800" dirty="0">
                <a:effectLst/>
              </a:rPr>
              <a:t/>
            </a:r>
            <a:br>
              <a:rPr lang="ru-RU" sz="2800" dirty="0">
                <a:effectLst/>
              </a:rPr>
            </a:br>
            <a:endParaRPr lang="ru-RU" sz="2800" dirty="0"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533400" y="228600"/>
            <a:ext cx="8229600" cy="6248400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ru-RU" b="1" dirty="0"/>
              <a:t>		ГОСТ Р ИСО/МЭК 12207-2010. Информационная технология. Системная и программная инженерия. Процессы жизненного цикла программных средств</a:t>
            </a:r>
          </a:p>
          <a:p>
            <a:pPr algn="just">
              <a:buNone/>
            </a:pPr>
            <a:r>
              <a:rPr lang="ru-RU" dirty="0" smtClean="0"/>
              <a:t>		Настоящий стандарт идентичен международному стандарту ИСО/МЭК 12207-2008* "Системная и программная инженерия. Процессы жизненного цикла программных средств«</a:t>
            </a:r>
          </a:p>
          <a:p>
            <a:pPr algn="just">
              <a:buNone/>
            </a:pPr>
            <a:endParaRPr lang="ru-RU" b="1" dirty="0"/>
          </a:p>
          <a:p>
            <a:pPr algn="just">
              <a:buNone/>
            </a:pPr>
            <a:r>
              <a:rPr lang="ru-RU" dirty="0"/>
              <a:t>		</a:t>
            </a:r>
            <a:r>
              <a:rPr lang="ru-RU" dirty="0" smtClean="0"/>
              <a:t> Настоящий стандарт, устанавливает общую структуру процессов жизненного цикла программных средств, на которую можно ориентироваться в программной индустрии. </a:t>
            </a:r>
          </a:p>
          <a:p>
            <a:pPr algn="just">
              <a:buNone/>
            </a:pPr>
            <a:endParaRPr lang="ru-RU" dirty="0" smtClean="0"/>
          </a:p>
          <a:p>
            <a:pPr algn="just">
              <a:buNone/>
            </a:pPr>
            <a:r>
              <a:rPr lang="ru-RU" dirty="0" smtClean="0"/>
              <a:t>		Настоящий стандарт определяет процессы, виды деятельности и задачи, которые используются при приобретении программного продукта или услуги, а также при поставке, разработке, применении по назначению, сопровождении и прекращении применения программных продуктов.</a:t>
            </a:r>
          </a:p>
          <a:p>
            <a:pPr algn="just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	Настоящий стандарт устанавливает также процесс, который может использоваться при определении, управлении и совершенствовании процессов жизненного цикла программных средств.</a:t>
            </a:r>
            <a:endParaRPr lang="ru-RU" b="1" dirty="0"/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ru-RU" dirty="0" smtClean="0"/>
              <a:t>Жизненный цикл программного обеспечения - период разработки и эксплуатации программного обеспечения</a:t>
            </a:r>
          </a:p>
          <a:p>
            <a:pPr algn="just"/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2770" name="Picture 2" descr="C:\Users\home\Desktop\Новая папка (7)\scale_1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3071810"/>
            <a:ext cx="4834304" cy="30860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28596" y="428604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ru-RU" dirty="0" smtClean="0"/>
              <a:t>		После сформировавшейся мысли о том, что компании необходимо внедрение</a:t>
            </a:r>
            <a:r>
              <a:rPr lang="en-US" dirty="0" smtClean="0"/>
              <a:t> </a:t>
            </a:r>
            <a:r>
              <a:rPr lang="ru-RU" dirty="0" smtClean="0"/>
              <a:t>новой информационной или компьютерной системы или произвести замену существующей системы, нужно определиться, кто этим будет заниматься. </a:t>
            </a:r>
            <a:r>
              <a:rPr lang="ru-RU" dirty="0" smtClean="0"/>
              <a:t>	Существует </a:t>
            </a:r>
            <a:r>
              <a:rPr lang="ru-RU" dirty="0" smtClean="0"/>
              <a:t>несколько подходов к запуску проектов такого рода на предприятии:</a:t>
            </a:r>
            <a:endParaRPr lang="ru-RU" dirty="0"/>
          </a:p>
        </p:txBody>
      </p:sp>
      <p:sp>
        <p:nvSpPr>
          <p:cNvPr id="2050" name="AutoShape 2" descr="Морфологический разбор слова подход онлайн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1" name="Picture 3" descr="C:\Users\home\Desktop\Новая папка (7)\144441201091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3714752"/>
            <a:ext cx="3695700" cy="2943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28604"/>
            <a:ext cx="8543956" cy="585791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/>
              <a:t>1 . Заключение контракта с крупной компанией, внедряющей ИС. К преимуществам можно отнести опыт </a:t>
            </a:r>
            <a:r>
              <a:rPr lang="ru-RU" dirty="0" smtClean="0"/>
              <a:t>компании - </a:t>
            </a:r>
            <a:r>
              <a:rPr lang="ru-RU" dirty="0" err="1" smtClean="0"/>
              <a:t>аутсорсера</a:t>
            </a:r>
            <a:r>
              <a:rPr lang="ru-RU" dirty="0" smtClean="0"/>
              <a:t> </a:t>
            </a:r>
            <a:r>
              <a:rPr lang="ru-RU" dirty="0" smtClean="0"/>
              <a:t>и отдельных ее специалистов, а также наличие собственных проектных наработок. К недостаткам относят стоимость работ, возможную текучку кадров и возможность того, что за громким именем могут стоять не самые лучшие специалисты;</a:t>
            </a:r>
          </a:p>
          <a:p>
            <a:pPr algn="just"/>
            <a:r>
              <a:rPr lang="ru-RU" dirty="0" smtClean="0"/>
              <a:t>2. Приглашение небольшой, региональной IT-компании. Однозначным плюсом является высокая вероятность того, что внедрение автоматизированной информационной системы станет приоритетным проектом для нее. Если проект предстоит крупный, а значит долгий, стоит опасаться внезапных смен руководства, специалистов.</a:t>
            </a:r>
          </a:p>
          <a:p>
            <a:pPr algn="just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7215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 smtClean="0"/>
              <a:t>3. Внедрение силами собственного IT-отдела. В этом варианте привлекает отсутствие дополнительных трат, постоянная связь со специалистами и возможность лично управлять проектом. Однако тут кроется и большая опасность – специалисты IT-отдела, зачастую зависящие от пользователей и руководства, полностью ориентируются на их решения, в том числе не всегда правильные;</a:t>
            </a:r>
          </a:p>
          <a:p>
            <a:pPr algn="just"/>
            <a:r>
              <a:rPr lang="ru-RU" dirty="0" smtClean="0"/>
              <a:t>4. Приглашение эксперта. Отличный способ сэкономить и получить специалиста в нужной области. К недостаткам можно отнести необходимость высокой организованности всех сотрудников компании, зависимость успеха от одного человека и формальную ответственность за проект.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b="1" u="sng" dirty="0"/>
              <a:t>Основные этапы внедрения </a:t>
            </a:r>
            <a:r>
              <a:rPr lang="ru-RU" b="1" u="sng" dirty="0" smtClean="0"/>
              <a:t>компьютерных систем: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 1. Обследование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 2. Разработка технического задания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 3. Настройка системы (программного продукта)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 4. Тестирование системы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 5. Опытная эксплуатация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     6. Промышленная эксплуатация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000132"/>
          </a:xfrm>
        </p:spPr>
        <p:txBody>
          <a:bodyPr>
            <a:noAutofit/>
          </a:bodyPr>
          <a:lstStyle/>
          <a:p>
            <a:pPr algn="just"/>
            <a:r>
              <a:rPr lang="ru-RU" sz="2800" dirty="0" smtClean="0"/>
              <a:t>Этапы </a:t>
            </a:r>
            <a:r>
              <a:rPr lang="ru-RU" sz="2800" dirty="0"/>
              <a:t>внедрения </a:t>
            </a:r>
            <a:r>
              <a:rPr lang="ru-RU" sz="2800" u="sng" dirty="0" smtClean="0"/>
              <a:t>компьютерных систем</a:t>
            </a:r>
            <a:r>
              <a:rPr lang="ru-RU" sz="2800" dirty="0" smtClean="0"/>
              <a:t>. </a:t>
            </a:r>
            <a:endParaRPr lang="ru-RU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650125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dirty="0"/>
              <a:t> 		</a:t>
            </a:r>
            <a:r>
              <a:rPr lang="ru-RU" b="1" dirty="0"/>
              <a:t>Первый этап проекта</a:t>
            </a:r>
            <a:r>
              <a:rPr lang="ru-RU" dirty="0"/>
              <a:t> – диагностика предприятия или его обследование.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	Под </a:t>
            </a:r>
            <a:r>
              <a:rPr lang="ru-RU" dirty="0"/>
              <a:t>обследованием подразумевается диагностика на предприятии всех </a:t>
            </a:r>
            <a:r>
              <a:rPr lang="ru-RU" dirty="0" smtClean="0"/>
              <a:t>процессов</a:t>
            </a:r>
            <a:r>
              <a:rPr lang="ru-RU" dirty="0"/>
              <a:t>, которые будет охватывать будущая система</a:t>
            </a:r>
            <a:r>
              <a:rPr lang="ru-RU" dirty="0" smtClean="0"/>
              <a:t>.</a:t>
            </a:r>
          </a:p>
          <a:p>
            <a:pPr algn="just">
              <a:buNone/>
            </a:pPr>
            <a:r>
              <a:rPr lang="ru-RU" dirty="0" smtClean="0"/>
              <a:t>		 </a:t>
            </a:r>
            <a:r>
              <a:rPr lang="ru-RU" dirty="0"/>
              <a:t>Количество дней для обследования может быть разным в зависимости от масштаба и функциональности создаваемой системы на основе выбранного программного продукта.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	В первую очередь необходимо определить цель внедрения. Многие руководители высшего звена поверхностно относятся к этому этапу, но на самом деле он задает направление всему внедрению</a:t>
            </a:r>
          </a:p>
          <a:p>
            <a:pPr algn="just">
              <a:buNone/>
            </a:pPr>
            <a:r>
              <a:rPr lang="ru-RU" dirty="0" smtClean="0"/>
              <a:t>		</a:t>
            </a:r>
          </a:p>
          <a:p>
            <a:pPr algn="just">
              <a:buNone/>
            </a:pPr>
            <a:r>
              <a:rPr lang="ru-RU" dirty="0" smtClean="0"/>
              <a:t>		 </a:t>
            </a:r>
            <a:r>
              <a:rPr lang="ru-RU" dirty="0"/>
              <a:t>Обычно на обследование отводится от 1 недели до 1 месяца ( средняя продолжительность этапа «обследование» – 2 недели).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b="1" dirty="0"/>
              <a:t>		Второй этап проекта</a:t>
            </a:r>
            <a:r>
              <a:rPr lang="ru-RU" dirty="0"/>
              <a:t> внедрения программного продукта – разработка технического задания. Техническое задание (ТЗ) включает в себя описание всех справочников системы, всех алгоритмов </a:t>
            </a:r>
            <a:r>
              <a:rPr lang="ru-RU" dirty="0" err="1" smtClean="0"/>
              <a:t>дейсвтий</a:t>
            </a:r>
            <a:r>
              <a:rPr lang="ru-RU" dirty="0" smtClean="0"/>
              <a:t>, </a:t>
            </a:r>
            <a:r>
              <a:rPr lang="ru-RU" dirty="0"/>
              <a:t>отчетных </a:t>
            </a:r>
            <a:r>
              <a:rPr lang="ru-RU" dirty="0" smtClean="0"/>
              <a:t>форм по внедрению, </a:t>
            </a:r>
            <a:r>
              <a:rPr lang="ru-RU" dirty="0"/>
              <a:t>АРМ (Автоматизированных рабочих мест) пользователей и описание разграничения прав доступа пользователей</a:t>
            </a:r>
            <a:r>
              <a:rPr lang="ru-RU" dirty="0" smtClean="0"/>
              <a:t>.</a:t>
            </a:r>
          </a:p>
          <a:p>
            <a:pPr algn="just">
              <a:buNone/>
            </a:pPr>
            <a:r>
              <a:rPr lang="ru-RU" dirty="0" smtClean="0"/>
              <a:t>	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	Разработка </a:t>
            </a:r>
            <a:r>
              <a:rPr lang="ru-RU" dirty="0"/>
              <a:t>технического задания занимает от 1 до 3 месяцев (средняя продолжительность этапа «разработка технического задания» - 1,5-2 месяца).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b="1" dirty="0"/>
              <a:t>		Третий этап проекта</a:t>
            </a:r>
            <a:r>
              <a:rPr lang="ru-RU" dirty="0"/>
              <a:t> – настройка системы (автоматизация). Настройка системы включает в себя формирование </a:t>
            </a:r>
            <a:r>
              <a:rPr lang="ru-RU" dirty="0" smtClean="0"/>
              <a:t>основного функционала системы, </a:t>
            </a:r>
            <a:r>
              <a:rPr lang="ru-RU" dirty="0"/>
              <a:t>настройка </a:t>
            </a:r>
            <a:r>
              <a:rPr lang="ru-RU" dirty="0" smtClean="0"/>
              <a:t>всех рабочих мест, ввод </a:t>
            </a:r>
            <a:r>
              <a:rPr lang="ru-RU" dirty="0"/>
              <a:t>пользователей системы и настройка прав доступа.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	Продолжительность </a:t>
            </a:r>
            <a:r>
              <a:rPr lang="ru-RU" dirty="0"/>
              <a:t>данного этапа напрямую зависит от квалификации специалистов и от уровня сложности поставленной задачи. Среднее время, отводимое на настройку системы, составляет 1 -1,5 месяца.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b="1" dirty="0"/>
              <a:t>		Четвертый этап проекта</a:t>
            </a:r>
            <a:r>
              <a:rPr lang="ru-RU" dirty="0"/>
              <a:t> – тестирование программного продукта (системы). Тестирование системы включает в себя подготовку демонстрационного примера, </a:t>
            </a:r>
            <a:r>
              <a:rPr lang="ru-RU" dirty="0" smtClean="0"/>
              <a:t>проведение теста и </a:t>
            </a:r>
            <a:r>
              <a:rPr lang="ru-RU" dirty="0"/>
              <a:t>исправление обнаруженных ошибок. В среднем на этап тестирование отводится 2 недели.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dirty="0"/>
              <a:t>		 </a:t>
            </a:r>
            <a:r>
              <a:rPr lang="ru-RU" b="1" dirty="0"/>
              <a:t>Пятый этап проекта</a:t>
            </a:r>
            <a:r>
              <a:rPr lang="ru-RU" dirty="0"/>
              <a:t> – опытная эксплуатация системы. Опытная эксплуатация системы включает в себя работу с реальными данными, но при этом параллельно используется прежняя старая система.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	Этот </a:t>
            </a:r>
            <a:r>
              <a:rPr lang="ru-RU" dirty="0"/>
              <a:t>этап необходим для того, чтобы можно было сопоставить результаты работы в новой системе с результатами, которые получены были прежним </a:t>
            </a:r>
            <a:r>
              <a:rPr lang="ru-RU" dirty="0" smtClean="0"/>
              <a:t>способом. </a:t>
            </a:r>
          </a:p>
          <a:p>
            <a:pPr algn="just">
              <a:buNone/>
            </a:pPr>
            <a:r>
              <a:rPr lang="ru-RU" dirty="0" smtClean="0"/>
              <a:t>		В </a:t>
            </a:r>
            <a:r>
              <a:rPr lang="ru-RU" dirty="0"/>
              <a:t>среднем на этап опытной эксплуатации занимает отчетный период равный 1-му месяцу.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b="1" dirty="0"/>
              <a:t>		Шестой этап проекта</a:t>
            </a:r>
            <a:r>
              <a:rPr lang="ru-RU" dirty="0"/>
              <a:t> – промышленная эксплуатация системы.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</a:t>
            </a:r>
            <a:r>
              <a:rPr lang="ru-RU" dirty="0" smtClean="0"/>
              <a:t>	</a:t>
            </a:r>
            <a:r>
              <a:rPr lang="ru-RU" dirty="0" smtClean="0"/>
              <a:t>Промышленная </a:t>
            </a:r>
            <a:r>
              <a:rPr lang="ru-RU" dirty="0"/>
              <a:t>эксплуатация системы подразумевает переход предприятия на новый программный продукт и отказ от всех альтернативных способов работы за рамками данной системы.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	Этап </a:t>
            </a:r>
            <a:r>
              <a:rPr lang="ru-RU" dirty="0"/>
              <a:t>промышленной эксплуатации системы подразумевает организацию службы технической поддержки </a:t>
            </a:r>
            <a:r>
              <a:rPr lang="ru-RU" dirty="0" smtClean="0"/>
              <a:t>системы.</a:t>
            </a:r>
          </a:p>
          <a:p>
            <a:pPr algn="just">
              <a:buNone/>
            </a:pPr>
            <a:r>
              <a:rPr lang="ru-RU" dirty="0" smtClean="0"/>
              <a:t>	</a:t>
            </a:r>
            <a:r>
              <a:rPr lang="ru-RU" dirty="0" smtClean="0"/>
              <a:t>	</a:t>
            </a:r>
            <a:r>
              <a:rPr lang="ru-RU" dirty="0" smtClean="0"/>
              <a:t> </a:t>
            </a:r>
            <a:r>
              <a:rPr lang="ru-RU" dirty="0"/>
              <a:t>В рамках проекта этап промышленной эксплуатации системы обычно занимает около 1 месяца. 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dirty="0" smtClean="0"/>
              <a:t>		</a:t>
            </a:r>
            <a:endParaRPr lang="ru-RU" dirty="0"/>
          </a:p>
          <a:p>
            <a:pPr algn="just"/>
            <a:r>
              <a:rPr lang="ru-RU" dirty="0" smtClean="0"/>
              <a:t>1. </a:t>
            </a:r>
            <a:r>
              <a:rPr lang="ru-RU" b="1" dirty="0" smtClean="0"/>
              <a:t>Недостаток </a:t>
            </a:r>
            <a:r>
              <a:rPr lang="ru-RU" b="1" dirty="0"/>
              <a:t>прозрачности разработки. </a:t>
            </a:r>
            <a:r>
              <a:rPr lang="ru-RU" dirty="0"/>
              <a:t>Данная проблема возникает при плохом планировании структуры </a:t>
            </a:r>
            <a:r>
              <a:rPr lang="ru-RU" dirty="0" smtClean="0"/>
              <a:t>будущей системы, </a:t>
            </a:r>
            <a:r>
              <a:rPr lang="ru-RU" dirty="0"/>
              <a:t>что часто является последствием отсутствия нормального финансирования проекта.</a:t>
            </a:r>
          </a:p>
          <a:p>
            <a:pPr algn="just"/>
            <a:r>
              <a:rPr lang="ru-RU" dirty="0"/>
              <a:t>2. </a:t>
            </a:r>
            <a:r>
              <a:rPr lang="ru-RU" b="1" dirty="0"/>
              <a:t>Недостаток контроля. </a:t>
            </a:r>
            <a:r>
              <a:rPr lang="ru-RU" dirty="0"/>
              <a:t>Не имея точной оценки процесса разработки, графики выполнения работ срываются, а установленные бюджеты превышаются; сложно оценить объем проделанной и оставшейся работы.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400" dirty="0" smtClean="0"/>
              <a:t>О	</a:t>
            </a:r>
            <a:r>
              <a:rPr lang="ru-RU" sz="2400" dirty="0" err="1" smtClean="0"/>
              <a:t>сновные</a:t>
            </a:r>
            <a:r>
              <a:rPr lang="ru-RU" sz="2400" dirty="0" smtClean="0"/>
              <a:t> </a:t>
            </a:r>
            <a:r>
              <a:rPr lang="ru-RU" sz="2400" dirty="0" smtClean="0"/>
              <a:t>проблемы, возникающие в процессе разработки, внедрения компьютерных систем и программного обеспечения:</a:t>
            </a:r>
            <a:endParaRPr lang="ru-RU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81000" y="304800"/>
            <a:ext cx="8305800" cy="60960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ru-RU" dirty="0"/>
              <a:t>3. </a:t>
            </a:r>
            <a:r>
              <a:rPr lang="ru-RU" b="1" dirty="0"/>
              <a:t>Недостаток мониторинга.</a:t>
            </a:r>
            <a:r>
              <a:rPr lang="ru-RU" dirty="0"/>
              <a:t> При невозможности наблюдать за ходом развития проекта, невозможно также контролировать и процесс разработки в реальном времени.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4</a:t>
            </a:r>
            <a:r>
              <a:rPr lang="ru-RU" dirty="0" smtClean="0"/>
              <a:t>.</a:t>
            </a:r>
            <a:r>
              <a:rPr lang="ru-RU" dirty="0" smtClean="0"/>
              <a:t> </a:t>
            </a:r>
            <a:r>
              <a:rPr lang="ru-RU" b="1" dirty="0" smtClean="0"/>
              <a:t>Недостаточная надежность системы разработки программного обеспечения.</a:t>
            </a:r>
            <a:r>
              <a:rPr lang="ru-RU" dirty="0" smtClean="0"/>
              <a:t> Самая сложная задача — поиск ошибок и их </a:t>
            </a:r>
            <a:r>
              <a:rPr lang="ru-RU" dirty="0" smtClean="0"/>
              <a:t>исправление. </a:t>
            </a:r>
            <a:r>
              <a:rPr lang="ru-RU" dirty="0" smtClean="0"/>
              <a:t>Так как количество ошибок в программах неизвестно, то неизвестна продолжительность отладки программ и нет гарантии отсутствия </a:t>
            </a:r>
            <a:r>
              <a:rPr lang="ru-RU" dirty="0" err="1" smtClean="0"/>
              <a:t>багов</a:t>
            </a:r>
            <a:r>
              <a:rPr lang="ru-RU" dirty="0" smtClean="0"/>
              <a:t> в программах. </a:t>
            </a:r>
            <a:endParaRPr lang="ru-RU" dirty="0" smtClean="0"/>
          </a:p>
          <a:p>
            <a:pPr algn="just"/>
            <a:r>
              <a:rPr lang="ru-RU" dirty="0" smtClean="0"/>
              <a:t>5.</a:t>
            </a:r>
            <a:r>
              <a:rPr lang="ru-RU" dirty="0" smtClean="0"/>
              <a:t> </a:t>
            </a:r>
            <a:r>
              <a:rPr lang="ru-RU" b="1" dirty="0" smtClean="0"/>
              <a:t>Отсутствие гарантий на программы.</a:t>
            </a:r>
            <a:r>
              <a:rPr lang="ru-RU" dirty="0" smtClean="0"/>
              <a:t> </a:t>
            </a:r>
            <a:r>
              <a:rPr lang="ru-RU" dirty="0" smtClean="0"/>
              <a:t> </a:t>
            </a:r>
            <a:r>
              <a:rPr lang="ru-RU" dirty="0" smtClean="0"/>
              <a:t>Гарантия качества любого товара или услуги — это проблема выбора поставщика товара/ услуги.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1. Конспект темы (презентации)</a:t>
            </a:r>
          </a:p>
          <a:p>
            <a:r>
              <a:rPr lang="ru-RU" dirty="0" smtClean="0"/>
              <a:t>2. Найти и определить классификацию компьютерных систем.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2232</TotalTime>
  <Words>234</Words>
  <Application>Microsoft Macintosh PowerPoint</Application>
  <PresentationFormat>Экран (4:3)</PresentationFormat>
  <Paragraphs>46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Открытая</vt:lpstr>
      <vt:lpstr>МДК. 04.01 Внедрение и поддержка компьютерных систем</vt:lpstr>
      <vt:lpstr>Слайд 2</vt:lpstr>
      <vt:lpstr>Слайд 3</vt:lpstr>
      <vt:lpstr>Слайд 4</vt:lpstr>
      <vt:lpstr>Слайд 5</vt:lpstr>
      <vt:lpstr>ГОСТ Р ИСО/МЭК 12207-2010.  Основные методы внедрения программного обеспечения и компьютерных систем </vt:lpstr>
      <vt:lpstr>Слайд 7</vt:lpstr>
      <vt:lpstr>Слайд 8</vt:lpstr>
      <vt:lpstr>Слайд 9</vt:lpstr>
      <vt:lpstr>Слайд 10</vt:lpstr>
      <vt:lpstr>Слайд 11</vt:lpstr>
      <vt:lpstr>Этапы внедрения компьютерных систем. </vt:lpstr>
      <vt:lpstr>Слайд 13</vt:lpstr>
      <vt:lpstr>Слайд 14</vt:lpstr>
      <vt:lpstr>Слайд 15</vt:lpstr>
      <vt:lpstr>Слайд 16</vt:lpstr>
      <vt:lpstr>Слайд 17</vt:lpstr>
      <vt:lpstr>Слайд 18</vt:lpstr>
      <vt:lpstr>О сновные проблемы, возникающие в процессе разработки, внедрения компьютерных систем и программного обеспечения:</vt:lpstr>
      <vt:lpstr>Слайд 20</vt:lpstr>
      <vt:lpstr>Задание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 04.01 Внедрение и поддержка компьютерных систем</dc:title>
  <dc:creator>Кирилл</dc:creator>
  <cp:lastModifiedBy>home</cp:lastModifiedBy>
  <cp:revision>86</cp:revision>
  <dcterms:created xsi:type="dcterms:W3CDTF">2018-01-11T05:40:38Z</dcterms:created>
  <dcterms:modified xsi:type="dcterms:W3CDTF">2022-01-13T05:25:05Z</dcterms:modified>
</cp:coreProperties>
</file>