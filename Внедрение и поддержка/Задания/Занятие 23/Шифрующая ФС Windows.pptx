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5" r:id="rId4"/>
    <p:sldId id="264" r:id="rId5"/>
    <p:sldId id="266" r:id="rId6"/>
    <p:sldId id="267" r:id="rId7"/>
    <p:sldId id="268" r:id="rId8"/>
    <p:sldId id="270" r:id="rId9"/>
    <p:sldId id="271" r:id="rId10"/>
    <p:sldId id="273" r:id="rId11"/>
    <p:sldId id="272" r:id="rId12"/>
    <p:sldId id="256" r:id="rId13"/>
    <p:sldId id="259" r:id="rId14"/>
    <p:sldId id="257" r:id="rId15"/>
    <p:sldId id="258" r:id="rId16"/>
    <p:sldId id="274" r:id="rId17"/>
    <p:sldId id="275" r:id="rId18"/>
    <p:sldId id="276" r:id="rId19"/>
    <p:sldId id="277" r:id="rId20"/>
    <p:sldId id="263" r:id="rId21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2730" y="-9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2/11/2019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470025"/>
          </a:xfrm>
        </p:spPr>
        <p:txBody>
          <a:bodyPr/>
          <a:lstStyle/>
          <a:p>
            <a:r>
              <a:rPr lang="ru-RU" smtClean="0"/>
              <a:t>Шифрующая файловая </a:t>
            </a:r>
            <a:r>
              <a:rPr lang="ru-RU" dirty="0" smtClean="0"/>
              <a:t>система</a:t>
            </a:r>
            <a:br>
              <a:rPr lang="ru-RU" dirty="0" smtClean="0"/>
            </a:br>
            <a:r>
              <a:rPr lang="ru-RU" dirty="0" smtClean="0"/>
              <a:t>Алгоритм </a:t>
            </a:r>
            <a:r>
              <a:rPr lang="ru-RU" dirty="0" smtClean="0"/>
              <a:t>шифрования </a:t>
            </a:r>
            <a:r>
              <a:rPr lang="en-US" dirty="0" smtClean="0"/>
              <a:t>RSA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47800" y="3581400"/>
            <a:ext cx="6400800" cy="1752600"/>
          </a:xfrm>
        </p:spPr>
        <p:txBody>
          <a:bodyPr/>
          <a:lstStyle/>
          <a:p>
            <a:r>
              <a:rPr lang="ru-RU" dirty="0" smtClean="0"/>
              <a:t>Ассиметричные криптосистемы</a:t>
            </a:r>
            <a:endParaRPr lang="ru-RU" dirty="0"/>
          </a:p>
        </p:txBody>
      </p:sp>
      <p:pic>
        <p:nvPicPr>
          <p:cNvPr id="11266" name="Picture 2" descr="Картинки по запросу rs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4267200"/>
            <a:ext cx="4371975" cy="22574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4525963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ru-RU" dirty="0" smtClean="0"/>
              <a:t>		В основе RSA лежит задача факторизации произведения двух простых больших чисел. Для шифрования используется простая операция возведения в степень по модулю N. Для </a:t>
            </a:r>
            <a:r>
              <a:rPr lang="ru-RU" dirty="0" err="1" smtClean="0"/>
              <a:t>расшифрования</a:t>
            </a:r>
            <a:r>
              <a:rPr lang="ru-RU" dirty="0" smtClean="0"/>
              <a:t> же необходимо вычислить функцию Эйлера от числа N, для этого необходимо знать разложение числа </a:t>
            </a:r>
            <a:r>
              <a:rPr lang="ru-RU" dirty="0" err="1" smtClean="0"/>
              <a:t>n</a:t>
            </a:r>
            <a:r>
              <a:rPr lang="ru-RU" dirty="0" smtClean="0"/>
              <a:t> на простые множители (В этом и состоит задача факторизации).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lang="ru-RU" dirty="0" smtClean="0"/>
              <a:t>		В RSA открытый и закрытый ключ состоит из пары целых чисел. 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Закрытый ключ хранится в секрете, а открытый ключ сообщается другому участнику, либо где-то публикуется.</a:t>
            </a:r>
            <a:endParaRPr lang="ru-RU" dirty="0"/>
          </a:p>
        </p:txBody>
      </p:sp>
      <p:pic>
        <p:nvPicPr>
          <p:cNvPr id="9218" name="Picture 2" descr="Картинки по запросу rs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276600"/>
            <a:ext cx="4572000" cy="30335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Генерация ключей </a:t>
            </a:r>
            <a:r>
              <a:rPr lang="en-US" b="1" dirty="0" smtClean="0"/>
              <a:t>RSA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5715000"/>
          </a:xfrm>
        </p:spPr>
        <p:txBody>
          <a:bodyPr>
            <a:normAutofit fontScale="85000" lnSpcReduction="20000"/>
          </a:bodyPr>
          <a:lstStyle/>
          <a:p>
            <a:pPr fontAlgn="base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Генерация ключей в RSA осуществляется следующим образом:</a:t>
            </a:r>
          </a:p>
          <a:p>
            <a:pPr fontAlgn="base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	1. Выбираются два простых числа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(такие что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неравно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2. Вычисляется модуль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N=p∗q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3. Вычисляется значение функции Эйлера от модуля N: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ϕ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(N)=(p−1)(q−1).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4. Выбирается число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называемое открытой экспонентой, число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должно лежать в интервале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1&lt;e&lt;ϕ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(N)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а так же быть взаимно простым со значением функции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ϕ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(N).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5. Вычисляется число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называемое секретной экспонентой, такое,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d∗e=1(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modϕ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(N))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то есть является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мультипликативно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обратное к числу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 модулю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ϕ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(N).</a:t>
            </a:r>
          </a:p>
          <a:p>
            <a:pPr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4525963"/>
          </a:xfrm>
        </p:spPr>
        <p:txBody>
          <a:bodyPr/>
          <a:lstStyle/>
          <a:p>
            <a:pPr fontAlgn="base">
              <a:buNone/>
            </a:pPr>
            <a:r>
              <a:rPr lang="en-US" dirty="0" smtClean="0"/>
              <a:t>	</a:t>
            </a:r>
            <a:r>
              <a:rPr lang="ru-RU" dirty="0" smtClean="0"/>
              <a:t>Итак, мы получили пару ключей:</a:t>
            </a:r>
          </a:p>
          <a:p>
            <a:pPr fontAlgn="base">
              <a:buNone/>
            </a:pPr>
            <a:r>
              <a:rPr lang="en-US" dirty="0" smtClean="0"/>
              <a:t>	</a:t>
            </a:r>
            <a:r>
              <a:rPr lang="ru-RU" dirty="0" smtClean="0"/>
              <a:t>Пара (</a:t>
            </a:r>
            <a:r>
              <a:rPr lang="ru-RU" dirty="0" err="1" smtClean="0"/>
              <a:t>e,N</a:t>
            </a:r>
            <a:r>
              <a:rPr lang="ru-RU" dirty="0" smtClean="0"/>
              <a:t>) - открытый ключ.</a:t>
            </a:r>
            <a:br>
              <a:rPr lang="ru-RU" dirty="0" smtClean="0"/>
            </a:br>
            <a:r>
              <a:rPr lang="ru-RU" dirty="0" smtClean="0"/>
              <a:t>Пара (</a:t>
            </a:r>
            <a:r>
              <a:rPr lang="ru-RU" dirty="0" err="1" smtClean="0"/>
              <a:t>d,N</a:t>
            </a:r>
            <a:r>
              <a:rPr lang="ru-RU" dirty="0" smtClean="0"/>
              <a:t>) - закрытый ключ.</a:t>
            </a:r>
            <a:endParaRPr lang="en-US" dirty="0" smtClean="0"/>
          </a:p>
          <a:p>
            <a:pPr fontAlgn="base">
              <a:buNone/>
            </a:pPr>
            <a:endParaRPr lang="en-US" dirty="0" smtClean="0"/>
          </a:p>
          <a:p>
            <a:pPr fontAlgn="base">
              <a:buNone/>
            </a:pPr>
            <a:r>
              <a:rPr lang="en-US" dirty="0" smtClean="0"/>
              <a:t>		</a:t>
            </a:r>
            <a:r>
              <a:rPr lang="ru-RU" dirty="0" smtClean="0"/>
              <a:t>А теперь переходим к шифрованию и </a:t>
            </a:r>
            <a:r>
              <a:rPr lang="ru-RU" dirty="0" err="1" smtClean="0"/>
              <a:t>расшифрованию</a:t>
            </a:r>
            <a:r>
              <a:rPr lang="ru-RU" dirty="0" smtClean="0"/>
              <a:t>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Шифрование и расшифровывание в RSA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Алгоритм шифрования RS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81200"/>
            <a:ext cx="7924800" cy="396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fontAlgn="base"/>
            <a:r>
              <a:rPr lang="ru-RU" b="1" dirty="0" smtClean="0"/>
              <a:t>Пример шифрования </a:t>
            </a:r>
            <a:r>
              <a:rPr lang="en-US" b="1" dirty="0" smtClean="0"/>
              <a:t>RSA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dirty="0" smtClean="0"/>
              <a:t>Выбираем простые числа (небольшие, чтобы упростить вычисления) : </a:t>
            </a:r>
            <a:r>
              <a:rPr lang="en-US" i="1" dirty="0" smtClean="0"/>
              <a:t>p</a:t>
            </a:r>
            <a:r>
              <a:rPr lang="en-US" dirty="0" smtClean="0"/>
              <a:t>=3 </a:t>
            </a:r>
            <a:r>
              <a:rPr lang="ru-RU" dirty="0" smtClean="0"/>
              <a:t>и </a:t>
            </a:r>
            <a:r>
              <a:rPr lang="en-US" dirty="0" smtClean="0"/>
              <a:t> q=11 </a:t>
            </a:r>
            <a:br>
              <a:rPr lang="en-US" dirty="0" smtClean="0"/>
            </a:br>
            <a:r>
              <a:rPr lang="en-US" dirty="0" smtClean="0"/>
              <a:t>2. </a:t>
            </a:r>
            <a:r>
              <a:rPr lang="ru-RU" dirty="0" smtClean="0"/>
              <a:t>Вычисляем модуль </a:t>
            </a:r>
            <a:r>
              <a:rPr lang="en-US" i="1" dirty="0" smtClean="0"/>
              <a:t>n</a:t>
            </a:r>
            <a:r>
              <a:rPr lang="en-US" dirty="0" smtClean="0"/>
              <a:t>=</a:t>
            </a:r>
            <a:r>
              <a:rPr lang="en-US" i="1" dirty="0" err="1" smtClean="0"/>
              <a:t>p</a:t>
            </a:r>
            <a:r>
              <a:rPr lang="en-US" dirty="0" err="1" smtClean="0"/>
              <a:t>∗</a:t>
            </a:r>
            <a:r>
              <a:rPr lang="en-US" i="1" dirty="0" err="1" smtClean="0"/>
              <a:t>q</a:t>
            </a:r>
            <a:r>
              <a:rPr lang="en-US" dirty="0" smtClean="0"/>
              <a:t>=3∗11=33  </a:t>
            </a:r>
            <a:br>
              <a:rPr lang="en-US" dirty="0" smtClean="0"/>
            </a:br>
            <a:r>
              <a:rPr lang="en-US" dirty="0" smtClean="0"/>
              <a:t>3. </a:t>
            </a:r>
            <a:r>
              <a:rPr lang="ru-RU" dirty="0" smtClean="0"/>
              <a:t>Вычисляем функцию Эйлера от модуля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ru-RU" dirty="0" smtClean="0"/>
              <a:t> </a:t>
            </a:r>
            <a:r>
              <a:rPr lang="en-US" i="1" dirty="0" smtClean="0"/>
              <a:t>N</a:t>
            </a:r>
            <a:r>
              <a:rPr lang="en-US" dirty="0" smtClean="0"/>
              <a:t> : </a:t>
            </a:r>
            <a:r>
              <a:rPr lang="el-GR" i="1" dirty="0" smtClean="0"/>
              <a:t>ϕ</a:t>
            </a:r>
            <a:r>
              <a:rPr lang="el-GR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)=(</a:t>
            </a:r>
            <a:r>
              <a:rPr lang="en-US" i="1" dirty="0" smtClean="0"/>
              <a:t>p</a:t>
            </a:r>
            <a:r>
              <a:rPr lang="en-US" dirty="0" smtClean="0"/>
              <a:t>−1)∗(</a:t>
            </a:r>
            <a:r>
              <a:rPr lang="en-US" i="1" dirty="0" smtClean="0"/>
              <a:t>q</a:t>
            </a:r>
            <a:r>
              <a:rPr lang="en-US" dirty="0" smtClean="0"/>
              <a:t>−1)=2∗10=20</a:t>
            </a:r>
            <a:br>
              <a:rPr lang="en-US" dirty="0" smtClean="0"/>
            </a:br>
            <a:r>
              <a:rPr lang="en-US" dirty="0" smtClean="0"/>
              <a:t>4. </a:t>
            </a:r>
            <a:r>
              <a:rPr lang="ru-RU" dirty="0" smtClean="0"/>
              <a:t>Выбираем открытую экспоненту </a:t>
            </a:r>
            <a:r>
              <a:rPr lang="en-US" i="1" dirty="0" smtClean="0"/>
              <a:t>e</a:t>
            </a:r>
            <a:r>
              <a:rPr lang="en-US" dirty="0" smtClean="0"/>
              <a:t>=7  </a:t>
            </a:r>
            <a:br>
              <a:rPr lang="en-US" dirty="0" smtClean="0"/>
            </a:br>
            <a:r>
              <a:rPr lang="en-US" dirty="0" smtClean="0"/>
              <a:t>5. </a:t>
            </a:r>
            <a:r>
              <a:rPr lang="ru-RU" dirty="0" smtClean="0"/>
              <a:t>Определяем закрытую экспоненту 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i="1" dirty="0" smtClean="0"/>
              <a:t>d</a:t>
            </a:r>
            <a:r>
              <a:rPr lang="en-US" dirty="0" smtClean="0"/>
              <a:t> : </a:t>
            </a:r>
            <a:r>
              <a:rPr lang="en-US" i="1" dirty="0" err="1" smtClean="0"/>
              <a:t>d</a:t>
            </a:r>
            <a:r>
              <a:rPr lang="en-US" dirty="0" err="1" smtClean="0"/>
              <a:t>∗</a:t>
            </a:r>
            <a:r>
              <a:rPr lang="en-US" i="1" dirty="0" err="1" smtClean="0"/>
              <a:t>e</a:t>
            </a:r>
            <a:r>
              <a:rPr lang="en-US" i="1" dirty="0" smtClean="0"/>
              <a:t>=</a:t>
            </a:r>
            <a:r>
              <a:rPr lang="en-US" dirty="0" smtClean="0"/>
              <a:t>1(</a:t>
            </a:r>
            <a:r>
              <a:rPr lang="en-US" i="1" dirty="0" smtClean="0"/>
              <a:t>mod</a:t>
            </a:r>
            <a:r>
              <a:rPr lang="el-GR" i="1" dirty="0" smtClean="0"/>
              <a:t>ϕ</a:t>
            </a:r>
            <a:r>
              <a:rPr lang="el-GR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)) =&gt; </a:t>
            </a:r>
            <a:r>
              <a:rPr lang="en-US" i="1" dirty="0" smtClean="0"/>
              <a:t>d</a:t>
            </a:r>
            <a:r>
              <a:rPr lang="en-US" dirty="0" smtClean="0"/>
              <a:t>=3 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762000"/>
            <a:ext cx="8763000" cy="5562600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ru-RU" dirty="0" smtClean="0"/>
              <a:t>Будем шифровать сообщение </a:t>
            </a:r>
            <a:r>
              <a:rPr lang="en-US" dirty="0" smtClean="0"/>
              <a:t>RSA, </a:t>
            </a:r>
            <a:r>
              <a:rPr lang="ru-RU" dirty="0" smtClean="0"/>
              <a:t>пусть букве </a:t>
            </a:r>
            <a:r>
              <a:rPr lang="en-US" dirty="0" smtClean="0"/>
              <a:t>A </a:t>
            </a:r>
            <a:r>
              <a:rPr lang="ru-RU" dirty="0" smtClean="0"/>
              <a:t>соответствует цифра 1, </a:t>
            </a:r>
            <a:r>
              <a:rPr lang="en-US" dirty="0" smtClean="0"/>
              <a:t>B - 2, C - 3 </a:t>
            </a:r>
            <a:r>
              <a:rPr lang="ru-RU" dirty="0" smtClean="0"/>
              <a:t>и </a:t>
            </a:r>
            <a:r>
              <a:rPr lang="ru-RU" dirty="0" err="1" smtClean="0"/>
              <a:t>т.д</a:t>
            </a:r>
            <a:r>
              <a:rPr lang="ru-RU" dirty="0" smtClean="0"/>
              <a:t> (Подобное соответствие вносим для простоты), тогда :</a:t>
            </a:r>
          </a:p>
          <a:p>
            <a:pPr fontAlgn="base"/>
            <a:r>
              <a:rPr lang="en-US" b="1" dirty="0" smtClean="0"/>
              <a:t>R=18; S=19; A=1;</a:t>
            </a:r>
          </a:p>
          <a:p>
            <a:pPr fontAlgn="base"/>
            <a:r>
              <a:rPr lang="ru-RU" dirty="0" smtClean="0"/>
              <a:t>Открытый ключ : </a:t>
            </a:r>
            <a:r>
              <a:rPr lang="ru-RU" b="1" dirty="0" smtClean="0"/>
              <a:t>(</a:t>
            </a:r>
            <a:r>
              <a:rPr lang="en-US" b="1" dirty="0" err="1" smtClean="0"/>
              <a:t>e,N</a:t>
            </a:r>
            <a:r>
              <a:rPr lang="en-US" b="1" dirty="0" smtClean="0"/>
              <a:t>)=(7,33)</a:t>
            </a:r>
          </a:p>
          <a:p>
            <a:pPr fontAlgn="base"/>
            <a:r>
              <a:rPr lang="en-US" b="1" dirty="0" smtClean="0"/>
              <a:t>C1=(18</a:t>
            </a:r>
            <a:r>
              <a:rPr lang="en-US" b="1" baseline="30000" dirty="0" smtClean="0"/>
              <a:t>7</a:t>
            </a:r>
            <a:r>
              <a:rPr lang="en-US" b="1" dirty="0" smtClean="0"/>
              <a:t>)mod33=6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C2=(19</a:t>
            </a:r>
            <a:r>
              <a:rPr lang="en-US" b="1" baseline="30000" dirty="0" smtClean="0"/>
              <a:t>7</a:t>
            </a:r>
            <a:r>
              <a:rPr lang="en-US" b="1" dirty="0" smtClean="0"/>
              <a:t>)mod33=13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C3=(1</a:t>
            </a:r>
            <a:r>
              <a:rPr lang="en-US" b="1" baseline="30000" dirty="0" smtClean="0"/>
              <a:t>7</a:t>
            </a:r>
            <a:r>
              <a:rPr lang="en-US" b="1" dirty="0" smtClean="0"/>
              <a:t>)mod33=1</a:t>
            </a:r>
          </a:p>
          <a:p>
            <a:pPr fontAlgn="base"/>
            <a:r>
              <a:rPr lang="en-US" b="1" dirty="0" smtClean="0"/>
              <a:t>C("RSA")=6131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pic>
        <p:nvPicPr>
          <p:cNvPr id="26628" name="Picture 4" descr="Картинки по запросу шифровани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4114800"/>
            <a:ext cx="2286000" cy="22669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Пример </a:t>
            </a:r>
            <a:r>
              <a:rPr lang="ru-RU" b="1" dirty="0" err="1" smtClean="0"/>
              <a:t>расшифрования</a:t>
            </a:r>
            <a:r>
              <a:rPr lang="ru-RU" b="1" dirty="0" smtClean="0"/>
              <a:t> </a:t>
            </a:r>
            <a:r>
              <a:rPr lang="en-US" b="1" dirty="0" smtClean="0"/>
              <a:t>RSA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da-DK" dirty="0" smtClean="0"/>
              <a:t>Используем закрытый ключ : (d,N)=(3,33)</a:t>
            </a:r>
          </a:p>
          <a:p>
            <a:pPr fontAlgn="base"/>
            <a:r>
              <a:rPr lang="da-DK" dirty="0" smtClean="0"/>
              <a:t>M1=(6</a:t>
            </a:r>
            <a:r>
              <a:rPr lang="da-DK" baseline="30000" dirty="0" smtClean="0"/>
              <a:t>3</a:t>
            </a:r>
            <a:r>
              <a:rPr lang="da-DK" dirty="0" smtClean="0"/>
              <a:t>)mod33=18</a:t>
            </a:r>
            <a:br>
              <a:rPr lang="da-DK" dirty="0" smtClean="0"/>
            </a:br>
            <a:r>
              <a:rPr lang="da-DK" dirty="0" smtClean="0"/>
              <a:t>M2=(13</a:t>
            </a:r>
            <a:r>
              <a:rPr lang="da-DK" baseline="30000" dirty="0" smtClean="0"/>
              <a:t>3</a:t>
            </a:r>
            <a:r>
              <a:rPr lang="da-DK" dirty="0" smtClean="0"/>
              <a:t>)mod33=19</a:t>
            </a:r>
            <a:br>
              <a:rPr lang="da-DK" dirty="0" smtClean="0"/>
            </a:br>
            <a:r>
              <a:rPr lang="da-DK" dirty="0" smtClean="0"/>
              <a:t>M3=(1</a:t>
            </a:r>
            <a:r>
              <a:rPr lang="da-DK" baseline="30000" dirty="0" smtClean="0"/>
              <a:t>3</a:t>
            </a:r>
            <a:r>
              <a:rPr lang="da-DK" dirty="0" smtClean="0"/>
              <a:t>)mod33=1</a:t>
            </a:r>
          </a:p>
          <a:p>
            <a:pPr fontAlgn="base"/>
            <a:r>
              <a:rPr lang="da-DK" dirty="0" smtClean="0"/>
              <a:t>18=R;19=S; 1=A;</a:t>
            </a:r>
          </a:p>
          <a:p>
            <a:endParaRPr lang="ru-RU" dirty="0"/>
          </a:p>
        </p:txBody>
      </p:sp>
      <p:pic>
        <p:nvPicPr>
          <p:cNvPr id="25602" name="Picture 2" descr="Картинки по запросу расшифровка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962400"/>
            <a:ext cx="3333750" cy="27146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Зашифровать!!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TIME</a:t>
            </a:r>
          </a:p>
          <a:p>
            <a:pPr marL="514350" indent="-514350">
              <a:buAutoNum type="arabicPeriod"/>
            </a:pPr>
            <a:r>
              <a:rPr lang="en-US" dirty="0" smtClean="0"/>
              <a:t>STOP</a:t>
            </a:r>
          </a:p>
          <a:p>
            <a:pPr marL="514350" indent="-514350">
              <a:buAutoNum type="arabicPeriod"/>
            </a:pPr>
            <a:r>
              <a:rPr lang="en-US" dirty="0" smtClean="0"/>
              <a:t>MINE</a:t>
            </a:r>
          </a:p>
          <a:p>
            <a:pPr marL="514350" indent="-514350">
              <a:buAutoNum type="arabicPeriod"/>
            </a:pPr>
            <a:r>
              <a:rPr lang="en-US" dirty="0" smtClean="0"/>
              <a:t>TRAP</a:t>
            </a:r>
          </a:p>
          <a:p>
            <a:pPr marL="514350" indent="-514350">
              <a:buAutoNum type="arabicPeriod"/>
            </a:pPr>
            <a:r>
              <a:rPr lang="en-US" dirty="0" smtClean="0"/>
              <a:t>LIFE</a:t>
            </a:r>
          </a:p>
          <a:p>
            <a:pPr marL="514350" indent="-514350">
              <a:buAutoNum type="arabicPeriod"/>
            </a:pPr>
            <a:r>
              <a:rPr lang="en-US" dirty="0" smtClean="0"/>
              <a:t>WHAT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ru-RU" dirty="0" smtClean="0"/>
              <a:t>Чтобы алгоритм был стойким, необходимо:</a:t>
            </a:r>
          </a:p>
          <a:p>
            <a:pPr fontAlgn="base"/>
            <a:r>
              <a:rPr lang="ru-RU" dirty="0" smtClean="0"/>
              <a:t>1. Выбрать два больших простых случайных числа </a:t>
            </a:r>
            <a:r>
              <a:rPr lang="ru-RU" dirty="0" err="1" smtClean="0"/>
              <a:t>p</a:t>
            </a:r>
            <a:r>
              <a:rPr lang="ru-RU" dirty="0" smtClean="0"/>
              <a:t> и </a:t>
            </a:r>
            <a:r>
              <a:rPr lang="ru-RU" dirty="0" err="1" smtClean="0"/>
              <a:t>q</a:t>
            </a:r>
            <a:r>
              <a:rPr lang="ru-RU" dirty="0" smtClean="0"/>
              <a:t>, должны быть не слишком различными и быть не слишком близкими</a:t>
            </a:r>
            <a:br>
              <a:rPr lang="ru-RU" dirty="0" smtClean="0"/>
            </a:br>
            <a:r>
              <a:rPr lang="ru-RU" dirty="0" smtClean="0"/>
              <a:t>2. Наибольший общий делитель (p−1)и (q−1) должен быть небольшим, в лучшем случае равен двум.</a:t>
            </a:r>
            <a:br>
              <a:rPr lang="ru-RU" dirty="0" smtClean="0"/>
            </a:br>
            <a:r>
              <a:rPr lang="ru-RU" dirty="0" smtClean="0"/>
              <a:t>3. Выбрать большое значение открытой экспоненты </a:t>
            </a:r>
            <a:r>
              <a:rPr lang="ru-RU" b="1" dirty="0" err="1" smtClean="0"/>
              <a:t>e</a:t>
            </a:r>
            <a:r>
              <a:rPr lang="ru-RU" dirty="0" smtClean="0"/>
              <a:t>, как правило, выбирают простые числа Ферма: 17, 257, 65537...</a:t>
            </a:r>
            <a:br>
              <a:rPr lang="ru-RU" dirty="0" smtClean="0"/>
            </a:br>
            <a:r>
              <a:rPr lang="ru-RU" dirty="0" smtClean="0"/>
              <a:t>4. Сохранение в секрете закрытого ключа.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Microsoft</a:t>
            </a:r>
            <a:r>
              <a:rPr lang="ru-RU" dirty="0" smtClean="0"/>
              <a:t> </a:t>
            </a:r>
            <a:r>
              <a:rPr lang="ru-RU" dirty="0" err="1" smtClean="0"/>
              <a:t>Windows</a:t>
            </a:r>
            <a:r>
              <a:rPr lang="ru-RU" dirty="0" smtClean="0"/>
              <a:t> и шифрованная файловая система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1828800"/>
            <a:ext cx="6400800" cy="1752600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Процедура шифрования файлов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7170" name="Picture 2" descr="Картинки по запросу window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7200"/>
            <a:ext cx="8953500" cy="7839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Шифрующая файловая система.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Начиная с версии </a:t>
            </a:r>
            <a:r>
              <a:rPr lang="ru-RU" dirty="0" err="1" smtClean="0"/>
              <a:t>Windows</a:t>
            </a:r>
            <a:r>
              <a:rPr lang="ru-RU" dirty="0" smtClean="0"/>
              <a:t> 2000, в операционных системах семейства </a:t>
            </a:r>
            <a:r>
              <a:rPr lang="ru-RU" dirty="0" err="1" smtClean="0"/>
              <a:t>Windows</a:t>
            </a:r>
            <a:r>
              <a:rPr lang="ru-RU" dirty="0" smtClean="0"/>
              <a:t> NT поддерживается шифрование данных на разделах файловой системы NTFS с использованием шифрующей файловой системы (</a:t>
            </a:r>
            <a:r>
              <a:rPr lang="ru-RU" dirty="0" err="1" smtClean="0"/>
              <a:t>Encrypted</a:t>
            </a:r>
            <a:r>
              <a:rPr lang="ru-RU" dirty="0" smtClean="0"/>
              <a:t> </a:t>
            </a:r>
            <a:r>
              <a:rPr lang="ru-RU" dirty="0" err="1" smtClean="0"/>
              <a:t>File</a:t>
            </a:r>
            <a:r>
              <a:rPr lang="ru-RU" dirty="0" smtClean="0"/>
              <a:t> </a:t>
            </a:r>
            <a:r>
              <a:rPr lang="ru-RU" dirty="0" err="1" smtClean="0"/>
              <a:t>System</a:t>
            </a:r>
            <a:r>
              <a:rPr lang="ru-RU" dirty="0" smtClean="0"/>
              <a:t>, EFS). 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Основное ее достоинство заключается в обеспечении конфиденциальности данных на дисках компьютера за счет использования надежных симметричных алгоритмов для шифрования данных в реальном режиме времени.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		Шифрование и расшифровывание файлов выполняется путем установки атрибута файла или папки</a:t>
            </a:r>
          </a:p>
          <a:p>
            <a:pPr>
              <a:buNone/>
            </a:pPr>
            <a:r>
              <a:rPr lang="ru-RU" sz="2400" dirty="0" smtClean="0"/>
              <a:t> 		</a:t>
            </a:r>
            <a:r>
              <a:rPr lang="ru-RU" sz="2400" b="1" dirty="0" smtClean="0"/>
              <a:t>Свойства папки или файла &gt; Общие &gt; Другие &gt; Шифровать содержимое для защиты данных</a:t>
            </a:r>
            <a:endParaRPr lang="ru-RU" dirty="0" smtClean="0"/>
          </a:p>
          <a:p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819400"/>
            <a:ext cx="5112568" cy="3821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ru-RU" dirty="0" smtClean="0"/>
              <a:t>		Как только мы зашифруем какую-нибудь папку или файл, Windows создаст для нас сертификат и связанную с ним пару ключей (открытый и секретный ключ), на основании которых будет происходить шифрование и дешифрование файлов. Сертификат — цифровой документ, используемый для проверки подлинности и безопасной передачи данных в общедоступных сетях (Интернет, </a:t>
            </a:r>
            <a:r>
              <a:rPr lang="ru-RU" dirty="0" err="1" smtClean="0"/>
              <a:t>Интранет</a:t>
            </a:r>
            <a:r>
              <a:rPr lang="ru-RU" dirty="0" smtClean="0"/>
              <a:t>, </a:t>
            </a:r>
            <a:r>
              <a:rPr lang="ru-RU" dirty="0" err="1" smtClean="0"/>
              <a:t>Экстранет</a:t>
            </a:r>
            <a:r>
              <a:rPr lang="ru-RU" dirty="0" smtClean="0"/>
              <a:t>), он связывает открытый ключ с объектом, содержащим соответствующий закрытый ключ.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4525963"/>
          </a:xfrm>
        </p:spPr>
        <p:txBody>
          <a:bodyPr/>
          <a:lstStyle/>
          <a:p>
            <a:r>
              <a:rPr lang="ru-RU" dirty="0" smtClean="0"/>
              <a:t>Для шифрации файлов с использованием EFS можно использовать графический интерфейс или команду </a:t>
            </a:r>
            <a:r>
              <a:rPr lang="ru-RU" b="1" dirty="0" err="1" smtClean="0"/>
              <a:t>cipher</a:t>
            </a:r>
            <a:endParaRPr lang="en-US" b="1" dirty="0" smtClean="0"/>
          </a:p>
          <a:p>
            <a:pPr>
              <a:buNone/>
            </a:pP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3036888"/>
            <a:ext cx="5112568" cy="3821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Овал 4"/>
          <p:cNvSpPr/>
          <p:nvPr/>
        </p:nvSpPr>
        <p:spPr>
          <a:xfrm>
            <a:off x="2195736" y="5805264"/>
            <a:ext cx="360040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/>
              <a:t>Например, чтобы определить, зашифрована ли какая-либо папка, необходимо использовать команду: </a:t>
            </a:r>
            <a:r>
              <a:rPr lang="ru-RU" b="1" dirty="0" err="1" smtClean="0"/>
              <a:t>cipher</a:t>
            </a:r>
            <a:r>
              <a:rPr lang="ru-RU" b="1" dirty="0" smtClean="0"/>
              <a:t> </a:t>
            </a:r>
            <a:r>
              <a:rPr lang="ru-RU" b="1" dirty="0" err="1" smtClean="0"/>
              <a:t>путь\имя_папки</a:t>
            </a:r>
            <a:endParaRPr lang="en-US" b="1" dirty="0" smtClean="0"/>
          </a:p>
          <a:p>
            <a:pPr>
              <a:buNone/>
            </a:pPr>
            <a:r>
              <a:rPr lang="ru-RU" dirty="0" smtClean="0"/>
              <a:t> Команда </a:t>
            </a:r>
            <a:r>
              <a:rPr lang="ru-RU" dirty="0" err="1" smtClean="0"/>
              <a:t>cipher</a:t>
            </a:r>
            <a:r>
              <a:rPr lang="ru-RU" dirty="0" smtClean="0"/>
              <a:t> без параметров выводит статус (зашифрован или нет) для всех объектов текущей папки. 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Для шифрации файла необходимо использовать команду </a:t>
            </a:r>
            <a:r>
              <a:rPr lang="ru-RU" b="1" dirty="0" err="1" smtClean="0"/>
              <a:t>cipher</a:t>
            </a:r>
            <a:r>
              <a:rPr lang="ru-RU" b="1" dirty="0" smtClean="0"/>
              <a:t> /</a:t>
            </a:r>
            <a:r>
              <a:rPr lang="ru-RU" b="1" dirty="0" err="1" smtClean="0"/>
              <a:t>e</a:t>
            </a:r>
            <a:r>
              <a:rPr lang="ru-RU" b="1" dirty="0" smtClean="0"/>
              <a:t> /</a:t>
            </a:r>
            <a:r>
              <a:rPr lang="ru-RU" b="1" dirty="0" err="1" smtClean="0"/>
              <a:t>a</a:t>
            </a:r>
            <a:r>
              <a:rPr lang="ru-RU" b="1" dirty="0" smtClean="0"/>
              <a:t> </a:t>
            </a:r>
            <a:r>
              <a:rPr lang="ru-RU" b="1" dirty="0" err="1" smtClean="0"/>
              <a:t>путь\имя_файла</a:t>
            </a:r>
            <a:r>
              <a:rPr lang="ru-RU" b="1" dirty="0" smtClean="0"/>
              <a:t> </a:t>
            </a:r>
            <a:endParaRPr lang="en-US" b="1" dirty="0" smtClean="0"/>
          </a:p>
          <a:p>
            <a:pPr>
              <a:buNone/>
            </a:pPr>
            <a:r>
              <a:rPr lang="ru-RU" dirty="0" smtClean="0"/>
              <a:t>Для дешифрации файла, соответственно, используется команда </a:t>
            </a:r>
            <a:r>
              <a:rPr lang="ru-RU" b="1" dirty="0" err="1" smtClean="0"/>
              <a:t>cipher</a:t>
            </a:r>
            <a:r>
              <a:rPr lang="ru-RU" b="1" dirty="0" smtClean="0"/>
              <a:t> /</a:t>
            </a:r>
            <a:r>
              <a:rPr lang="ru-RU" b="1" dirty="0" err="1" smtClean="0"/>
              <a:t>d</a:t>
            </a:r>
            <a:r>
              <a:rPr lang="ru-RU" b="1" dirty="0" smtClean="0"/>
              <a:t> /</a:t>
            </a:r>
            <a:r>
              <a:rPr lang="ru-RU" b="1" dirty="0" err="1" smtClean="0"/>
              <a:t>a</a:t>
            </a:r>
            <a:r>
              <a:rPr lang="ru-RU" b="1" dirty="0" smtClean="0"/>
              <a:t> </a:t>
            </a:r>
            <a:r>
              <a:rPr lang="ru-RU" b="1" dirty="0" err="1" smtClean="0"/>
              <a:t>путь\имя_файла</a:t>
            </a:r>
            <a:endParaRPr lang="en-US" b="1" dirty="0" smtClean="0"/>
          </a:p>
          <a:p>
            <a:pPr>
              <a:buNone/>
            </a:pPr>
            <a:r>
              <a:rPr lang="ru-RU" dirty="0" smtClean="0"/>
              <a:t> Допустима шифрация/дешифрация группы файлов по шаблону: </a:t>
            </a:r>
            <a:r>
              <a:rPr lang="ru-RU" b="1" dirty="0" err="1" smtClean="0"/>
              <a:t>cipher</a:t>
            </a:r>
            <a:r>
              <a:rPr lang="ru-RU" b="1" dirty="0" smtClean="0"/>
              <a:t> /</a:t>
            </a:r>
            <a:r>
              <a:rPr lang="ru-RU" b="1" dirty="0" err="1" smtClean="0"/>
              <a:t>e</a:t>
            </a:r>
            <a:r>
              <a:rPr lang="ru-RU" b="1" dirty="0" smtClean="0"/>
              <a:t> /</a:t>
            </a:r>
            <a:r>
              <a:rPr lang="ru-RU" b="1" dirty="0" err="1" smtClean="0"/>
              <a:t>a</a:t>
            </a:r>
            <a:r>
              <a:rPr lang="ru-RU" b="1" dirty="0" smtClean="0"/>
              <a:t> d:\work\*.doc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Если некоторый пользователь или группа пользователей зашифровали файл с использованием EFS, то его содержимое доступно только им. Это приводит к рискам утери доступа к данным в зашифрованных файлах в случае утраты пароля данным пользователем</a:t>
            </a:r>
            <a:r>
              <a:rPr lang="en-US" dirty="0" smtClean="0"/>
              <a:t>. </a:t>
            </a:r>
            <a:r>
              <a:rPr lang="ru-RU" dirty="0" smtClean="0"/>
              <a:t>Для предотвращения подобных проблем администратор может определить некоторые учетные записи в качестве агентов восстановления.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"/>
            <a:ext cx="76295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5304" y="1905000"/>
            <a:ext cx="5938696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203</Words>
  <Application>Microsoft Office PowerPoint</Application>
  <PresentationFormat>Экран (4:3)</PresentationFormat>
  <Paragraphs>52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Office Theme</vt:lpstr>
      <vt:lpstr>Шифрующая файловая система Алгоритм шифрования RSA</vt:lpstr>
      <vt:lpstr>Слайд 2</vt:lpstr>
      <vt:lpstr>Слайд 3</vt:lpstr>
      <vt:lpstr>Генерация ключей RSA</vt:lpstr>
      <vt:lpstr>Слайд 5</vt:lpstr>
      <vt:lpstr>Шифрование и расшифровывание в RSA</vt:lpstr>
      <vt:lpstr>Пример шифрования RSA</vt:lpstr>
      <vt:lpstr>Слайд 8</vt:lpstr>
      <vt:lpstr>Пример расшифрования RSA</vt:lpstr>
      <vt:lpstr>Зашифровать!!</vt:lpstr>
      <vt:lpstr>Слайд 11</vt:lpstr>
      <vt:lpstr>Microsoft Windows и шифрованная файловая система </vt:lpstr>
      <vt:lpstr>Шифрующая файловая система.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Windows XP и шифрованная файловая система </dc:title>
  <dc:creator>Кирилл</dc:creator>
  <cp:lastModifiedBy>Кирилл</cp:lastModifiedBy>
  <cp:revision>37</cp:revision>
  <dcterms:created xsi:type="dcterms:W3CDTF">2017-02-16T09:54:33Z</dcterms:created>
  <dcterms:modified xsi:type="dcterms:W3CDTF">2019-02-11T10:03:47Z</dcterms:modified>
</cp:coreProperties>
</file>