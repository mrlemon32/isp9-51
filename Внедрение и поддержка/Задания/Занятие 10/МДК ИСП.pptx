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256" r:id="rId2"/>
    <p:sldId id="307" r:id="rId3"/>
    <p:sldId id="283" r:id="rId4"/>
    <p:sldId id="300" r:id="rId5"/>
    <p:sldId id="301" r:id="rId6"/>
    <p:sldId id="302" r:id="rId7"/>
    <p:sldId id="303" r:id="rId8"/>
    <p:sldId id="304" r:id="rId9"/>
    <p:sldId id="305" r:id="rId10"/>
    <p:sldId id="306" r:id="rId11"/>
    <p:sldId id="284" r:id="rId12"/>
    <p:sldId id="285" r:id="rId13"/>
    <p:sldId id="286" r:id="rId14"/>
    <p:sldId id="287" r:id="rId15"/>
  </p:sldIdLst>
  <p:sldSz cx="9144000" cy="6858000" type="screen4x3"/>
  <p:notesSz cx="6858000" cy="9144000"/>
  <p:defaultTextStyle>
    <a:defPPr>
      <a:defRPr lang="en-US"/>
    </a:defPPr>
    <a:lvl1pPr marL="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-2568" y="-7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FEF794-C895-4B34-B804-2354C417239C}" type="datetimeFigureOut">
              <a:rPr lang="ru-RU" smtClean="0"/>
              <a:pPr/>
              <a:t>08.02.2022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EE48AB-84EC-4E8E-9944-7FCD6135A777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ый треугольник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Заголовок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7" name="Подзаголовок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grpSp>
        <p:nvGrpSpPr>
          <p:cNvPr id="2" name="Группа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Полилиния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Полилиния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Полилиния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Прямая соединительная линия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Дата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7EAF463A-BC7C-46EE-9F1E-7F377CCA4891}" type="datetimeFigureOut">
              <a:rPr lang="en-US" smtClean="0"/>
              <a:pPr/>
              <a:t>2/8/2022</a:t>
            </a:fld>
            <a:endParaRPr lang="en-US"/>
          </a:p>
        </p:txBody>
      </p:sp>
      <p:sp>
        <p:nvSpPr>
          <p:cNvPr id="19" name="Нижний колонтитул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Номер слайда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EAF463A-BC7C-46EE-9F1E-7F377CCA4891}" type="datetimeFigureOut">
              <a:rPr lang="en-US" smtClean="0"/>
              <a:pPr/>
              <a:t>2/8/2022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EAF463A-BC7C-46EE-9F1E-7F377CCA4891}" type="datetimeFigureOut">
              <a:rPr lang="en-US" smtClean="0"/>
              <a:pPr/>
              <a:t>2/8/2022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Нашивка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Нашивка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EAF463A-BC7C-46EE-9F1E-7F377CCA4891}" type="datetimeFigureOut">
              <a:rPr lang="en-US" smtClean="0"/>
              <a:pPr/>
              <a:t>2/8/2022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Заголовок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Содержимое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EAF463A-BC7C-46EE-9F1E-7F377CCA4891}" type="datetimeFigureOut">
              <a:rPr lang="en-US" smtClean="0"/>
              <a:pPr/>
              <a:t>2/8/2022</a:t>
            </a:fld>
            <a:endParaRPr lang="en-US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EAF463A-BC7C-46EE-9F1E-7F377CCA4891}" type="datetimeFigureOut">
              <a:rPr lang="en-US" smtClean="0"/>
              <a:pPr/>
              <a:t>2/8/2022</a:t>
            </a:fld>
            <a:endParaRPr lang="en-US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EAF463A-BC7C-46EE-9F1E-7F377CCA4891}" type="datetimeFigureOut">
              <a:rPr lang="en-US" smtClean="0"/>
              <a:pPr/>
              <a:t>2/8/2022</a:t>
            </a:fld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7EAF463A-BC7C-46EE-9F1E-7F377CCA4891}" type="datetimeFigureOut">
              <a:rPr lang="en-US" smtClean="0"/>
              <a:pPr/>
              <a:t>2/8/2022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ru-RU" smtClean="0"/>
              <a:t>Вставка рисунка</a:t>
            </a:r>
            <a:endParaRPr kumimoji="0" lang="en-US" dirty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7EAF463A-BC7C-46EE-9F1E-7F377CCA4891}" type="datetimeFigureOut">
              <a:rPr lang="en-US" smtClean="0"/>
              <a:pPr/>
              <a:t>2/8/2022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8" name="Полилиния 7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Полилиния 8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Прямоугольный треугольник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Нашивка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Нашивка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EAF463A-BC7C-46EE-9F1E-7F377CCA4891}" type="datetimeFigureOut">
              <a:rPr lang="en-US" smtClean="0"/>
              <a:pPr/>
              <a:t>2/8/2022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EAF463A-BC7C-46EE-9F1E-7F377CCA4891}" type="datetimeFigureOut">
              <a:rPr lang="en-US" smtClean="0"/>
              <a:pPr/>
              <a:t>2/8/2022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олилиния 12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Полилиния 11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Прямоугольный треугольник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Прямая соединительная линия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Заголовок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0" name="Текст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10" name="Дата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7EAF463A-BC7C-46EE-9F1E-7F377CCA4891}" type="datetimeFigureOut">
              <a:rPr lang="en-US" smtClean="0"/>
              <a:pPr/>
              <a:t>2/8/2022</a:t>
            </a:fld>
            <a:endParaRPr lang="en-US"/>
          </a:p>
        </p:txBody>
      </p:sp>
      <p:sp>
        <p:nvSpPr>
          <p:cNvPr id="22" name="Нижний колонтитул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Номер слайда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ru-RU" i="1" dirty="0" smtClean="0"/>
              <a:t>МДК. 04.01 Внедрение и поддержка компьютерных систем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304800" y="304800"/>
            <a:ext cx="8229600" cy="1143000"/>
          </a:xfrm>
        </p:spPr>
        <p:txBody>
          <a:bodyPr/>
          <a:lstStyle/>
          <a:p>
            <a:r>
              <a:rPr lang="ru-RU" dirty="0" smtClean="0"/>
              <a:t>Этап техническое задание</a:t>
            </a:r>
            <a:endParaRPr lang="ru-RU" dirty="0"/>
          </a:p>
        </p:txBody>
      </p:sp>
      <p:pic>
        <p:nvPicPr>
          <p:cNvPr id="4" name="Picture 2" descr="Картинки по запросу &quot;техническое задание&quot;&quot;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990600"/>
            <a:ext cx="8915400" cy="557212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None/>
            </a:pPr>
            <a:r>
              <a:rPr lang="ru-RU" dirty="0" smtClean="0"/>
              <a:t>		Техническое задание является основным документом, определяющим требования и порядок создания (развития или модернизации) автоматизированной (компьютерной) системы, в соответствии с которым проводится разработка проекта и его приемка при вводе в эксплуатацию. </a:t>
            </a:r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b="0" dirty="0" smtClean="0"/>
              <a:t>Техническое задание</a:t>
            </a:r>
            <a:endParaRPr lang="ru-RU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634" name="Picture 2" descr="Картинки по запросу &quot;it служба&quot;&quot;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83199" y="3886200"/>
            <a:ext cx="4460801" cy="2971800"/>
          </a:xfrm>
          <a:prstGeom prst="rect">
            <a:avLst/>
          </a:prstGeom>
          <a:noFill/>
        </p:spPr>
      </p:pic>
      <p:sp>
        <p:nvSpPr>
          <p:cNvPr id="2" name="Содержимое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ru-RU" dirty="0" smtClean="0"/>
              <a:t>1. Коммерческая организация решила внедрить у себя автоматизированную систему. Она не имеет собственной  IT-службы и решили поступить так: Заинтересованное лицо должно разработать Техническое задание и отдать его на разработку сторонней организации;</a:t>
            </a:r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Варианты подхода к разработке ТЗ</a:t>
            </a:r>
            <a:endParaRPr lang="ru-RU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4525963"/>
          </a:xfrm>
        </p:spPr>
        <p:txBody>
          <a:bodyPr/>
          <a:lstStyle/>
          <a:p>
            <a:r>
              <a:rPr lang="ru-RU" dirty="0" smtClean="0"/>
              <a:t>2. Коммерческая организация решила внедрить у себя автоматизированную систему. Она имеет собственную  IT-службу. Решили поступить так:  разработать Техническое задание, затем согласовать его между IT-службой и заинтересованными лицами, и реализовать собственными силами;</a:t>
            </a:r>
          </a:p>
          <a:p>
            <a:pPr>
              <a:buNone/>
            </a:pPr>
            <a:endParaRPr lang="ru-RU" dirty="0"/>
          </a:p>
        </p:txBody>
      </p:sp>
      <p:pic>
        <p:nvPicPr>
          <p:cNvPr id="68610" name="Picture 2" descr="Картинки по запросу &quot;it служба&quot;&quot;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0" y="3892105"/>
            <a:ext cx="4726524" cy="296589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>
          <a:xfrm>
            <a:off x="457200" y="228600"/>
            <a:ext cx="8229600" cy="4525963"/>
          </a:xfrm>
        </p:spPr>
        <p:txBody>
          <a:bodyPr/>
          <a:lstStyle/>
          <a:p>
            <a:pPr algn="just"/>
            <a:r>
              <a:rPr lang="ru-RU" dirty="0" smtClean="0"/>
              <a:t>3. </a:t>
            </a:r>
            <a:r>
              <a:rPr lang="ru-RU" dirty="0" smtClean="0"/>
              <a:t>IT-компания занимается услугами по разработке и/или внедрению автоматизированных систем. Это наиболее сложный случай, ведь приходится работать в самых различных условиях.</a:t>
            </a:r>
            <a:endParaRPr lang="ru-RU" dirty="0"/>
          </a:p>
        </p:txBody>
      </p:sp>
      <p:pic>
        <p:nvPicPr>
          <p:cNvPr id="67586" name="Picture 2" descr="Картинки по запросу &quot;it служба прикол&quot;&quot;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00600" y="3736180"/>
            <a:ext cx="4343400" cy="312181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562" name="Picture 2" descr="Картинки по запросу &quot;ujcn&quot;&quot;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867400" y="0"/>
            <a:ext cx="2978570" cy="2057400"/>
          </a:xfrm>
          <a:prstGeom prst="rect">
            <a:avLst/>
          </a:prstGeom>
          <a:noFill/>
        </p:spPr>
      </p:pic>
      <p:sp>
        <p:nvSpPr>
          <p:cNvPr id="2" name="Содержимое 1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fontAlgn="base"/>
            <a:r>
              <a:rPr lang="ru-RU" dirty="0" smtClean="0"/>
              <a:t>ГОСТ 2.114-95 Единая система конструкторской документации. Технические условия;</a:t>
            </a:r>
          </a:p>
          <a:p>
            <a:pPr fontAlgn="base"/>
            <a:r>
              <a:rPr lang="ru-RU" dirty="0" smtClean="0"/>
              <a:t>ГОСТ 19.201-78 Единая система программной документации. Техническое задание. Требования к содержанию и оформлению;</a:t>
            </a:r>
          </a:p>
          <a:p>
            <a:pPr fontAlgn="base"/>
            <a:r>
              <a:rPr lang="ru-RU" dirty="0" smtClean="0"/>
              <a:t>ГОСТ 34.602-89 Информационная технология. Комплекс стандартов на автоматизированные системы. Техническое задание на создание автоматизированной системы.</a:t>
            </a:r>
          </a:p>
          <a:p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ГОСТЫ</a:t>
            </a:r>
            <a:endParaRPr lang="ru-RU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>
          <a:xfrm>
            <a:off x="457200" y="152400"/>
            <a:ext cx="8229600" cy="4525963"/>
          </a:xfrm>
        </p:spPr>
        <p:txBody>
          <a:bodyPr/>
          <a:lstStyle/>
          <a:p>
            <a:r>
              <a:rPr lang="ru-RU" dirty="0" smtClean="0"/>
              <a:t>Основное назначение Технического задания - сформулировать требования к разрабатываемому объекту, в нашем случае к компьютерной системе.</a:t>
            </a:r>
          </a:p>
          <a:p>
            <a:pPr fontAlgn="base"/>
            <a:r>
              <a:rPr lang="ru-RU" dirty="0" smtClean="0"/>
              <a:t>Например:</a:t>
            </a:r>
          </a:p>
          <a:p>
            <a:pPr fontAlgn="base">
              <a:buNone/>
            </a:pPr>
            <a:r>
              <a:rPr lang="ru-RU" dirty="0" smtClean="0"/>
              <a:t>Требования в функциональности;</a:t>
            </a:r>
          </a:p>
          <a:p>
            <a:pPr fontAlgn="base">
              <a:buNone/>
            </a:pPr>
            <a:r>
              <a:rPr lang="ru-RU" dirty="0" smtClean="0"/>
              <a:t>Требования к безопасности и правам доступа;</a:t>
            </a:r>
          </a:p>
          <a:p>
            <a:pPr fontAlgn="base">
              <a:buNone/>
            </a:pPr>
            <a:r>
              <a:rPr lang="ru-RU" dirty="0" smtClean="0"/>
              <a:t>Требования к квалификации персонала;</a:t>
            </a:r>
          </a:p>
          <a:p>
            <a:endParaRPr lang="ru-RU" dirty="0"/>
          </a:p>
        </p:txBody>
      </p:sp>
      <p:pic>
        <p:nvPicPr>
          <p:cNvPr id="65538" name="Picture 2" descr="Картинки по запросу &quot;техническое задание&quot;&quot;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998720" y="4038600"/>
            <a:ext cx="4145280" cy="25908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ru-RU" dirty="0" smtClean="0"/>
              <a:t>Требование должно быть </a:t>
            </a:r>
            <a:r>
              <a:rPr lang="ru-RU" b="1" dirty="0" smtClean="0"/>
              <a:t>понятным</a:t>
            </a:r>
            <a:r>
              <a:rPr lang="ru-RU" dirty="0" smtClean="0"/>
              <a:t>;</a:t>
            </a:r>
          </a:p>
          <a:p>
            <a:pPr fontAlgn="base"/>
            <a:r>
              <a:rPr lang="ru-RU" dirty="0" smtClean="0"/>
              <a:t>Требование должно быть </a:t>
            </a:r>
            <a:r>
              <a:rPr lang="ru-RU" b="1" dirty="0" smtClean="0"/>
              <a:t>конкретным</a:t>
            </a:r>
            <a:r>
              <a:rPr lang="ru-RU" dirty="0" smtClean="0"/>
              <a:t>;</a:t>
            </a:r>
          </a:p>
          <a:p>
            <a:pPr fontAlgn="base"/>
            <a:r>
              <a:rPr lang="ru-RU" dirty="0" smtClean="0"/>
              <a:t>Требование должно быть </a:t>
            </a:r>
            <a:r>
              <a:rPr lang="ru-RU" b="1" dirty="0" smtClean="0"/>
              <a:t>тестируемым</a:t>
            </a:r>
            <a:r>
              <a:rPr lang="ru-RU" dirty="0" smtClean="0"/>
              <a:t>;</a:t>
            </a:r>
          </a:p>
          <a:p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Свойства требований</a:t>
            </a:r>
            <a:endParaRPr lang="ru-RU" dirty="0"/>
          </a:p>
        </p:txBody>
      </p:sp>
      <p:pic>
        <p:nvPicPr>
          <p:cNvPr id="4" name="Picture 2" descr="Картинки по запросу &quot;техническое задание&quot;&quot;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169920" y="2895600"/>
            <a:ext cx="5974080" cy="37338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fontAlgn="base"/>
            <a:r>
              <a:rPr lang="ru-RU" dirty="0" smtClean="0"/>
              <a:t>общие сведения;</a:t>
            </a:r>
          </a:p>
          <a:p>
            <a:pPr fontAlgn="base"/>
            <a:r>
              <a:rPr lang="ru-RU" dirty="0" smtClean="0"/>
              <a:t>назначение и цели создания (развития) системы;</a:t>
            </a:r>
          </a:p>
          <a:p>
            <a:pPr fontAlgn="base"/>
            <a:r>
              <a:rPr lang="ru-RU" dirty="0" smtClean="0"/>
              <a:t>характеристика объектов автоматизации;</a:t>
            </a:r>
          </a:p>
          <a:p>
            <a:pPr fontAlgn="base"/>
            <a:r>
              <a:rPr lang="ru-RU" dirty="0" smtClean="0"/>
              <a:t>требования к системе;</a:t>
            </a:r>
          </a:p>
          <a:p>
            <a:pPr fontAlgn="base"/>
            <a:r>
              <a:rPr lang="ru-RU" dirty="0" smtClean="0"/>
              <a:t>состав и содержание работ по созданию системы;</a:t>
            </a:r>
          </a:p>
          <a:p>
            <a:pPr fontAlgn="base"/>
            <a:r>
              <a:rPr lang="ru-RU" dirty="0" smtClean="0"/>
              <a:t>порядок контроля и приемки системы;</a:t>
            </a:r>
          </a:p>
          <a:p>
            <a:pPr fontAlgn="base"/>
            <a:r>
              <a:rPr lang="ru-RU" dirty="0" smtClean="0"/>
              <a:t>требования к составу и содержанию работ по подготовке объекта автоматизации к вводу системы в действие;</a:t>
            </a:r>
          </a:p>
          <a:p>
            <a:pPr fontAlgn="base"/>
            <a:r>
              <a:rPr lang="ru-RU" dirty="0" smtClean="0"/>
              <a:t>требования к документированию;</a:t>
            </a:r>
          </a:p>
          <a:p>
            <a:pPr fontAlgn="base"/>
            <a:r>
              <a:rPr lang="ru-RU" dirty="0" smtClean="0"/>
              <a:t>источники разработки.</a:t>
            </a:r>
          </a:p>
          <a:p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ГОСТ рекомендует следующие разделы:</a:t>
            </a:r>
            <a:endParaRPr lang="ru-RU" dirty="0"/>
          </a:p>
        </p:txBody>
      </p:sp>
      <p:pic>
        <p:nvPicPr>
          <p:cNvPr id="63490" name="Picture 2" descr="Картинки по запросу &quot;Ujcn&quot;&quot;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643687" y="4800600"/>
            <a:ext cx="2500313" cy="20574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None/>
            </a:pPr>
            <a:r>
              <a:rPr lang="ru-RU" dirty="0"/>
              <a:t>	</a:t>
            </a:r>
            <a:r>
              <a:rPr lang="ru-RU" dirty="0" smtClean="0"/>
              <a:t>	Раздел общие сведения должен включать в  себя полное наименование внедряемой системы, основания для внедрения системы, Наименование организаций – Заказчика и Разработчика, с указанием реквизитов обеих сторон.</a:t>
            </a:r>
          </a:p>
          <a:p>
            <a:pPr algn="just">
              <a:buNone/>
            </a:pPr>
            <a:r>
              <a:rPr lang="ru-RU" dirty="0" smtClean="0"/>
              <a:t>		Помимо этого, так же необходимо указывать сроки внедрения и сдачи работ.</a:t>
            </a:r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Раздел: Общие сведения</a:t>
            </a:r>
            <a:endParaRPr lang="ru-RU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None/>
            </a:pPr>
            <a:r>
              <a:rPr lang="ru-RU" dirty="0" smtClean="0"/>
              <a:t>		В данном разделе необходимо указать  цель создания системы, то есть для каких процессов предназначена внедряемая система и указать назначение системы.</a:t>
            </a:r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	Раздел: Назначение и цели создания системы. </a:t>
            </a:r>
            <a:endParaRPr lang="ru-RU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None/>
            </a:pPr>
            <a:r>
              <a:rPr lang="ru-RU" dirty="0" smtClean="0"/>
              <a:t>		Указываются характеристики существующей системы, если такова имеется и приводятся краткие сведения об области деятельности Заказчика  (сфера его занятий)</a:t>
            </a:r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Раздел: Характеристика объектов автоматизации </a:t>
            </a:r>
            <a:endParaRPr lang="ru-RU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А дальше сами)))</a:t>
            </a:r>
          </a:p>
          <a:p>
            <a:r>
              <a:rPr lang="ru-RU" dirty="0" smtClean="0"/>
              <a:t>ПЗ№10</a:t>
            </a:r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Раздел: Требования к системе</a:t>
            </a:r>
            <a:endParaRPr lang="ru-RU" dirty="0"/>
          </a:p>
        </p:txBody>
      </p:sp>
      <p:sp>
        <p:nvSpPr>
          <p:cNvPr id="4" name="Улыбающееся лицо 3"/>
          <p:cNvSpPr/>
          <p:nvPr/>
        </p:nvSpPr>
        <p:spPr>
          <a:xfrm>
            <a:off x="3200400" y="2514600"/>
            <a:ext cx="2895600" cy="2667000"/>
          </a:xfrm>
          <a:prstGeom prst="smileyFac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Открытая">
  <a:themeElements>
    <a:clrScheme name="Открытая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Открытая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Открытая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95000" t="-106500" r="5000" b="2065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2136</TotalTime>
  <Words>241</Words>
  <Application>Microsoft Office PowerPoint</Application>
  <PresentationFormat>Экран (4:3)</PresentationFormat>
  <Paragraphs>41</Paragraphs>
  <Slides>14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5" baseType="lpstr">
      <vt:lpstr>Открытая</vt:lpstr>
      <vt:lpstr>МДК. 04.01 Внедрение и поддержка компьютерных систем</vt:lpstr>
      <vt:lpstr>Этап техническое задание</vt:lpstr>
      <vt:lpstr>Техническое задание</vt:lpstr>
      <vt:lpstr>Варианты подхода к разработке ТЗ</vt:lpstr>
      <vt:lpstr>Слайд 5</vt:lpstr>
      <vt:lpstr>Слайд 6</vt:lpstr>
      <vt:lpstr>ГОСТЫ</vt:lpstr>
      <vt:lpstr>Слайд 8</vt:lpstr>
      <vt:lpstr>Свойства требований</vt:lpstr>
      <vt:lpstr>ГОСТ рекомендует следующие разделы:</vt:lpstr>
      <vt:lpstr>Раздел: Общие сведения</vt:lpstr>
      <vt:lpstr> Раздел: Назначение и цели создания системы. </vt:lpstr>
      <vt:lpstr>Раздел: Характеристика объектов автоматизации </vt:lpstr>
      <vt:lpstr>Раздел: Требования к системе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МДК. 04.01 Внедрение и поддержка компьютерных систем</dc:title>
  <dc:creator>Кирилл</dc:creator>
  <cp:lastModifiedBy>Кирилл</cp:lastModifiedBy>
  <cp:revision>77</cp:revision>
  <dcterms:created xsi:type="dcterms:W3CDTF">2018-01-11T05:40:38Z</dcterms:created>
  <dcterms:modified xsi:type="dcterms:W3CDTF">2022-02-08T05:05:04Z</dcterms:modified>
</cp:coreProperties>
</file>