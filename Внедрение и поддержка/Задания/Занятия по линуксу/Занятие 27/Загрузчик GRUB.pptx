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56" r:id="rId9"/>
    <p:sldId id="263" r:id="rId10"/>
    <p:sldId id="257" r:id="rId11"/>
    <p:sldId id="258" r:id="rId12"/>
    <p:sldId id="259" r:id="rId13"/>
    <p:sldId id="265" r:id="rId14"/>
    <p:sldId id="266" r:id="rId15"/>
    <p:sldId id="260" r:id="rId16"/>
    <p:sldId id="261" r:id="rId17"/>
    <p:sldId id="267" r:id="rId18"/>
    <p:sldId id="262" r:id="rId19"/>
    <p:sldId id="268" r:id="rId20"/>
    <p:sldId id="269" r:id="rId21"/>
    <p:sldId id="264" r:id="rId22"/>
    <p:sldId id="270" r:id="rId23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-1086" y="-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C:\Users\Кирилл\Downloads\rebus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209800"/>
            <a:ext cx="4991100" cy="247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C:\Users\Кирилл\Downloads\rebus (2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286000"/>
            <a:ext cx="4429125" cy="247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C:\Users\Кирилл\Downloads\rebus (3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362200"/>
            <a:ext cx="9144000" cy="228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C:\Users\Кирилл\Downloads\rebus (4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209800"/>
            <a:ext cx="6010275" cy="247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C:\Users\Кирилл\Downloads\rebus (5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67000"/>
            <a:ext cx="9144000" cy="1873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 descr="C:\Users\Кирилл\Downloads\rebus (6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86000"/>
            <a:ext cx="6686550" cy="247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 descr="C:\Users\Кирилл\Downloads\rebus (7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133600"/>
            <a:ext cx="6334125" cy="2476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Загрузчик </a:t>
            </a:r>
            <a:r>
              <a:rPr lang="en-US" dirty="0" smtClean="0"/>
              <a:t>GRUB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 descr="ÐÐ°ÑÑÐ¸Ð½ÐºÐ¸ Ð¿Ð¾ Ð·Ð°Ð¿ÑÐ¾ÑÑ Ð·Ð°Ð³ÑÑÐ·ÑÐ¸Ðº gru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09800"/>
            <a:ext cx="5962650" cy="4048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Загрузчик</a:t>
            </a:r>
            <a:r>
              <a:rPr lang="en-US" dirty="0" smtClean="0"/>
              <a:t> </a:t>
            </a:r>
            <a:r>
              <a:rPr lang="ru-RU" dirty="0" smtClean="0"/>
              <a:t>любой операционной системы выполняет очень важную функцию - он позволяет выбрать какую операционную систему стоит загружать, также инициализирует параметры ядра ОС и подготавливает его к загрузке. </a:t>
            </a:r>
          </a:p>
          <a:p>
            <a:pPr algn="just">
              <a:buNone/>
            </a:pPr>
            <a:r>
              <a:rPr lang="ru-RU" dirty="0"/>
              <a:t>	</a:t>
            </a:r>
            <a:r>
              <a:rPr lang="ru-RU" dirty="0" smtClean="0"/>
              <a:t>	В большинстве дистрибутивов </a:t>
            </a:r>
            <a:r>
              <a:rPr lang="ru-RU" dirty="0" err="1" smtClean="0"/>
              <a:t>Linux</a:t>
            </a:r>
            <a:r>
              <a:rPr lang="ru-RU" dirty="0" smtClean="0"/>
              <a:t> используется загрузчик </a:t>
            </a:r>
            <a:r>
              <a:rPr lang="ru-RU" dirty="0" err="1" smtClean="0"/>
              <a:t>Grub</a:t>
            </a:r>
            <a:r>
              <a:rPr lang="ru-RU" dirty="0" smtClean="0"/>
              <a:t>. Он поддерживает все необходимые функции, в том числе и UEFI (новая версия </a:t>
            </a:r>
            <a:r>
              <a:rPr lang="en-US" dirty="0" smtClean="0"/>
              <a:t>BIOS)</a:t>
            </a:r>
            <a:r>
              <a:rPr lang="ru-RU" dirty="0" smtClean="0"/>
              <a:t>, а также он  очень настраиваемый.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работает </a:t>
            </a:r>
            <a:r>
              <a:rPr lang="en-US" dirty="0" smtClean="0"/>
              <a:t>GRUB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71600" y="1143000"/>
            <a:ext cx="7498080" cy="4800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Когда компьютер загружается, BIOS передает управление первому загрузочному устройству, которое может быть жестким диском, дискетой, CD-ROM или другим устройством, распознаваемым BIOS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7170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6190" y="4114800"/>
            <a:ext cx="383781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475388"/>
            <a:ext cx="3886200" cy="2382611"/>
          </a:xfrm>
          <a:prstGeom prst="rect">
            <a:avLst/>
          </a:prstGeom>
          <a:noFill/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0"/>
            <a:ext cx="7498080" cy="48006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Первый сектор</a:t>
            </a:r>
            <a:r>
              <a:rPr lang="en-US" dirty="0" smtClean="0"/>
              <a:t> </a:t>
            </a:r>
            <a:r>
              <a:rPr lang="ru-RU" dirty="0" smtClean="0"/>
              <a:t>загрузочного жесткого диска называется 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r>
              <a:rPr lang="ru-RU" dirty="0" err="1" smtClean="0"/>
              <a:t>Boot</a:t>
            </a:r>
            <a:r>
              <a:rPr lang="ru-RU" dirty="0" smtClean="0"/>
              <a:t> </a:t>
            </a:r>
            <a:r>
              <a:rPr lang="ru-RU" dirty="0" err="1" smtClean="0"/>
              <a:t>Record</a:t>
            </a:r>
            <a:r>
              <a:rPr lang="ru-RU" dirty="0" smtClean="0"/>
              <a:t> (MBR) (Главная Загрузочная Запись). Длина этого сектора всего 512 байт. Он содержит небольшой фрагмент кода, который называется основной загрузчик</a:t>
            </a:r>
            <a:r>
              <a:rPr lang="en-US" dirty="0" smtClean="0"/>
              <a:t>. </a:t>
            </a:r>
            <a:r>
              <a:rPr lang="ru-RU" dirty="0" smtClean="0"/>
              <a:t>Для загрузчика </a:t>
            </a:r>
            <a:r>
              <a:rPr lang="en-US" dirty="0" smtClean="0"/>
              <a:t>Windows </a:t>
            </a:r>
            <a:r>
              <a:rPr lang="ru-RU" dirty="0" smtClean="0"/>
              <a:t>этого пространства хватает, однако,</a:t>
            </a:r>
            <a:r>
              <a:rPr lang="ru-RU" dirty="0"/>
              <a:t> </a:t>
            </a:r>
            <a:r>
              <a:rPr lang="ru-RU" dirty="0" smtClean="0"/>
              <a:t>GRUB заменяет код MBR по умолчанию собственным кодом.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ÐÐ°ÑÑÐ¸Ð½ÐºÐ¸ Ð¿Ð¾ Ð·Ð°Ð¿ÑÐ¾ÑÑ Ð·Ð°Ð³ÑÑÐ·ÑÐ¸Ðº ÐÐ¡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982516"/>
            <a:ext cx="3733800" cy="280781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 Работа GRUB состоит из нескольких стадий: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417638"/>
            <a:ext cx="7498080" cy="4800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b="1" dirty="0" smtClean="0"/>
              <a:t>		Стадия 1:</a:t>
            </a:r>
            <a:r>
              <a:rPr lang="ru-RU" dirty="0" smtClean="0"/>
              <a:t> размещение кода загрузчика в MBR. Из-за малого объема MBR размещается только ссылка для перехода к Стадии 2, которая содержит все требуемые данные.</a:t>
            </a:r>
          </a:p>
          <a:p>
            <a:pPr algn="just">
              <a:buNone/>
            </a:pPr>
            <a:r>
              <a:rPr lang="ru-RU" dirty="0" smtClean="0"/>
              <a:t>		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76200"/>
            <a:ext cx="7498080" cy="48006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b="1" dirty="0"/>
              <a:t>Стадия 2:</a:t>
            </a:r>
            <a:r>
              <a:rPr lang="ru-RU" dirty="0"/>
              <a:t> переход к конфигурационному </a:t>
            </a:r>
            <a:r>
              <a:rPr lang="ru-RU" dirty="0" smtClean="0"/>
              <a:t>файлу</a:t>
            </a:r>
            <a:r>
              <a:rPr lang="en-US" dirty="0" smtClean="0"/>
              <a:t> </a:t>
            </a:r>
            <a:r>
              <a:rPr lang="en-US" dirty="0" err="1" smtClean="0"/>
              <a:t>grub.conf</a:t>
            </a:r>
            <a:r>
              <a:rPr lang="ru-RU" dirty="0" smtClean="0"/>
              <a:t>, </a:t>
            </a:r>
            <a:r>
              <a:rPr lang="ru-RU" dirty="0"/>
              <a:t>который содержит все компоненты пользовательского интерфейса и настройки, необходимые для работы GRUB. </a:t>
            </a:r>
            <a:r>
              <a:rPr lang="ru-RU" dirty="0" smtClean="0"/>
              <a:t>При этом </a:t>
            </a:r>
            <a:r>
              <a:rPr lang="ru-RU" b="1" dirty="0" smtClean="0"/>
              <a:t>Стадия </a:t>
            </a:r>
            <a:r>
              <a:rPr lang="ru-RU" b="1" dirty="0"/>
              <a:t>2</a:t>
            </a:r>
            <a:r>
              <a:rPr lang="ru-RU" dirty="0"/>
              <a:t> может находиться в любом месте на диске. </a:t>
            </a:r>
            <a:endParaRPr lang="ru-RU" dirty="0" smtClean="0"/>
          </a:p>
          <a:p>
            <a:pPr marL="82296" indent="0" algn="just">
              <a:buNone/>
            </a:pPr>
            <a:r>
              <a:rPr lang="ru-RU" dirty="0"/>
              <a:t>	</a:t>
            </a:r>
            <a:r>
              <a:rPr lang="ru-RU" dirty="0" smtClean="0"/>
              <a:t>Если </a:t>
            </a:r>
            <a:r>
              <a:rPr lang="ru-RU" dirty="0"/>
              <a:t>в результате работы Стадии 2 не найдена конфигурационная таблица, GRUB прекратит процесс загрузки и предоставит пользователю возможность выбрать вручную загрузочную конфигурацию из командной строки.</a:t>
            </a:r>
          </a:p>
          <a:p>
            <a:pPr algn="just"/>
            <a:endParaRPr lang="ru-RU" dirty="0"/>
          </a:p>
        </p:txBody>
      </p:sp>
      <p:pic>
        <p:nvPicPr>
          <p:cNvPr id="2050" name="Picture 2" descr="Настройка загрузчика Grub | Loss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52900" y="4376261"/>
            <a:ext cx="4411980" cy="248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3380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Linux по-русски. Простой способ освоения Grub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76800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Записки любителя Linux Mint: Начальный загрузчик GRUB 2 - полное руководств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29712" y="1874838"/>
            <a:ext cx="60960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00439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95400" y="304800"/>
            <a:ext cx="7498080" cy="4800600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Структура Стадий позволяет GRUB иметь довольно большой объем. Поэтому GRUB достаточно сложный и хорошо конфигурируемый, по сравнению с большинством загрузчиков, которые более компактные и проще укладываются в ограничения для Таблицы Разделов.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ÐÐ°ÑÑÐ¸Ð½ÐºÐ¸ Ð¿Ð¾ Ð·Ð°Ð¿ÑÐ¾ÑÑ Ð·Ð°Ð³ÑÑÐ·ÑÐ¸Ðº gru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46138"/>
            <a:ext cx="9144000" cy="50560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 что если хочется и </a:t>
            </a:r>
            <a:r>
              <a:rPr lang="en-US" dirty="0"/>
              <a:t>W</a:t>
            </a:r>
            <a:r>
              <a:rPr lang="en-US" dirty="0" smtClean="0"/>
              <a:t>indows 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L</a:t>
            </a:r>
            <a:r>
              <a:rPr lang="en-US" dirty="0" smtClean="0"/>
              <a:t>inux</a:t>
            </a:r>
            <a:r>
              <a:rPr lang="ru-RU" dirty="0" smtClean="0"/>
              <a:t> ?</a:t>
            </a:r>
            <a:endParaRPr lang="ru-RU" dirty="0"/>
          </a:p>
        </p:txBody>
      </p:sp>
      <p:pic>
        <p:nvPicPr>
          <p:cNvPr id="3074" name="Picture 2" descr="Задумчивый человек в стеклах, эскиз идеи Стоковое Изображение - изображение  насчитывающей : 15241549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12938"/>
            <a:ext cx="5766878" cy="441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41868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95400" y="0"/>
            <a:ext cx="7498080" cy="48006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Понятно и очевидно, загрузчик от </a:t>
            </a:r>
            <a:r>
              <a:rPr lang="ru-RU" dirty="0" err="1" smtClean="0"/>
              <a:t>Windows</a:t>
            </a:r>
            <a:r>
              <a:rPr lang="ru-RU" dirty="0" smtClean="0"/>
              <a:t> больше приспособлен и ориентирован на загрузку самой </a:t>
            </a:r>
            <a:r>
              <a:rPr lang="ru-RU" b="1" dirty="0" smtClean="0"/>
              <a:t>ОС </a:t>
            </a:r>
            <a:r>
              <a:rPr lang="ru-RU" b="1" dirty="0" err="1" smtClean="0"/>
              <a:t>Windows</a:t>
            </a:r>
            <a:r>
              <a:rPr lang="ru-RU" dirty="0" smtClean="0"/>
              <a:t>, чем других операционных систем, поэтому он простой, функций у него мало и спрятаны от пользователя.</a:t>
            </a:r>
          </a:p>
          <a:p>
            <a:pPr algn="just">
              <a:buNone/>
            </a:pPr>
            <a:r>
              <a:rPr lang="ru-RU" dirty="0" smtClean="0"/>
              <a:t>		Загрузчик от </a:t>
            </a:r>
            <a:r>
              <a:rPr lang="ru-RU" b="1" dirty="0" err="1" smtClean="0"/>
              <a:t>Linux</a:t>
            </a:r>
            <a:r>
              <a:rPr lang="ru-RU" dirty="0" smtClean="0"/>
              <a:t>, имеется ввиду </a:t>
            </a:r>
            <a:r>
              <a:rPr lang="ru-RU" b="1" dirty="0" smtClean="0"/>
              <a:t>GRUB</a:t>
            </a:r>
            <a:r>
              <a:rPr lang="ru-RU" dirty="0" smtClean="0"/>
              <a:t>, более функционален и позиционируется как универсальное средство загрузки различных операционных систем (а их десятки), учитывая их особенности.</a:t>
            </a:r>
            <a:endParaRPr lang="ru-RU" dirty="0"/>
          </a:p>
        </p:txBody>
      </p:sp>
      <p:pic>
        <p:nvPicPr>
          <p:cNvPr id="2050" name="Picture 2" descr="ÐÐ°ÑÑÐ¸Ð½ÐºÐ¸ Ð¿Ð¾ Ð·Ð°Ð¿ÑÐ¾ÑÑ Ð·Ð°Ð³ÑÑÐ·ÑÐ¸Ðº Ð¾Ñ window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1" y="4463960"/>
            <a:ext cx="3200400" cy="2394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Использовать виртуализацию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5257800"/>
            <a:ext cx="7498080" cy="990600"/>
          </a:xfrm>
        </p:spPr>
        <p:txBody>
          <a:bodyPr/>
          <a:lstStyle/>
          <a:p>
            <a:r>
              <a:rPr lang="en-US" dirty="0" err="1" smtClean="0"/>
              <a:t>VmWare</a:t>
            </a:r>
            <a:r>
              <a:rPr lang="en-US" dirty="0" smtClean="0"/>
              <a:t>			</a:t>
            </a:r>
            <a:r>
              <a:rPr lang="en-US" dirty="0" err="1" smtClean="0"/>
              <a:t>VirtualBOX</a:t>
            </a:r>
            <a:endParaRPr lang="ru-RU" dirty="0"/>
          </a:p>
        </p:txBody>
      </p:sp>
      <p:pic>
        <p:nvPicPr>
          <p:cNvPr id="4098" name="Picture 2" descr="VMware Workstation — В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53183"/>
            <a:ext cx="3352800" cy="334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VirtualBox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10048" y="1399843"/>
            <a:ext cx="3400552" cy="340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88354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295400" y="160337"/>
            <a:ext cx="7498080" cy="1143000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dirty="0" smtClean="0"/>
              <a:t>А если все же хочется и </a:t>
            </a:r>
            <a:r>
              <a:rPr lang="en-US" dirty="0" smtClean="0"/>
              <a:t>Windows </a:t>
            </a:r>
            <a:r>
              <a:rPr lang="ru-RU" dirty="0" smtClean="0"/>
              <a:t>и</a:t>
            </a:r>
            <a:r>
              <a:rPr lang="en-US" dirty="0" smtClean="0"/>
              <a:t> Linux</a:t>
            </a:r>
            <a:r>
              <a:rPr lang="ru-RU" dirty="0" smtClean="0"/>
              <a:t>  без </a:t>
            </a:r>
            <a:r>
              <a:rPr lang="ru-RU" dirty="0" err="1" smtClean="0"/>
              <a:t>виртуализции</a:t>
            </a:r>
            <a:r>
              <a:rPr lang="ru-RU" dirty="0" smtClean="0"/>
              <a:t>?</a:t>
            </a:r>
            <a:endParaRPr lang="ru-RU" dirty="0"/>
          </a:p>
        </p:txBody>
      </p:sp>
      <p:sp>
        <p:nvSpPr>
          <p:cNvPr id="5" name="AutoShape 2" descr="Задумчивость | Пикабу"/>
          <p:cNvSpPr>
            <a:spLocks noChangeAspect="1" noChangeArrowheads="1"/>
          </p:cNvSpPr>
          <p:nvPr/>
        </p:nvSpPr>
        <p:spPr bwMode="auto">
          <a:xfrm>
            <a:off x="609600" y="10207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8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288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812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60" y="145931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040" y="2667994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0720" y="393343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9600" y="161925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94230" y="390922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94230" y="11430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20770" y="4187429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25240" y="1608137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65800" y="4145757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80840" y="21336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8440" y="30861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3160" y="28956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 descr="Наклейка Задумчивый смайлик PNG - AVATAN PL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16980" y="1291829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8898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90600" y="762000"/>
            <a:ext cx="7866888" cy="64770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Считается проще и логичнее использовать в качестве основного загрузчика - </a:t>
            </a:r>
            <a:r>
              <a:rPr lang="ru-RU" b="1" dirty="0" smtClean="0"/>
              <a:t>GRUB</a:t>
            </a:r>
            <a:r>
              <a:rPr lang="ru-RU" dirty="0" smtClean="0"/>
              <a:t>, так как он успешно загружает как </a:t>
            </a:r>
            <a:r>
              <a:rPr lang="ru-RU" dirty="0" err="1" smtClean="0"/>
              <a:t>Linux</a:t>
            </a:r>
            <a:r>
              <a:rPr lang="ru-RU" dirty="0" smtClean="0"/>
              <a:t> так и </a:t>
            </a:r>
            <a:r>
              <a:rPr lang="ru-RU" dirty="0" err="1" smtClean="0"/>
              <a:t>Windows</a:t>
            </a:r>
            <a:r>
              <a:rPr lang="ru-RU" dirty="0" smtClean="0"/>
              <a:t> различных версий.</a:t>
            </a:r>
          </a:p>
          <a:p>
            <a:pPr algn="just">
              <a:buNone/>
            </a:pPr>
            <a:r>
              <a:rPr lang="ru-RU" dirty="0" smtClean="0"/>
              <a:t>		Обычно, сначала устанавливается на компьютер </a:t>
            </a:r>
            <a:r>
              <a:rPr lang="ru-RU" dirty="0" err="1" smtClean="0"/>
              <a:t>Windows</a:t>
            </a:r>
            <a:r>
              <a:rPr lang="ru-RU" dirty="0" smtClean="0"/>
              <a:t>, при установке система помещает свой загрузчик в область MBR. Во время установки </a:t>
            </a:r>
            <a:r>
              <a:rPr lang="ru-RU" dirty="0" err="1" smtClean="0"/>
              <a:t>Linux</a:t>
            </a:r>
            <a:r>
              <a:rPr lang="ru-RU" dirty="0" smtClean="0"/>
              <a:t>, если вы выберите так же установить загрузчик на диск, загрузчик GRUB перезапишет предыдущий, а в свой файл настроек допишет запись о возможности загрузки </a:t>
            </a:r>
            <a:r>
              <a:rPr lang="ru-RU" dirty="0" err="1" smtClean="0"/>
              <a:t>Windows</a:t>
            </a:r>
            <a:r>
              <a:rPr lang="ru-RU" dirty="0" smtClean="0"/>
              <a:t>, и можно будет потом выбирать при загрузки компьютера, в меню загрузчика какую систему загружать.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ru-RU" b="1" dirty="0" smtClean="0"/>
              <a:t>Папка Занятие 27 - </a:t>
            </a:r>
            <a:r>
              <a:rPr lang="en-US" b="1" dirty="0" smtClean="0"/>
              <a:t>&gt; </a:t>
            </a:r>
            <a:endParaRPr lang="ru-RU" b="1" dirty="0" smtClean="0"/>
          </a:p>
          <a:p>
            <a:pPr marL="82296" indent="0">
              <a:buNone/>
            </a:pPr>
            <a:r>
              <a:rPr lang="ru-RU" dirty="0" smtClean="0"/>
              <a:t>1. Презентация – конспект.</a:t>
            </a:r>
          </a:p>
          <a:p>
            <a:pPr marL="82296" indent="0">
              <a:buNone/>
            </a:pPr>
            <a:r>
              <a:rPr lang="ru-RU" dirty="0" smtClean="0"/>
              <a:t>2. Выполнить Работу №27, в конце работы вопросы подготовить устно. Сдать работу.</a:t>
            </a:r>
          </a:p>
          <a:p>
            <a:pPr marL="82296" indent="0">
              <a:buNone/>
            </a:pPr>
            <a:r>
              <a:rPr lang="ru-RU" dirty="0" smtClean="0"/>
              <a:t>3. Получить доп. задание.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879162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321</TotalTime>
  <Words>68</Words>
  <Application>Microsoft Office PowerPoint</Application>
  <PresentationFormat>Экран (4:3)</PresentationFormat>
  <Paragraphs>25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Солнцестояние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Загрузчик GRUB</vt:lpstr>
      <vt:lpstr>Слайд 9</vt:lpstr>
      <vt:lpstr>Как работает GRUB</vt:lpstr>
      <vt:lpstr>Слайд 11</vt:lpstr>
      <vt:lpstr> Работа GRUB состоит из нескольких стадий:</vt:lpstr>
      <vt:lpstr>Слайд 13</vt:lpstr>
      <vt:lpstr>Слайд 14</vt:lpstr>
      <vt:lpstr>Слайд 15</vt:lpstr>
      <vt:lpstr>Слайд 16</vt:lpstr>
      <vt:lpstr>А что если хочется и Windows и Linux ?</vt:lpstr>
      <vt:lpstr>Слайд 18</vt:lpstr>
      <vt:lpstr>Использовать виртуализацию</vt:lpstr>
      <vt:lpstr>Слайд 20</vt:lpstr>
      <vt:lpstr>Слайд 21</vt:lpstr>
      <vt:lpstr>Задание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Загрузчик GRUB</dc:title>
  <dc:creator>Кирилл</dc:creator>
  <cp:lastModifiedBy>Кирилл</cp:lastModifiedBy>
  <cp:revision>28</cp:revision>
  <dcterms:created xsi:type="dcterms:W3CDTF">2019-04-24T04:32:32Z</dcterms:created>
  <dcterms:modified xsi:type="dcterms:W3CDTF">2022-04-25T09:09:23Z</dcterms:modified>
</cp:coreProperties>
</file>