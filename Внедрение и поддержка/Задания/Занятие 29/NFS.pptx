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65" r:id="rId14"/>
    <p:sldId id="256" r:id="rId15"/>
    <p:sldId id="257" r:id="rId16"/>
    <p:sldId id="258" r:id="rId17"/>
    <p:sldId id="259" r:id="rId18"/>
    <p:sldId id="260" r:id="rId19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94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4/29/2019</a:t>
            </a:fld>
            <a:endParaRPr lang="en-US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4/29/2019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4/29/2019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4/29/2019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4/29/2019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4/29/2019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4/29/2019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4/29/2019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4/29/2019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4/29/2019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4/29/2019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4/29/2019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UNIX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514600"/>
            <a:ext cx="6047088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2514600"/>
            <a:ext cx="3265356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362200"/>
            <a:ext cx="6726989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286000"/>
            <a:ext cx="5934075" cy="2743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286000"/>
            <a:ext cx="6489920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1981200"/>
            <a:ext cx="2514600" cy="2351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5562600"/>
            <a:ext cx="7498080" cy="1143000"/>
          </a:xfrm>
        </p:spPr>
        <p:txBody>
          <a:bodyPr>
            <a:noAutofit/>
          </a:bodyPr>
          <a:lstStyle/>
          <a:p>
            <a:r>
              <a:rPr lang="ru-RU" sz="3600" dirty="0" smtClean="0"/>
              <a:t>1. </a:t>
            </a:r>
            <a:r>
              <a:rPr lang="ru-RU" sz="3600" dirty="0" smtClean="0"/>
              <a:t>Программа управления внешним устройством компьютера.</a:t>
            </a:r>
            <a:endParaRPr lang="ru-RU" sz="36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057400" y="228600"/>
          <a:ext cx="6172208" cy="5257792"/>
        </p:xfrm>
        <a:graphic>
          <a:graphicData uri="http://schemas.openxmlformats.org/drawingml/2006/table">
            <a:tbl>
              <a:tblPr/>
              <a:tblGrid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</a:tblGrid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6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1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2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5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8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4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7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3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7400" y="1219200"/>
            <a:ext cx="2743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     Р       А    Й      В     Е      Р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5562600"/>
            <a:ext cx="7498080" cy="1143000"/>
          </a:xfrm>
        </p:spPr>
        <p:txBody>
          <a:bodyPr>
            <a:noAutofit/>
          </a:bodyPr>
          <a:lstStyle/>
          <a:p>
            <a:r>
              <a:rPr lang="ru-RU" sz="3600" dirty="0" smtClean="0"/>
              <a:t>3. </a:t>
            </a:r>
            <a:r>
              <a:rPr lang="ru-RU" sz="3600" dirty="0" smtClean="0"/>
              <a:t>Всемирная информационная компьютерная сеть</a:t>
            </a:r>
            <a:endParaRPr lang="ru-RU" sz="36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057400" y="228600"/>
          <a:ext cx="6172208" cy="5257792"/>
        </p:xfrm>
        <a:graphic>
          <a:graphicData uri="http://schemas.openxmlformats.org/drawingml/2006/table">
            <a:tbl>
              <a:tblPr/>
              <a:tblGrid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</a:tblGrid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6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1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2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5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8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4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7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3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7400" y="1219200"/>
            <a:ext cx="2743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     Р       А    Й      В     Е      Р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819400" y="25146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     Н      Т      Е      Р     Н     Е      Т 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5562600"/>
            <a:ext cx="7498080" cy="1143000"/>
          </a:xfrm>
        </p:spPr>
        <p:txBody>
          <a:bodyPr>
            <a:noAutofit/>
          </a:bodyPr>
          <a:lstStyle/>
          <a:p>
            <a:r>
              <a:rPr lang="ru-RU" sz="3600" dirty="0" smtClean="0"/>
              <a:t>5. </a:t>
            </a:r>
            <a:r>
              <a:rPr lang="ru-RU" sz="3200" dirty="0" smtClean="0"/>
              <a:t>Средства </a:t>
            </a:r>
            <a:r>
              <a:rPr lang="ru-RU" sz="3200" dirty="0" smtClean="0"/>
              <a:t>вычислительной системы, которые могут быть выделены процессу</a:t>
            </a:r>
            <a:endParaRPr lang="ru-RU" sz="36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057400" y="228600"/>
          <a:ext cx="6172208" cy="5257792"/>
        </p:xfrm>
        <a:graphic>
          <a:graphicData uri="http://schemas.openxmlformats.org/drawingml/2006/table">
            <a:tbl>
              <a:tblPr/>
              <a:tblGrid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</a:tblGrid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6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1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2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5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8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4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7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3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7400" y="1219200"/>
            <a:ext cx="2743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     Р       А    Й      В     Е      Р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819400" y="25146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     Н      Т      Е      Р     Н     Е      Т  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181600" y="15240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Р      Е      С      У     Р      С    Ы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5562600"/>
            <a:ext cx="7498080" cy="1143000"/>
          </a:xfrm>
        </p:spPr>
        <p:txBody>
          <a:bodyPr>
            <a:noAutofit/>
          </a:bodyPr>
          <a:lstStyle/>
          <a:p>
            <a:r>
              <a:rPr lang="ru-RU" sz="3600" dirty="0" smtClean="0"/>
              <a:t>2. </a:t>
            </a:r>
            <a:r>
              <a:rPr lang="ru-RU" sz="3200" dirty="0" smtClean="0"/>
              <a:t>Средство мониторинга за трафиком сети</a:t>
            </a:r>
            <a:endParaRPr lang="ru-RU" sz="36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057400" y="228600"/>
          <a:ext cx="6172208" cy="5257792"/>
        </p:xfrm>
        <a:graphic>
          <a:graphicData uri="http://schemas.openxmlformats.org/drawingml/2006/table">
            <a:tbl>
              <a:tblPr/>
              <a:tblGrid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</a:tblGrid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6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1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2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5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8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4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7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3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7400" y="1219200"/>
            <a:ext cx="2743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     Р       А    Й      В     Е      Р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819400" y="25146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     Н      Т      Е      Р     Н     Е      Т  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181600" y="15240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Р      Е      С      У     Р      С    Ы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819400" y="1524000"/>
            <a:ext cx="381000" cy="2977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НАЛ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З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Т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О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Р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5562600"/>
            <a:ext cx="7498080" cy="1143000"/>
          </a:xfrm>
        </p:spPr>
        <p:txBody>
          <a:bodyPr>
            <a:noAutofit/>
          </a:bodyPr>
          <a:lstStyle/>
          <a:p>
            <a:r>
              <a:rPr lang="ru-RU" sz="3600" dirty="0" smtClean="0"/>
              <a:t>4. </a:t>
            </a:r>
            <a:r>
              <a:rPr lang="ru-RU" sz="3200" dirty="0" smtClean="0"/>
              <a:t>Процесс запуска процесса</a:t>
            </a:r>
            <a:endParaRPr lang="ru-RU" sz="36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057400" y="228600"/>
          <a:ext cx="6172208" cy="5257792"/>
        </p:xfrm>
        <a:graphic>
          <a:graphicData uri="http://schemas.openxmlformats.org/drawingml/2006/table">
            <a:tbl>
              <a:tblPr/>
              <a:tblGrid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</a:tblGrid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6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1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2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5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8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4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7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3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7400" y="1219200"/>
            <a:ext cx="2743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     Р       А    Й      В     Е      Р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819400" y="25146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     Н      Т      Е      Р     Н     Е      Т  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181600" y="15240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Р      Е      С      У     Р      С    Ы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819400" y="1524000"/>
            <a:ext cx="381000" cy="2977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НАЛ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З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ТО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Р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657600" y="1905000"/>
            <a:ext cx="3810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К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И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В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И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З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Ц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И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Я</a:t>
            </a:r>
          </a:p>
          <a:p>
            <a:pPr>
              <a:lnSpc>
                <a:spcPts val="2500"/>
              </a:lnSpc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5562600"/>
            <a:ext cx="7498080" cy="1143000"/>
          </a:xfrm>
        </p:spPr>
        <p:txBody>
          <a:bodyPr>
            <a:noAutofit/>
          </a:bodyPr>
          <a:lstStyle/>
          <a:p>
            <a:r>
              <a:rPr lang="ru-RU" sz="3600" dirty="0" smtClean="0"/>
              <a:t>5. </a:t>
            </a:r>
            <a:r>
              <a:rPr lang="ru-RU" sz="3200" dirty="0" smtClean="0"/>
              <a:t>Компьютерная </a:t>
            </a:r>
            <a:r>
              <a:rPr lang="ru-RU" sz="3200" dirty="0" smtClean="0"/>
              <a:t>программы, которая выполняется</a:t>
            </a:r>
            <a:endParaRPr lang="ru-RU" sz="36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057400" y="228600"/>
          <a:ext cx="6172208" cy="5257792"/>
        </p:xfrm>
        <a:graphic>
          <a:graphicData uri="http://schemas.openxmlformats.org/drawingml/2006/table">
            <a:tbl>
              <a:tblPr/>
              <a:tblGrid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</a:tblGrid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6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1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2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5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8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4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7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3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7400" y="1219200"/>
            <a:ext cx="2743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     Р       А    Й      В     Е      Р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819400" y="25146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     Н      Т      Е      Р     Н     Е      Т  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181600" y="15240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Р      Е      С      У     Р      С    Ы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819400" y="1524000"/>
            <a:ext cx="381000" cy="2977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НАЛ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З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ТО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Р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657600" y="1905000"/>
            <a:ext cx="3810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К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И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В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И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З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Ц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И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Я</a:t>
            </a:r>
          </a:p>
          <a:p>
            <a:pPr>
              <a:lnSpc>
                <a:spcPts val="2500"/>
              </a:lnSpc>
            </a:pP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5105400" y="1219200"/>
            <a:ext cx="381000" cy="233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П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О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Ц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С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С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5562600"/>
            <a:ext cx="7498080" cy="1143000"/>
          </a:xfrm>
        </p:spPr>
        <p:txBody>
          <a:bodyPr>
            <a:noAutofit/>
          </a:bodyPr>
          <a:lstStyle/>
          <a:p>
            <a:r>
              <a:rPr lang="ru-RU" sz="3600" dirty="0" smtClean="0"/>
              <a:t>6. Средство загрузки ОС  </a:t>
            </a:r>
            <a:endParaRPr lang="ru-RU" sz="36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057400" y="228600"/>
          <a:ext cx="6172208" cy="5257792"/>
        </p:xfrm>
        <a:graphic>
          <a:graphicData uri="http://schemas.openxmlformats.org/drawingml/2006/table">
            <a:tbl>
              <a:tblPr/>
              <a:tblGrid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</a:tblGrid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6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1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2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5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8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4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7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3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7400" y="1219200"/>
            <a:ext cx="2743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     Р       А    Й      В     Е      Р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819400" y="25146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     Н      Т      Е      Р     Н     Е      Т  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181600" y="15240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Р      Е      С      У     Р      С    Ы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819400" y="1524000"/>
            <a:ext cx="381000" cy="2977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НАЛ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З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ТО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Р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657600" y="1905000"/>
            <a:ext cx="3810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К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И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В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И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З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Ц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И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Я</a:t>
            </a:r>
          </a:p>
          <a:p>
            <a:pPr>
              <a:lnSpc>
                <a:spcPts val="2500"/>
              </a:lnSpc>
            </a:pP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5105400" y="1219200"/>
            <a:ext cx="381000" cy="233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П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О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Ц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С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С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324600" y="228600"/>
            <a:ext cx="381000" cy="2977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З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Г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Р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З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Ч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И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К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5562600"/>
            <a:ext cx="7498080" cy="1143000"/>
          </a:xfrm>
        </p:spPr>
        <p:txBody>
          <a:bodyPr>
            <a:noAutofit/>
          </a:bodyPr>
          <a:lstStyle/>
          <a:p>
            <a:r>
              <a:rPr lang="ru-RU" sz="3600" dirty="0" smtClean="0"/>
              <a:t>7. Сетевой…..</a:t>
            </a:r>
            <a:endParaRPr lang="ru-RU" sz="36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057400" y="228600"/>
          <a:ext cx="6172208" cy="5257792"/>
        </p:xfrm>
        <a:graphic>
          <a:graphicData uri="http://schemas.openxmlformats.org/drawingml/2006/table">
            <a:tbl>
              <a:tblPr/>
              <a:tblGrid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</a:tblGrid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6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1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 dirty="0" smtClean="0">
                          <a:latin typeface="Cambria"/>
                          <a:ea typeface="Cambria"/>
                          <a:cs typeface="Times New Roman"/>
                        </a:rPr>
                        <a:t>2</a:t>
                      </a:r>
                      <a:endParaRPr lang="ru-RU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5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8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4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7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aseline="0">
                          <a:latin typeface="Cambria"/>
                          <a:ea typeface="Cambria"/>
                          <a:cs typeface="Times New Roman"/>
                        </a:rPr>
                        <a:t>3</a:t>
                      </a:r>
                      <a:endParaRPr lang="ru-RU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  <a:tr h="32861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1200" baseline="0" dirty="0"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7400" y="1219200"/>
            <a:ext cx="2743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     Р       А    Й      В     Е      Р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819400" y="25146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     Н      Т      Е      Р     Н     Е      Т  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181600" y="15240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Р      Е      С      У     Р      С    Ы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819400" y="1524000"/>
            <a:ext cx="381000" cy="2977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НАЛ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З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ТО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Р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657600" y="1905000"/>
            <a:ext cx="3810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К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И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В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И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З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Ц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И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Я</a:t>
            </a:r>
          </a:p>
          <a:p>
            <a:pPr>
              <a:lnSpc>
                <a:spcPts val="2500"/>
              </a:lnSpc>
            </a:pP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5105400" y="1219200"/>
            <a:ext cx="381000" cy="233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П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О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Ц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С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С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324600" y="228600"/>
            <a:ext cx="381000" cy="2977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З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А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Г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Р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З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Ч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И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К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4419600" y="2209800"/>
            <a:ext cx="381000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dirty="0" smtClean="0"/>
              <a:t> </a:t>
            </a:r>
            <a:r>
              <a:rPr lang="ru-RU" dirty="0" smtClean="0"/>
              <a:t>П</a:t>
            </a:r>
          </a:p>
          <a:p>
            <a:pPr>
              <a:lnSpc>
                <a:spcPts val="2500"/>
              </a:lnSpc>
            </a:pPr>
            <a:endParaRPr lang="ru-RU" dirty="0" smtClean="0"/>
          </a:p>
          <a:p>
            <a:pPr>
              <a:lnSpc>
                <a:spcPts val="2500"/>
              </a:lnSpc>
            </a:pPr>
            <a:r>
              <a:rPr lang="ru-RU" dirty="0" smtClean="0"/>
              <a:t>О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Т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О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К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О</a:t>
            </a:r>
          </a:p>
          <a:p>
            <a:pPr>
              <a:lnSpc>
                <a:spcPts val="2500"/>
              </a:lnSpc>
            </a:pPr>
            <a:r>
              <a:rPr lang="ru-RU" dirty="0" smtClean="0"/>
              <a:t>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590800"/>
            <a:ext cx="49911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609600"/>
            <a:ext cx="47339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3200" y="4419600"/>
            <a:ext cx="448627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ÐÐ°ÑÑÐ¸Ð½ÐºÐ¸ Ð¿Ð¾ Ð·Ð°Ð¿ÑÐ¾ÑÑ network file syste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286000"/>
            <a:ext cx="7600950" cy="4371975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838200"/>
            <a:ext cx="7406640" cy="1472184"/>
          </a:xfrm>
        </p:spPr>
        <p:txBody>
          <a:bodyPr/>
          <a:lstStyle/>
          <a:p>
            <a:r>
              <a:rPr lang="en-US" dirty="0" err="1" smtClean="0"/>
              <a:t>Сетевая</a:t>
            </a:r>
            <a:r>
              <a:rPr lang="en-US" dirty="0" smtClean="0"/>
              <a:t> </a:t>
            </a:r>
            <a:r>
              <a:rPr lang="en-US" dirty="0" err="1" smtClean="0"/>
              <a:t>файловая</a:t>
            </a:r>
            <a:r>
              <a:rPr lang="en-US" dirty="0" smtClean="0"/>
              <a:t> </a:t>
            </a:r>
            <a:r>
              <a:rPr lang="en-US" dirty="0" err="1" smtClean="0"/>
              <a:t>система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Linux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66800" y="4267200"/>
            <a:ext cx="7406640" cy="1752600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такое </a:t>
            </a:r>
            <a:r>
              <a:rPr lang="en-US" dirty="0" smtClean="0"/>
              <a:t>NFS?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NFS (</a:t>
            </a:r>
            <a:r>
              <a:rPr lang="ru-RU" dirty="0" err="1" smtClean="0"/>
              <a:t>Network</a:t>
            </a:r>
            <a:r>
              <a:rPr lang="ru-RU" dirty="0" smtClean="0"/>
              <a:t> </a:t>
            </a:r>
            <a:r>
              <a:rPr lang="ru-RU" dirty="0" err="1" smtClean="0"/>
              <a:t>File</a:t>
            </a:r>
            <a:r>
              <a:rPr lang="ru-RU" dirty="0" smtClean="0"/>
              <a:t> </a:t>
            </a:r>
            <a:r>
              <a:rPr lang="ru-RU" dirty="0" err="1" smtClean="0"/>
              <a:t>System</a:t>
            </a:r>
            <a:r>
              <a:rPr lang="ru-RU" dirty="0" smtClean="0"/>
              <a:t>) — это протокол</a:t>
            </a:r>
            <a:r>
              <a:rPr lang="en-US" dirty="0" smtClean="0"/>
              <a:t> </a:t>
            </a:r>
            <a:r>
              <a:rPr lang="ru-RU" dirty="0" smtClean="0"/>
              <a:t>для разделения ресурсов (файлов и каталогов) локальной сети. NFS-клиент "монтирует" файловую систему, "экспортируемую" NFS-сервером. Смонтированная таким образом файловая система представляется на клиентском компьютере как часть локальной файловой системы.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ÐÐ°ÑÑÐ¸Ð½ÐºÐ¸ Ð¿Ð¾ Ð·Ð°Ð¿ÑÐ¾ÑÑ Ð¦ÐµÐ»Ñ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0"/>
            <a:ext cx="3352800" cy="1649791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19600" y="228600"/>
            <a:ext cx="749808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Цели разработки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43000" y="1600200"/>
            <a:ext cx="7790688" cy="52578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ru-RU" dirty="0" smtClean="0"/>
              <a:t>потенциальная поддержка различных операционных систем (не только </a:t>
            </a:r>
            <a:r>
              <a:rPr lang="ru-RU" dirty="0" smtClean="0">
                <a:hlinkClick r:id="rId3" tooltip="UNIX"/>
              </a:rPr>
              <a:t>UNIX</a:t>
            </a:r>
            <a:r>
              <a:rPr lang="ru-RU" dirty="0" smtClean="0"/>
              <a:t>), чтобы серверы и клиенты NFS возможно было бы реализовать в разных операционных системах;</a:t>
            </a:r>
            <a:r>
              <a:rPr lang="en-US" dirty="0" smtClean="0"/>
              <a:t>(</a:t>
            </a:r>
            <a:r>
              <a:rPr lang="ru-RU" dirty="0" smtClean="0"/>
              <a:t>Начиная с </a:t>
            </a:r>
            <a:r>
              <a:rPr lang="ru-RU" dirty="0" err="1" smtClean="0"/>
              <a:t>Windows</a:t>
            </a:r>
            <a:r>
              <a:rPr lang="ru-RU" dirty="0" smtClean="0"/>
              <a:t> 7, NFS-клиент также входит в состав системы.</a:t>
            </a:r>
            <a:r>
              <a:rPr lang="en-US" dirty="0" smtClean="0"/>
              <a:t>)</a:t>
            </a:r>
            <a:endParaRPr lang="ru-RU" dirty="0" smtClean="0"/>
          </a:p>
          <a:p>
            <a:pPr algn="just"/>
            <a:r>
              <a:rPr lang="ru-RU" dirty="0" smtClean="0"/>
              <a:t>протокол не должен зависеть от каких-либо определённых аппаратных средств;</a:t>
            </a:r>
          </a:p>
          <a:p>
            <a:pPr algn="just"/>
            <a:r>
              <a:rPr lang="ru-RU" dirty="0" smtClean="0"/>
              <a:t>должны быть реализованы простые механизмы восстановления в случае отказов сервера или клиента;</a:t>
            </a:r>
          </a:p>
          <a:p>
            <a:pPr algn="just"/>
            <a:r>
              <a:rPr lang="ru-RU" dirty="0" smtClean="0"/>
              <a:t>приложения должны иметь прозрачный доступ к удаленным файлам без использования специальных путевых имён;</a:t>
            </a:r>
          </a:p>
          <a:p>
            <a:pPr algn="just"/>
            <a:r>
              <a:rPr lang="ru-RU" dirty="0" smtClean="0"/>
              <a:t>производительность NFS должна быть сравнима с производительностью локальных дисков;</a:t>
            </a:r>
          </a:p>
          <a:p>
            <a:pPr algn="just"/>
            <a:r>
              <a:rPr lang="ru-RU" dirty="0" smtClean="0"/>
              <a:t>реализация не должна быть зависимой от транспортных средств.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29000" y="228600"/>
            <a:ext cx="749808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Преимущества </a:t>
            </a:r>
            <a:r>
              <a:rPr lang="en-US" b="1" dirty="0" smtClean="0"/>
              <a:t>NFS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743200" y="1447800"/>
            <a:ext cx="6400800" cy="2133600"/>
          </a:xfrm>
        </p:spPr>
        <p:txBody>
          <a:bodyPr>
            <a:normAutofit fontScale="70000" lnSpcReduction="20000"/>
          </a:bodyPr>
          <a:lstStyle/>
          <a:p>
            <a:pPr algn="just" fontAlgn="base"/>
            <a:r>
              <a:rPr lang="ru-RU" b="1" dirty="0" smtClean="0"/>
              <a:t>NFS</a:t>
            </a:r>
            <a:r>
              <a:rPr lang="ru-RU" dirty="0" smtClean="0"/>
              <a:t> создает локальный доступ к удаленным файлам.</a:t>
            </a:r>
          </a:p>
          <a:p>
            <a:pPr algn="just" fontAlgn="base"/>
            <a:r>
              <a:rPr lang="ru-RU" dirty="0" smtClean="0"/>
              <a:t>Он использует стандартную архитектуру </a:t>
            </a:r>
            <a:r>
              <a:rPr lang="ru-RU" b="1" dirty="0" smtClean="0"/>
              <a:t>клиент</a:t>
            </a:r>
            <a:r>
              <a:rPr lang="ru-RU" dirty="0" smtClean="0"/>
              <a:t>/</a:t>
            </a:r>
            <a:r>
              <a:rPr lang="ru-RU" b="1" dirty="0" smtClean="0"/>
              <a:t>сервер</a:t>
            </a:r>
            <a:r>
              <a:rPr lang="ru-RU" dirty="0" smtClean="0"/>
              <a:t> для обмена файлами между всеми машинами.</a:t>
            </a:r>
          </a:p>
          <a:p>
            <a:pPr algn="just" fontAlgn="base"/>
            <a:r>
              <a:rPr lang="ru-RU" dirty="0" smtClean="0"/>
              <a:t>С помощью </a:t>
            </a:r>
            <a:r>
              <a:rPr lang="ru-RU" b="1" dirty="0" smtClean="0"/>
              <a:t>NFS</a:t>
            </a:r>
            <a:r>
              <a:rPr lang="ru-RU" dirty="0" smtClean="0"/>
              <a:t> не нужно, чтобы обе машины работали на той же </a:t>
            </a:r>
            <a:r>
              <a:rPr lang="ru-RU" b="1" dirty="0" smtClean="0"/>
              <a:t>ОС</a:t>
            </a:r>
            <a:r>
              <a:rPr lang="ru-RU" dirty="0" smtClean="0"/>
              <a:t>.</a:t>
            </a:r>
          </a:p>
        </p:txBody>
      </p:sp>
      <p:pic>
        <p:nvPicPr>
          <p:cNvPr id="2050" name="Picture 2" descr="ÐÐ°ÑÑÐ¸Ð½ÐºÐ¸ Ð¿Ð¾ Ð·Ð°Ð¿ÑÐ¾ÑÑ Ð¿ÑÐµÐ¸Ð¼ÑÑÐµÑÑÐ²Ð°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3084283" cy="3533775"/>
          </a:xfrm>
          <a:prstGeom prst="rect">
            <a:avLst/>
          </a:prstGeom>
          <a:noFill/>
        </p:spPr>
      </p:pic>
      <p:sp>
        <p:nvSpPr>
          <p:cNvPr id="5" name="Содержимое 2"/>
          <p:cNvSpPr txBox="1">
            <a:spLocks/>
          </p:cNvSpPr>
          <p:nvPr/>
        </p:nvSpPr>
        <p:spPr>
          <a:xfrm>
            <a:off x="1143000" y="3581400"/>
            <a:ext cx="8001000" cy="312420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365760" marR="0" lvl="0" indent="-283464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 помощью 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NFS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мы можем настроить решение 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централизованного хранения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65760" marR="0" lvl="0" indent="-283464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Пользователи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получают свои 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данные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независимо от их физического расположения.</a:t>
            </a:r>
          </a:p>
          <a:p>
            <a:pPr marL="365760" marR="0" lvl="0" indent="-283464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Автоматическое 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обновление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для новых файлов.</a:t>
            </a:r>
          </a:p>
          <a:p>
            <a:pPr marL="365760" marR="0" lvl="0" indent="-283464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Более новая версия 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NFS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поддерживает  </a:t>
            </a:r>
            <a:r>
              <a:rPr kumimoji="0" lang="ru-RU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acl</a:t>
            </a: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Может быть защищен 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брандмауэрами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и </a:t>
            </a:r>
            <a:r>
              <a:rPr kumimoji="0" lang="ru-RU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Kerberos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65760" marR="0" lvl="0" indent="-283464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ÐÐ°ÑÑÐ¸Ð½ÐºÐ¸ Ð¿Ð¾ Ð·Ð°Ð¿ÑÐ¾ÑÑ iclou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38900" y="-685800"/>
            <a:ext cx="2705100" cy="27051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Версии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1143000"/>
            <a:ext cx="8534400" cy="53340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NFS версии v4.1 была одобрена в январе</a:t>
            </a:r>
            <a:r>
              <a:rPr lang="en-US" dirty="0" smtClean="0"/>
              <a:t> </a:t>
            </a:r>
            <a:r>
              <a:rPr lang="ru-RU" dirty="0" smtClean="0"/>
              <a:t>2010 года</a:t>
            </a:r>
            <a:r>
              <a:rPr lang="en-US" dirty="0" smtClean="0"/>
              <a:t>.</a:t>
            </a:r>
            <a:r>
              <a:rPr lang="ru-RU" dirty="0" smtClean="0"/>
              <a:t> Важным нововведением версии</a:t>
            </a:r>
            <a:r>
              <a:rPr lang="en-US" dirty="0" smtClean="0"/>
              <a:t> </a:t>
            </a:r>
            <a:r>
              <a:rPr lang="ru-RU" dirty="0" smtClean="0"/>
              <a:t>4.1 является</a:t>
            </a:r>
            <a:r>
              <a:rPr lang="en-US" dirty="0" smtClean="0"/>
              <a:t> </a:t>
            </a:r>
            <a:r>
              <a:rPr lang="ru-RU" dirty="0" smtClean="0"/>
              <a:t>спецификация </a:t>
            </a:r>
            <a:r>
              <a:rPr lang="ru-RU" dirty="0" err="1" smtClean="0"/>
              <a:t>pNFS</a:t>
            </a:r>
            <a:r>
              <a:rPr lang="ru-RU" dirty="0" smtClean="0"/>
              <a:t> —</a:t>
            </a:r>
            <a:r>
              <a:rPr lang="ru-RU" dirty="0" err="1" smtClean="0"/>
              <a:t>Parallel</a:t>
            </a:r>
            <a:r>
              <a:rPr lang="ru-RU" dirty="0" smtClean="0"/>
              <a:t> NFS, механизма параллельного</a:t>
            </a:r>
            <a:r>
              <a:rPr lang="en-US" dirty="0" smtClean="0"/>
              <a:t> </a:t>
            </a:r>
            <a:r>
              <a:rPr lang="ru-RU" dirty="0" smtClean="0"/>
              <a:t>доступа</a:t>
            </a:r>
            <a:r>
              <a:rPr lang="en-US" dirty="0" smtClean="0"/>
              <a:t> </a:t>
            </a:r>
            <a:r>
              <a:rPr lang="ru-RU" dirty="0" smtClean="0"/>
              <a:t>NFS</a:t>
            </a:r>
            <a:r>
              <a:rPr lang="en-US" dirty="0" smtClean="0"/>
              <a:t>- </a:t>
            </a:r>
            <a:r>
              <a:rPr lang="ru-RU" dirty="0" smtClean="0"/>
              <a:t>клиента к данным множества</a:t>
            </a:r>
            <a:r>
              <a:rPr lang="en-US" dirty="0" smtClean="0"/>
              <a:t> </a:t>
            </a:r>
            <a:r>
              <a:rPr lang="ru-RU" dirty="0" smtClean="0"/>
              <a:t>распределенных</a:t>
            </a:r>
            <a:r>
              <a:rPr lang="en-US" dirty="0" smtClean="0"/>
              <a:t> </a:t>
            </a:r>
            <a:r>
              <a:rPr lang="ru-RU" dirty="0" smtClean="0"/>
              <a:t>NFS</a:t>
            </a:r>
            <a:r>
              <a:rPr lang="en-US" dirty="0" smtClean="0"/>
              <a:t>-</a:t>
            </a:r>
            <a:r>
              <a:rPr lang="ru-RU" dirty="0" smtClean="0"/>
              <a:t>серверов. 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	</a:t>
            </a:r>
            <a:r>
              <a:rPr lang="ru-RU" dirty="0" smtClean="0"/>
              <a:t>Наличие такого механизма в стандарте</a:t>
            </a:r>
            <a:r>
              <a:rPr lang="en-US" dirty="0" smtClean="0"/>
              <a:t> </a:t>
            </a:r>
            <a:r>
              <a:rPr lang="ru-RU" dirty="0" smtClean="0"/>
              <a:t>сетевой файловой системы поможет</a:t>
            </a:r>
            <a:r>
              <a:rPr lang="en-US" dirty="0" smtClean="0"/>
              <a:t> </a:t>
            </a:r>
            <a:r>
              <a:rPr lang="ru-RU" dirty="0" smtClean="0"/>
              <a:t>строить распределённые </a:t>
            </a:r>
            <a:r>
              <a:rPr lang="ru-RU" u="sng" dirty="0" smtClean="0"/>
              <a:t>«облачные»</a:t>
            </a:r>
            <a:r>
              <a:rPr lang="ru-RU" dirty="0" smtClean="0"/>
              <a:t>  хранилища и информационные системы.</a:t>
            </a: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115</TotalTime>
  <Words>399</Words>
  <Application>Microsoft Office PowerPoint</Application>
  <PresentationFormat>Экран (4:3)</PresentationFormat>
  <Paragraphs>237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Солнцестояние</vt:lpstr>
      <vt:lpstr>Слайд 1</vt:lpstr>
      <vt:lpstr>Слайд 2</vt:lpstr>
      <vt:lpstr>Слайд 3</vt:lpstr>
      <vt:lpstr>Слайд 4</vt:lpstr>
      <vt:lpstr>1. Программа управления внешним устройством компьютера.</vt:lpstr>
      <vt:lpstr>3. Всемирная информационная компьютерная сеть</vt:lpstr>
      <vt:lpstr>5. Средства вычислительной системы, которые могут быть выделены процессу</vt:lpstr>
      <vt:lpstr>2. Средство мониторинга за трафиком сети</vt:lpstr>
      <vt:lpstr>4. Процесс запуска процесса</vt:lpstr>
      <vt:lpstr>5. Компьютерная программы, которая выполняется</vt:lpstr>
      <vt:lpstr>6. Средство загрузки ОС  </vt:lpstr>
      <vt:lpstr>7. Сетевой…..</vt:lpstr>
      <vt:lpstr>Слайд 13</vt:lpstr>
      <vt:lpstr>Сетевая файловая система Linux</vt:lpstr>
      <vt:lpstr>Что такое NFS?</vt:lpstr>
      <vt:lpstr>Цели разработки</vt:lpstr>
      <vt:lpstr>Преимущества NFS</vt:lpstr>
      <vt:lpstr>Версии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Сетевая файловая система Linux</dc:title>
  <dc:creator>Кирилл</dc:creator>
  <cp:lastModifiedBy>Кирилл</cp:lastModifiedBy>
  <cp:revision>9</cp:revision>
  <dcterms:created xsi:type="dcterms:W3CDTF">2019-04-29T04:53:00Z</dcterms:created>
  <dcterms:modified xsi:type="dcterms:W3CDTF">2019-04-29T07:38:39Z</dcterms:modified>
</cp:coreProperties>
</file>