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381" r:id="rId2"/>
    <p:sldId id="382" r:id="rId3"/>
    <p:sldId id="278" r:id="rId4"/>
    <p:sldId id="279" r:id="rId5"/>
    <p:sldId id="280" r:id="rId6"/>
    <p:sldId id="282" r:id="rId7"/>
    <p:sldId id="281" r:id="rId8"/>
    <p:sldId id="379" r:id="rId9"/>
    <p:sldId id="368" r:id="rId10"/>
    <p:sldId id="380" r:id="rId11"/>
    <p:sldId id="369" r:id="rId12"/>
    <p:sldId id="370" r:id="rId13"/>
    <p:sldId id="371" r:id="rId14"/>
    <p:sldId id="373" r:id="rId15"/>
    <p:sldId id="374" r:id="rId16"/>
    <p:sldId id="375" r:id="rId17"/>
    <p:sldId id="376" r:id="rId18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950"/>
    <p:restoredTop sz="94674"/>
  </p:normalViewPr>
  <p:slideViewPr>
    <p:cSldViewPr>
      <p:cViewPr>
        <p:scale>
          <a:sx n="75" d="100"/>
          <a:sy n="75" d="100"/>
        </p:scale>
        <p:origin x="-2004" y="-6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FEF794-C895-4B34-B804-2354C417239C}" type="datetimeFigureOut">
              <a:rPr lang="ru-RU" smtClean="0"/>
              <a:pPr/>
              <a:t>14.01.2023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EE48AB-84EC-4E8E-9944-7FCD6135A777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Прямоугольный треугольник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Заголовок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17" name="Подзаголовок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ru-RU"/>
              <a:t>Образец подзаголовка</a:t>
            </a:r>
            <a:endParaRPr kumimoji="0" lang="en-US"/>
          </a:p>
        </p:txBody>
      </p:sp>
      <p:grpSp>
        <p:nvGrpSpPr>
          <p:cNvPr id="2" name="Группа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Полилиния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Полилиния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Полилиния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Прямая соединительная линия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Дата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1/14/2023</a:t>
            </a:fld>
            <a:endParaRPr lang="en-US"/>
          </a:p>
        </p:txBody>
      </p:sp>
      <p:sp>
        <p:nvSpPr>
          <p:cNvPr id="19" name="Нижний колонтитул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27" name="Номер слайда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1/14/2023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Заголовок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1/14/2023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Нашивка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8" name="Нашивка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1/14/2023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5" name="Содержимое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1/14/2023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1/14/2023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Заголовок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1/14/2023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/>
          <a:p>
            <a:fld id="{7EAF463A-BC7C-46EE-9F1E-7F377CCA4891}" type="datetimeFigureOut">
              <a:rPr lang="en-US" smtClean="0"/>
              <a:pPr/>
              <a:t>1/14/2023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ru-RU"/>
              <a:t>Образец текста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ru-RU"/>
              <a:t>Вставка рисунка</a:t>
            </a:r>
            <a:endParaRPr kumimoji="0" lang="en-US" dirty="0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1/14/2023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8" name="Полилиния 7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Полилиния 8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Прямоугольный треугольник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Нашивка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  <p:sp>
        <p:nvSpPr>
          <p:cNvPr id="13" name="Нашивка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1/14/2023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 eaLnBrk="1" latinLnBrk="0" hangingPunct="1"/>
            <a:r>
              <a:rPr lang="ru-RU"/>
              <a:t>Образец текста</a:t>
            </a:r>
          </a:p>
          <a:p>
            <a:pPr lvl="1" eaLnBrk="1" latinLnBrk="0" hangingPunct="1"/>
            <a:r>
              <a:rPr lang="ru-RU"/>
              <a:t>Второй уровень</a:t>
            </a:r>
          </a:p>
          <a:p>
            <a:pPr lvl="2" eaLnBrk="1" latinLnBrk="0" hangingPunct="1"/>
            <a:r>
              <a:rPr lang="ru-RU"/>
              <a:t>Третий уровень</a:t>
            </a:r>
          </a:p>
          <a:p>
            <a:pPr lvl="3" eaLnBrk="1" latinLnBrk="0" hangingPunct="1"/>
            <a:r>
              <a:rPr lang="ru-RU"/>
              <a:t>Четвертый уровень</a:t>
            </a:r>
          </a:p>
          <a:p>
            <a:pPr lvl="4" eaLnBrk="1" latinLnBrk="0" hangingPunct="1"/>
            <a:r>
              <a:rPr lang="ru-RU"/>
              <a:t>Пятый уровень</a:t>
            </a:r>
            <a:endParaRPr kumimoji="0"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1/14/2023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Полилиния 12"/>
          <p:cNvSpPr>
            <a:spLocks/>
          </p:cNvSpPr>
          <p:nvPr/>
        </p:nvSpPr>
        <p:spPr bwMode="auto">
          <a:xfrm>
            <a:off x="716436" y="5001993"/>
            <a:ext cx="3802003" cy="1443111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-329" y="347"/>
                </a:moveTo>
                <a:lnTo>
                  <a:pt x="7156" y="682"/>
                </a:lnTo>
                <a:lnTo>
                  <a:pt x="5229" y="682"/>
                </a:lnTo>
                <a:lnTo>
                  <a:pt x="-328" y="345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Полилиния 11"/>
          <p:cNvSpPr>
            <a:spLocks/>
          </p:cNvSpPr>
          <p:nvPr/>
        </p:nvSpPr>
        <p:spPr bwMode="auto">
          <a:xfrm>
            <a:off x="-53561" y="5785023"/>
            <a:ext cx="3802003" cy="8382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760" h="528">
                <a:moveTo>
                  <a:pt x="817" y="97"/>
                </a:moveTo>
                <a:lnTo>
                  <a:pt x="6408" y="682"/>
                </a:lnTo>
                <a:lnTo>
                  <a:pt x="5232" y="685"/>
                </a:lnTo>
                <a:lnTo>
                  <a:pt x="829" y="101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Прямоугольный треугольник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Прямая соединительная линия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Заголовок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ru-RU"/>
              <a:t>Образец заголовка</a:t>
            </a:r>
            <a:endParaRPr kumimoji="0" lang="en-US"/>
          </a:p>
        </p:txBody>
      </p:sp>
      <p:sp>
        <p:nvSpPr>
          <p:cNvPr id="30" name="Текст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ru-RU"/>
              <a:t>Образец текста</a:t>
            </a:r>
          </a:p>
          <a:p>
            <a:pPr lvl="1" eaLnBrk="1" latinLnBrk="0" hangingPunct="1"/>
            <a:r>
              <a:rPr kumimoji="0" lang="ru-RU"/>
              <a:t>Второй уровень</a:t>
            </a:r>
          </a:p>
          <a:p>
            <a:pPr lvl="2" eaLnBrk="1" latinLnBrk="0" hangingPunct="1"/>
            <a:r>
              <a:rPr kumimoji="0" lang="ru-RU"/>
              <a:t>Третий уровень</a:t>
            </a:r>
          </a:p>
          <a:p>
            <a:pPr lvl="3" eaLnBrk="1" latinLnBrk="0" hangingPunct="1"/>
            <a:r>
              <a:rPr kumimoji="0" lang="ru-RU"/>
              <a:t>Четвертый уровень</a:t>
            </a:r>
          </a:p>
          <a:p>
            <a:pPr lvl="4" eaLnBrk="1" latinLnBrk="0" hangingPunct="1"/>
            <a:r>
              <a:rPr kumimoji="0" lang="ru-RU"/>
              <a:t>Пятый уровень</a:t>
            </a:r>
            <a:endParaRPr kumimoji="0" lang="en-US"/>
          </a:p>
        </p:txBody>
      </p:sp>
      <p:sp>
        <p:nvSpPr>
          <p:cNvPr id="10" name="Дата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7EAF463A-BC7C-46EE-9F1E-7F377CCA4891}" type="datetimeFigureOut">
              <a:rPr lang="en-US" smtClean="0"/>
              <a:pPr/>
              <a:t>1/14/2023</a:t>
            </a:fld>
            <a:endParaRPr lang="en-US"/>
          </a:p>
        </p:txBody>
      </p:sp>
      <p:sp>
        <p:nvSpPr>
          <p:cNvPr id="22" name="Нижний колонтитул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18" name="Номер слайда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i="1" dirty="0"/>
              <a:t>МДК. 04.01 Внедрение и поддержка компьютерных систем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2">
            <a:extLst>
              <a:ext uri="{FF2B5EF4-FFF2-40B4-BE49-F238E27FC236}">
                <a16:creationId xmlns:a16="http://schemas.microsoft.com/office/drawing/2014/main" xmlns="" id="{77156D79-605E-1846-B471-4C3E7F98ED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524000"/>
            <a:ext cx="8229600" cy="1828800"/>
          </a:xfrm>
        </p:spPr>
        <p:txBody>
          <a:bodyPr>
            <a:normAutofit fontScale="90000"/>
          </a:bodyPr>
          <a:lstStyle/>
          <a:p>
            <a:pPr algn="ctr"/>
            <a:r>
              <a:rPr lang="ru-RU" dirty="0" smtClean="0"/>
              <a:t>1 Этап внедрения</a:t>
            </a:r>
            <a:r>
              <a:rPr lang="en-US" dirty="0" smtClean="0"/>
              <a:t>: </a:t>
            </a:r>
            <a:r>
              <a:rPr lang="ru-RU" dirty="0" smtClean="0"/>
              <a:t>Обследование</a:t>
            </a:r>
            <a:br>
              <a:rPr lang="ru-RU" dirty="0" smtClean="0"/>
            </a:br>
            <a:r>
              <a:rPr lang="ru-RU" dirty="0" smtClean="0"/>
              <a:t>и его виды тестирования.</a:t>
            </a:r>
            <a:br>
              <a:rPr lang="ru-RU" dirty="0" smtClean="0"/>
            </a:br>
            <a:endParaRPr lang="ru-RU" dirty="0"/>
          </a:p>
        </p:txBody>
      </p:sp>
      <p:pic>
        <p:nvPicPr>
          <p:cNvPr id="2050" name="Picture 2" descr="Лупа с ручкой Veber 7030, 3x, 90 мм — купить в интернет-магазине ОНЛАЙН  ТРЕЙД.РУ">
            <a:extLst>
              <a:ext uri="{FF2B5EF4-FFF2-40B4-BE49-F238E27FC236}">
                <a16:creationId xmlns:a16="http://schemas.microsoft.com/office/drawing/2014/main" xmlns="" id="{122F076D-17FA-F042-98B2-DC3870E86D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038600"/>
            <a:ext cx="2603500" cy="260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xmlns="" val="21792892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381000"/>
            <a:ext cx="8229600" cy="5745163"/>
          </a:xfrm>
        </p:spPr>
        <p:txBody>
          <a:bodyPr/>
          <a:lstStyle/>
          <a:p>
            <a:pPr algn="just">
              <a:buNone/>
            </a:pPr>
            <a:r>
              <a:rPr lang="ru-RU" b="1" dirty="0"/>
              <a:t>		Тестирование </a:t>
            </a:r>
            <a:r>
              <a:rPr lang="ru-RU" dirty="0"/>
              <a:t>– ряд мероприятий, связанных с различного рода испытаниями объекта тестирования с целью установления соответствия или несоответствия его характеристик определенным требованиям и выявления дефектов. </a:t>
            </a:r>
            <a:endParaRPr lang="ru-RU" dirty="0" smtClean="0"/>
          </a:p>
          <a:p>
            <a:pPr algn="just">
              <a:buNone/>
            </a:pPr>
            <a:r>
              <a:rPr lang="ru-RU" dirty="0" smtClean="0"/>
              <a:t>		Дефектами</a:t>
            </a:r>
            <a:r>
              <a:rPr lang="ru-RU" dirty="0"/>
              <a:t>, в свою очередь, могут быть как ошибки в работе, так и неприемлемое качество функционирования в определенных условиях эксплуатации.</a:t>
            </a:r>
          </a:p>
        </p:txBody>
      </p:sp>
      <p:pic>
        <p:nvPicPr>
          <p:cNvPr id="13314" name="Picture 2" descr="20 платформ для заработка на тестировании / Хабр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486400" y="4572000"/>
            <a:ext cx="3657600" cy="22860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>
          <a:xfrm>
            <a:off x="457200" y="457200"/>
            <a:ext cx="8229600" cy="5550091"/>
          </a:xfrm>
        </p:spPr>
        <p:txBody>
          <a:bodyPr/>
          <a:lstStyle/>
          <a:p>
            <a:pPr algn="just">
              <a:buNone/>
            </a:pPr>
            <a:r>
              <a:rPr lang="ru-RU" b="1" dirty="0"/>
              <a:t>		Результаты тестирования</a:t>
            </a:r>
            <a:r>
              <a:rPr lang="ru-RU" dirty="0"/>
              <a:t> - это список выявленных несоответствий и </a:t>
            </a:r>
            <a:r>
              <a:rPr lang="ru-RU" dirty="0" smtClean="0"/>
              <a:t>дефектов.</a:t>
            </a:r>
            <a:endParaRPr lang="ru-RU" dirty="0"/>
          </a:p>
          <a:p>
            <a:pPr algn="just">
              <a:buNone/>
            </a:pPr>
            <a:r>
              <a:rPr lang="ru-RU" dirty="0"/>
              <a:t>		Тестирование </a:t>
            </a:r>
            <a:r>
              <a:rPr lang="ru-RU" dirty="0" smtClean="0"/>
              <a:t>продукта </a:t>
            </a:r>
            <a:r>
              <a:rPr lang="ru-RU" dirty="0"/>
              <a:t>проводят как на этапах его </a:t>
            </a:r>
            <a:r>
              <a:rPr lang="ru-RU" dirty="0" smtClean="0"/>
              <a:t>создания (обследования), </a:t>
            </a:r>
            <a:r>
              <a:rPr lang="ru-RU" dirty="0"/>
              <a:t>так и на этапах технического сопровождения и дальнейшего развития. </a:t>
            </a:r>
          </a:p>
        </p:txBody>
      </p:sp>
      <p:sp>
        <p:nvSpPr>
          <p:cNvPr id="12290" name="AutoShape 2" descr="Как узнать свой результат Прикаспийской межрегиональной олимпиады  школьников?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2292" name="Picture 4" descr="Результат в работе со стилем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24400" y="3200400"/>
            <a:ext cx="4267200" cy="32004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buNone/>
            </a:pPr>
            <a:r>
              <a:rPr lang="ru-RU" dirty="0"/>
              <a:t>		Для проведения функционального тестирования </a:t>
            </a:r>
            <a:r>
              <a:rPr lang="ru-RU" dirty="0" smtClean="0"/>
              <a:t>разрабатывается </a:t>
            </a:r>
            <a:r>
              <a:rPr lang="ru-RU" dirty="0"/>
              <a:t>методика </a:t>
            </a:r>
            <a:r>
              <a:rPr lang="ru-RU" dirty="0" smtClean="0"/>
              <a:t>испытаний системы. </a:t>
            </a:r>
            <a:r>
              <a:rPr lang="ru-RU" dirty="0"/>
              <a:t>Документ </a:t>
            </a:r>
            <a:r>
              <a:rPr lang="ru-RU" dirty="0" smtClean="0"/>
              <a:t>методики </a:t>
            </a:r>
            <a:r>
              <a:rPr lang="ru-RU" dirty="0"/>
              <a:t>содержит перечень сценариев тестирования программного продукта (</a:t>
            </a:r>
            <a:r>
              <a:rPr lang="ru-RU" dirty="0" err="1"/>
              <a:t>test</a:t>
            </a:r>
            <a:r>
              <a:rPr lang="ru-RU" dirty="0"/>
              <a:t> </a:t>
            </a:r>
            <a:r>
              <a:rPr lang="ru-RU" dirty="0" err="1"/>
              <a:t>cases</a:t>
            </a:r>
            <a:r>
              <a:rPr lang="ru-RU" dirty="0"/>
              <a:t>) с подробным описанием шагов. </a:t>
            </a:r>
          </a:p>
          <a:p>
            <a:pPr algn="just">
              <a:buNone/>
            </a:pPr>
            <a:r>
              <a:rPr lang="ru-RU" dirty="0"/>
              <a:t>		Каждый шаг сценария тестирования характеризуется действиями пользователя (специалиста по тестированию) и ожидаемыми результатами – ответной реакции </a:t>
            </a:r>
            <a:r>
              <a:rPr lang="ru-RU" dirty="0" smtClean="0"/>
              <a:t>системы </a:t>
            </a:r>
            <a:r>
              <a:rPr lang="ru-RU" dirty="0"/>
              <a:t>на эти действия. Программа и методика испытаний обязана имитировать эксплуатацию </a:t>
            </a:r>
            <a:r>
              <a:rPr lang="ru-RU" dirty="0" smtClean="0"/>
              <a:t>системы в </a:t>
            </a:r>
            <a:r>
              <a:rPr lang="ru-RU" dirty="0"/>
              <a:t>реальном режиме.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1. Функциональное тестирование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dirty="0"/>
              <a:t>		Тестирование отдельных компонентов </a:t>
            </a:r>
            <a:r>
              <a:rPr lang="ru-RU" dirty="0" smtClean="0"/>
              <a:t>системы, </a:t>
            </a:r>
            <a:r>
              <a:rPr lang="ru-RU" dirty="0"/>
              <a:t>сфокусированное на их специфике, назначении и функциональных особенностях.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b="0" dirty="0"/>
              <a:t>2. Компонентное (модульное) тестирование</a:t>
            </a:r>
            <a:endParaRPr lang="ru-RU" dirty="0"/>
          </a:p>
        </p:txBody>
      </p:sp>
      <p:pic>
        <p:nvPicPr>
          <p:cNvPr id="10242" name="Picture 2" descr="Модульность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760007" y="3200400"/>
            <a:ext cx="4383993" cy="36576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dirty="0"/>
              <a:t>		Данный вид тестирования направлен на выявление дефектов взаимодействия различных подсистем. Для интеграционного тестирования используются компоненты, уже проверенные с помощью модульного (компонентного) тестирования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3. Интеграционное тестирование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0441ABF2-77A8-A147-8E87-038241069203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82358" y="4419600"/>
            <a:ext cx="2904442" cy="24384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026" name="Picture 2" descr="В приложении ВКонтакте обновился дизайн. Что изменилось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304800" y="0"/>
            <a:ext cx="10181578" cy="69913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b="1" dirty="0"/>
              <a:t>По знанию системы:</a:t>
            </a:r>
          </a:p>
          <a:p>
            <a:r>
              <a:rPr lang="ru-RU" dirty="0"/>
              <a:t>Тестирование чёрного ящика (</a:t>
            </a:r>
            <a:r>
              <a:rPr lang="ru-RU" dirty="0" err="1"/>
              <a:t>black</a:t>
            </a:r>
            <a:r>
              <a:rPr lang="ru-RU" dirty="0"/>
              <a:t> </a:t>
            </a:r>
            <a:r>
              <a:rPr lang="ru-RU" dirty="0" err="1"/>
              <a:t>box</a:t>
            </a:r>
            <a:r>
              <a:rPr lang="ru-RU" dirty="0"/>
              <a:t>)</a:t>
            </a:r>
          </a:p>
          <a:p>
            <a:r>
              <a:rPr lang="ru-RU" dirty="0"/>
              <a:t>Тестирование белого ящика (</a:t>
            </a:r>
            <a:r>
              <a:rPr lang="ru-RU" dirty="0" err="1"/>
              <a:t>white</a:t>
            </a:r>
            <a:r>
              <a:rPr lang="ru-RU" dirty="0"/>
              <a:t> </a:t>
            </a:r>
            <a:r>
              <a:rPr lang="ru-RU" dirty="0" err="1"/>
              <a:t>box</a:t>
            </a:r>
            <a:r>
              <a:rPr lang="ru-RU" dirty="0"/>
              <a:t>)</a:t>
            </a:r>
          </a:p>
          <a:p>
            <a:r>
              <a:rPr lang="ru-RU" dirty="0"/>
              <a:t>Тестирование серого ящика (</a:t>
            </a:r>
            <a:r>
              <a:rPr lang="ru-RU" dirty="0" err="1"/>
              <a:t>gray</a:t>
            </a:r>
            <a:r>
              <a:rPr lang="ru-RU" dirty="0"/>
              <a:t> </a:t>
            </a:r>
            <a:r>
              <a:rPr lang="ru-RU" dirty="0" err="1"/>
              <a:t>box</a:t>
            </a:r>
            <a:r>
              <a:rPr lang="ru-RU" dirty="0"/>
              <a:t>)</a:t>
            </a:r>
          </a:p>
          <a:p>
            <a:pPr>
              <a:buNone/>
            </a:pPr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ru-RU" dirty="0" smtClean="0"/>
              <a:t>Виды тестирования </a:t>
            </a:r>
            <a:r>
              <a:rPr lang="ru-RU" dirty="0"/>
              <a:t>программного обеспечения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1746" name="Picture 2" descr="Что такое Тестирование Черного Ящика (Black box testing) ? / Тестирование  ПО / Тестирование Программного Обеспечения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14400" y="1219200"/>
            <a:ext cx="7563037" cy="45053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None/>
            </a:pPr>
            <a:r>
              <a:rPr lang="ru-RU" dirty="0"/>
              <a:t>		При тестировании белого ящика, разработчик теста имеет доступ к исходному коду программ и может писать код, который связан с библиотеками тестируемого ПО. Это типично для </a:t>
            </a:r>
            <a:r>
              <a:rPr lang="ru-RU" dirty="0" err="1"/>
              <a:t>юнит-тестирования</a:t>
            </a:r>
            <a:r>
              <a:rPr lang="ru-RU" dirty="0"/>
              <a:t>, при котором тестируются только отдельные части системы. Оно обеспечивает то, что компоненты конструкции — работоспособны и устойчивы, до определённой степени.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dirty="0"/>
              <a:t>		При тестировании чёрного ящика, </a:t>
            </a:r>
            <a:r>
              <a:rPr lang="ru-RU" dirty="0" err="1"/>
              <a:t>тестировщик</a:t>
            </a:r>
            <a:r>
              <a:rPr lang="ru-RU" dirty="0"/>
              <a:t> имеет доступ к ПО только через те же интерфейсы, что и заказчик или пользователь, либо через внешние интерфейсы, позволяющие другому компьютеру либо другому процессу подключиться к системе для тестирования.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b="1" dirty="0"/>
              <a:t>По степени </a:t>
            </a:r>
            <a:r>
              <a:rPr lang="ru-RU" b="1" dirty="0" err="1"/>
              <a:t>автоматизированности</a:t>
            </a:r>
            <a:r>
              <a:rPr lang="ru-RU" b="1" dirty="0"/>
              <a:t>:</a:t>
            </a:r>
            <a:endParaRPr lang="ru-RU" dirty="0"/>
          </a:p>
          <a:p>
            <a:r>
              <a:rPr lang="ru-RU" dirty="0"/>
              <a:t>Ручное тестирование (</a:t>
            </a:r>
            <a:r>
              <a:rPr lang="ru-RU" dirty="0" err="1"/>
              <a:t>manual</a:t>
            </a:r>
            <a:r>
              <a:rPr lang="ru-RU" dirty="0"/>
              <a:t> </a:t>
            </a:r>
            <a:r>
              <a:rPr lang="ru-RU" dirty="0" err="1"/>
              <a:t>testing</a:t>
            </a:r>
            <a:r>
              <a:rPr lang="ru-RU" dirty="0"/>
              <a:t>)</a:t>
            </a:r>
          </a:p>
          <a:p>
            <a:r>
              <a:rPr lang="ru-RU" dirty="0"/>
              <a:t>Автоматизированное тестирование (</a:t>
            </a:r>
            <a:r>
              <a:rPr lang="ru-RU" dirty="0" err="1"/>
              <a:t>automated</a:t>
            </a:r>
            <a:r>
              <a:rPr lang="ru-RU" dirty="0"/>
              <a:t> </a:t>
            </a:r>
            <a:r>
              <a:rPr lang="ru-RU" dirty="0" err="1"/>
              <a:t>testing</a:t>
            </a:r>
            <a:r>
              <a:rPr lang="ru-RU" dirty="0"/>
              <a:t>)</a:t>
            </a:r>
          </a:p>
          <a:p>
            <a:r>
              <a:rPr lang="ru-RU" dirty="0" err="1"/>
              <a:t>Полуавтоматизированное</a:t>
            </a:r>
            <a:r>
              <a:rPr lang="ru-RU" dirty="0"/>
              <a:t> тестирование (</a:t>
            </a:r>
            <a:r>
              <a:rPr lang="ru-RU" dirty="0" err="1"/>
              <a:t>semiautomated</a:t>
            </a:r>
            <a:r>
              <a:rPr lang="ru-RU" dirty="0"/>
              <a:t> </a:t>
            </a:r>
            <a:r>
              <a:rPr lang="ru-RU" dirty="0" err="1"/>
              <a:t>testing</a:t>
            </a:r>
            <a:r>
              <a:rPr lang="ru-RU" dirty="0"/>
              <a:t>)</a:t>
            </a: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ru-RU" b="1" dirty="0"/>
              <a:t>По </a:t>
            </a:r>
            <a:r>
              <a:rPr lang="ru-RU" b="1" dirty="0" smtClean="0"/>
              <a:t>субъекту тестирования</a:t>
            </a:r>
            <a:r>
              <a:rPr lang="ru-RU" b="1" dirty="0"/>
              <a:t>:</a:t>
            </a:r>
            <a:endParaRPr lang="ru-RU" dirty="0"/>
          </a:p>
          <a:p>
            <a:r>
              <a:rPr lang="ru-RU" dirty="0"/>
              <a:t>Альфа тестирование (</a:t>
            </a:r>
            <a:r>
              <a:rPr lang="en-US" dirty="0"/>
              <a:t>alpha testing)</a:t>
            </a:r>
          </a:p>
          <a:p>
            <a:pPr lvl="1"/>
            <a:r>
              <a:rPr lang="ru-RU" dirty="0"/>
              <a:t>Тестирование при приёмке (</a:t>
            </a:r>
            <a:r>
              <a:rPr lang="en-US" dirty="0"/>
              <a:t>smoke testing)</a:t>
            </a:r>
          </a:p>
          <a:p>
            <a:pPr lvl="1"/>
            <a:r>
              <a:rPr lang="ru-RU" dirty="0"/>
              <a:t>Тестирование новых </a:t>
            </a:r>
            <a:r>
              <a:rPr lang="ru-RU" dirty="0" err="1"/>
              <a:t>функциональностей</a:t>
            </a:r>
            <a:r>
              <a:rPr lang="ru-RU" dirty="0"/>
              <a:t> (</a:t>
            </a:r>
            <a:r>
              <a:rPr lang="en-US" dirty="0"/>
              <a:t>new feature testing)</a:t>
            </a:r>
          </a:p>
          <a:p>
            <a:pPr lvl="1"/>
            <a:r>
              <a:rPr lang="ru-RU" dirty="0"/>
              <a:t>Регрессионное тестирование (</a:t>
            </a:r>
            <a:r>
              <a:rPr lang="en-US" dirty="0"/>
              <a:t>regression testing)</a:t>
            </a:r>
          </a:p>
          <a:p>
            <a:pPr lvl="1"/>
            <a:r>
              <a:rPr lang="ru-RU" dirty="0"/>
              <a:t>Тестирование при сдаче (</a:t>
            </a:r>
            <a:r>
              <a:rPr lang="en-US" dirty="0"/>
              <a:t>acceptance testing)</a:t>
            </a:r>
          </a:p>
          <a:p>
            <a:r>
              <a:rPr lang="ru-RU" dirty="0"/>
              <a:t>Бета тестирование (</a:t>
            </a:r>
            <a:r>
              <a:rPr lang="en-US" dirty="0"/>
              <a:t>beta testing)</a:t>
            </a:r>
          </a:p>
          <a:p>
            <a:endParaRPr lang="ru-RU" dirty="0"/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dirty="0"/>
              <a:t>		</a:t>
            </a:r>
            <a:r>
              <a:rPr lang="ru-RU" b="1" dirty="0"/>
              <a:t>Альфа-тестирование</a:t>
            </a:r>
            <a:r>
              <a:rPr lang="ru-RU" dirty="0"/>
              <a:t> — имитация реальной работы с системой штатными разработчиками, либо реальная работа с системой потенциальными пользователями/заказчиком. Чаще всего альфа-тестирование проводится на ранней стадии разработки продукта, но в некоторых случаях может применяться для законченного продукта в качестве внутреннего приёмочного тестирования.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buNone/>
            </a:pPr>
            <a:r>
              <a:rPr lang="ru-RU" dirty="0"/>
              <a:t>		</a:t>
            </a:r>
            <a:r>
              <a:rPr lang="ru-RU" b="1" dirty="0"/>
              <a:t>Бета-тестирование</a:t>
            </a:r>
            <a:r>
              <a:rPr lang="ru-RU" dirty="0"/>
              <a:t> — в некоторых случаях выполняется распространение версии с ограничениями (по функциональности или времени работы) для некоторой группы лиц, с тем чтобы убедиться, что продукт содержит достаточно мало ошибок. Иногда бета-тестирование выполняется для того, чтобы получить обратную связь о продукте от его будущих пользователей.</a:t>
            </a: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Содержимое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 </a:t>
            </a:r>
            <a:r>
              <a:rPr lang="ru-RU" dirty="0" smtClean="0"/>
              <a:t>Конспект, куда же без него.</a:t>
            </a:r>
          </a:p>
          <a:p>
            <a:r>
              <a:rPr lang="ru-RU" dirty="0" smtClean="0"/>
              <a:t>2. Используя презентацию «Виды тестирования ДОП»  найдите и опишите ПОДРОБНО виды тестирования «</a:t>
            </a:r>
            <a:r>
              <a:rPr kumimoji="1" lang="ru-RU" sz="2800" b="1" dirty="0" smtClean="0">
                <a:solidFill>
                  <a:srgbClr val="FF0000"/>
                </a:solidFill>
              </a:rPr>
              <a:t>П</a:t>
            </a:r>
            <a:r>
              <a:rPr kumimoji="1" lang="ru-RU" altLang="ja-JP" sz="2800" b="1" dirty="0" smtClean="0">
                <a:solidFill>
                  <a:srgbClr val="FF0000"/>
                </a:solidFill>
              </a:rPr>
              <a:t>о времени проведения тестирования». Сделайте упор на регрессионное тестирование.</a:t>
            </a:r>
          </a:p>
          <a:p>
            <a:r>
              <a:rPr kumimoji="1" lang="ru-RU" sz="2800" b="1" dirty="0" smtClean="0">
                <a:solidFill>
                  <a:srgbClr val="FF0000"/>
                </a:solidFill>
              </a:rPr>
              <a:t>3. Выполнить Лаб. Раб. №1 (2.</a:t>
            </a:r>
            <a:r>
              <a:rPr kumimoji="1" lang="en-US" sz="2800" b="1" dirty="0" err="1" smtClean="0">
                <a:solidFill>
                  <a:srgbClr val="FF0000"/>
                </a:solidFill>
              </a:rPr>
              <a:t>docx</a:t>
            </a:r>
            <a:r>
              <a:rPr kumimoji="1" lang="en-US" sz="2800" b="1" dirty="0" smtClean="0">
                <a:solidFill>
                  <a:srgbClr val="FF0000"/>
                </a:solidFill>
              </a:rPr>
              <a:t>)</a:t>
            </a:r>
            <a:endParaRPr lang="ru-RU" sz="2800" dirty="0" smtClean="0"/>
          </a:p>
          <a:p>
            <a:endParaRPr kumimoji="1" lang="ru-RU" altLang="ja-JP" sz="2800" b="1" dirty="0" smtClean="0">
              <a:solidFill>
                <a:srgbClr val="FF0000"/>
              </a:solidFill>
            </a:endParaRPr>
          </a:p>
        </p:txBody>
      </p:sp>
      <p:sp>
        <p:nvSpPr>
          <p:cNvPr id="3" name="Заголовок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Задание</a:t>
            </a:r>
            <a:r>
              <a:rPr lang="en-US" dirty="0" smtClean="0"/>
              <a:t>:</a:t>
            </a:r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Открытая">
  <a:themeElements>
    <a:clrScheme name="Открытая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Открытая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Открытая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95000" t="-106500" r="5000" b="2065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2334</TotalTime>
  <Words>174</Words>
  <Application>Microsoft Office PowerPoint</Application>
  <PresentationFormat>Экран (4:3)</PresentationFormat>
  <Paragraphs>37</Paragraphs>
  <Slides>17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17</vt:i4>
      </vt:variant>
    </vt:vector>
  </HeadingPairs>
  <TitlesOfParts>
    <vt:vector size="18" baseType="lpstr">
      <vt:lpstr>Открытая</vt:lpstr>
      <vt:lpstr>МДК. 04.01 Внедрение и поддержка компьютерных систем</vt:lpstr>
      <vt:lpstr>1 Этап внедрения: Обследование и его виды тестирования. </vt:lpstr>
      <vt:lpstr>Слайд 3</vt:lpstr>
      <vt:lpstr>Слайд 4</vt:lpstr>
      <vt:lpstr>1. Функциональное тестирование</vt:lpstr>
      <vt:lpstr>2. Компонентное (модульное) тестирование</vt:lpstr>
      <vt:lpstr>3. Интеграционное тестирование</vt:lpstr>
      <vt:lpstr>Слайд 8</vt:lpstr>
      <vt:lpstr>Виды тестирования программного обеспечения</vt:lpstr>
      <vt:lpstr>Слайд 10</vt:lpstr>
      <vt:lpstr>Слайд 11</vt:lpstr>
      <vt:lpstr>Слайд 12</vt:lpstr>
      <vt:lpstr>Слайд 13</vt:lpstr>
      <vt:lpstr>Слайд 14</vt:lpstr>
      <vt:lpstr>Слайд 15</vt:lpstr>
      <vt:lpstr>Слайд 16</vt:lpstr>
      <vt:lpstr>Задание: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МДК. 04.01 Внедрение и поддержка компьютерных систем</dc:title>
  <dc:creator>Кирилл</dc:creator>
  <cp:lastModifiedBy>Кирилл</cp:lastModifiedBy>
  <cp:revision>91</cp:revision>
  <dcterms:created xsi:type="dcterms:W3CDTF">2018-01-11T05:40:38Z</dcterms:created>
  <dcterms:modified xsi:type="dcterms:W3CDTF">2023-01-14T07:30:52Z</dcterms:modified>
</cp:coreProperties>
</file>