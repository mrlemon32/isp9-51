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1" r:id="rId3"/>
    <p:sldId id="312" r:id="rId4"/>
    <p:sldId id="292" r:id="rId5"/>
    <p:sldId id="311" r:id="rId6"/>
    <p:sldId id="314" r:id="rId7"/>
    <p:sldId id="313" r:id="rId8"/>
    <p:sldId id="317" r:id="rId9"/>
    <p:sldId id="316" r:id="rId10"/>
    <p:sldId id="322" r:id="rId11"/>
    <p:sldId id="32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CFCFC"/>
    <a:srgbClr val="FDF58D"/>
    <a:srgbClr val="808080"/>
    <a:srgbClr val="E8E8E8"/>
    <a:srgbClr val="FFD84B"/>
    <a:srgbClr val="CC3300"/>
    <a:srgbClr val="FFC31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08" autoAdjust="0"/>
    <p:restoredTop sz="99647" autoAdjust="0"/>
  </p:normalViewPr>
  <p:slideViewPr>
    <p:cSldViewPr>
      <p:cViewPr>
        <p:scale>
          <a:sx n="70" d="100"/>
          <a:sy n="70" d="100"/>
        </p:scale>
        <p:origin x="-216" y="-9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03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8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7E7E046-64A7-45C3-88F4-08A5682F35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35583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61A1E10-415A-4185-B262-C444C2CEC0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47208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1A1E10-415A-4185-B262-C444C2CEC03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508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2BBD32D-DB60-4879-9459-6A6E759A61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E86E0-A162-4086-8DBD-D920C6CAF4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BB56AE-B761-4B2C-A04F-464C6C7FE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E568125-7EB8-4970-A801-EEE10FC4A0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555687-B682-4833-8214-D0E5A34F09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CBB523-28B1-41E1-8F59-C6447173E6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418D2B-10E0-43FF-81C4-51DFC9CAE6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456CD3-6EC4-43FF-9A84-EF7CF9FCF2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DFFEB75-E6E7-44AC-B0C6-D6DE27D259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706F83-D6E3-486F-B55D-BF55794EA0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452E31-7417-479C-87A6-B1788EB7B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25AED05-CE36-47EE-BFDB-A3E0C1201B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" Target="slide6.xml"/><Relationship Id="rId7" Type="http://schemas.openxmlformats.org/officeDocument/2006/relationships/image" Target="../media/image4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black">
          <a:xfrm>
            <a:off x="214282" y="285728"/>
            <a:ext cx="8734748" cy="1571636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solidFill>
                  <a:srgbClr val="000000"/>
                </a:solidFill>
              </a:rPr>
              <a:t/>
            </a:r>
            <a:br>
              <a:rPr lang="en-US" sz="5400" dirty="0">
                <a:solidFill>
                  <a:srgbClr val="000000"/>
                </a:solidFill>
              </a:rPr>
            </a:br>
            <a:r>
              <a:rPr lang="ru-RU" sz="4400" dirty="0" smtClean="0"/>
              <a:t>Резервное копирование и восстановление данных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12290" name="Picture 2" descr="Картинки по запросу резервное копирование данных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10387"/>
            <a:ext cx="9144000" cy="4747613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800" dirty="0"/>
              <a:t>Резервное копирование (англ. </a:t>
            </a:r>
            <a:r>
              <a:rPr lang="ru-RU" sz="2800" dirty="0" err="1"/>
              <a:t>backup</a:t>
            </a:r>
            <a:r>
              <a:rPr lang="ru-RU" sz="2800" dirty="0"/>
              <a:t>) — процесс создания копии данных на </a:t>
            </a:r>
            <a:r>
              <a:rPr lang="ru-RU" sz="2800" dirty="0" smtClean="0"/>
              <a:t>носителе, </a:t>
            </a:r>
            <a:r>
              <a:rPr lang="ru-RU" sz="2800" dirty="0"/>
              <a:t>предназначенном для восстановления данных в оригинальном месте их расположения в случае их повреждения или разрушения.</a:t>
            </a:r>
          </a:p>
          <a:p>
            <a:pPr marL="0" indent="0">
              <a:buNone/>
            </a:pPr>
            <a:r>
              <a:rPr lang="ru-RU" sz="2800" dirty="0" smtClean="0"/>
              <a:t>Причины потери информации:</a:t>
            </a:r>
          </a:p>
          <a:p>
            <a:r>
              <a:rPr lang="ru-RU" sz="2800" dirty="0" smtClean="0"/>
              <a:t>аппаратные сбои устройств;</a:t>
            </a:r>
          </a:p>
          <a:p>
            <a:r>
              <a:rPr lang="ru-RU" sz="2800" dirty="0" smtClean="0"/>
              <a:t>действия вредоносных программ и вирусов;</a:t>
            </a:r>
          </a:p>
          <a:p>
            <a:r>
              <a:rPr lang="ru-RU" sz="2800" dirty="0" smtClean="0"/>
              <a:t>ошибки пользователей.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hlinkClick r:id="rId2" action="ppaction://hlinksldjump"/>
              </a:rPr>
              <a:t>Резервное копирование</a:t>
            </a:r>
            <a:endParaRPr lang="ru-RU" dirty="0"/>
          </a:p>
        </p:txBody>
      </p:sp>
      <p:pic>
        <p:nvPicPr>
          <p:cNvPr id="4" name="Рисунок 3" descr="sourceimage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30859" y="4714860"/>
            <a:ext cx="3213141" cy="214314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8550889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766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 smtClean="0"/>
              <a:t>В практически любой файловой системе существуют механизмы облегчающие резервное копирование.</a:t>
            </a:r>
          </a:p>
          <a:p>
            <a:pPr marL="0" indent="0" algn="just">
              <a:buNone/>
            </a:pPr>
            <a:r>
              <a:rPr lang="ru-RU" sz="2800" dirty="0" smtClean="0"/>
              <a:t>При резервном копировании файлов используются их свойства – атрибуты. Наиболее часто используется атрибут, хранящий дату и время последнего изменения файла, а также (характерно для ОС семейства </a:t>
            </a:r>
            <a:r>
              <a:rPr lang="en-US" sz="2800" dirty="0" smtClean="0"/>
              <a:t>Windows</a:t>
            </a:r>
            <a:r>
              <a:rPr lang="ru-RU" sz="2800" dirty="0" smtClean="0"/>
              <a:t>)</a:t>
            </a:r>
            <a:r>
              <a:rPr lang="en-US" sz="2800" dirty="0" smtClean="0"/>
              <a:t> </a:t>
            </a:r>
            <a:r>
              <a:rPr lang="ru-RU" sz="2800" dirty="0" smtClean="0"/>
              <a:t>специальный атрибут «Архивный».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 smtClean="0">
                <a:hlinkClick r:id="rId3" action="ppaction://hlinksldjump"/>
              </a:rPr>
              <a:t>Основы </a:t>
            </a:r>
            <a:r>
              <a:rPr lang="ru-RU" sz="4000" dirty="0">
                <a:hlinkClick r:id="rId3" action="ppaction://hlinksldjump"/>
              </a:rPr>
              <a:t>резервного копирования файловых </a:t>
            </a:r>
            <a:r>
              <a:rPr lang="ru-RU" sz="4000" dirty="0" smtClean="0">
                <a:hlinkClick r:id="rId3" action="ppaction://hlinksldjump"/>
              </a:rPr>
              <a:t>ресурсов</a:t>
            </a:r>
            <a:endParaRPr lang="ru-RU" sz="4000" dirty="0"/>
          </a:p>
        </p:txBody>
      </p:sp>
    </p:spTree>
    <p:extLst>
      <p:ext uri="{BB962C8B-B14F-4D97-AF65-F5344CB8AC3E}">
        <p14:creationId xmlns="" xmlns:p14="http://schemas.microsoft.com/office/powerpoint/2010/main" val="224696539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785926"/>
            <a:ext cx="5572164" cy="4000528"/>
          </a:xfrm>
        </p:spPr>
        <p:txBody>
          <a:bodyPr/>
          <a:lstStyle/>
          <a:p>
            <a:r>
              <a:rPr lang="ru-RU" sz="2400" dirty="0" smtClean="0">
                <a:hlinkClick r:id="rId2" action="ppaction://hlinksldjump"/>
              </a:rPr>
              <a:t>Нормальный</a:t>
            </a:r>
            <a:endParaRPr lang="ru-RU" sz="2400" dirty="0" smtClean="0"/>
          </a:p>
          <a:p>
            <a:r>
              <a:rPr lang="ru-RU" sz="2400" dirty="0" smtClean="0">
                <a:hlinkClick r:id="rId3" action="ppaction://hlinksldjump"/>
              </a:rPr>
              <a:t>Добавочный</a:t>
            </a:r>
            <a:endParaRPr lang="ru-RU" sz="2400" dirty="0" smtClean="0"/>
          </a:p>
          <a:p>
            <a:r>
              <a:rPr lang="ru-RU" sz="2400" dirty="0" smtClean="0">
                <a:hlinkClick r:id="rId4" action="ppaction://hlinksldjump"/>
              </a:rPr>
              <a:t>Разностный</a:t>
            </a:r>
            <a:endParaRPr lang="ru-RU" sz="2400" dirty="0" smtClean="0"/>
          </a:p>
          <a:p>
            <a:r>
              <a:rPr lang="ru-RU" sz="2400" dirty="0">
                <a:hlinkClick r:id="rId5" action="ppaction://hlinksldjump"/>
              </a:rPr>
              <a:t>Зеркальное </a:t>
            </a:r>
            <a:r>
              <a:rPr lang="ru-RU" sz="2400" dirty="0" smtClean="0">
                <a:hlinkClick r:id="rId5" action="ppaction://hlinksldjump"/>
              </a:rPr>
              <a:t>копирование</a:t>
            </a:r>
            <a:endParaRPr lang="ru-RU" sz="2400" dirty="0" smtClean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hlinkClick r:id="rId6" action="ppaction://hlinksldjump"/>
              </a:rPr>
              <a:t>Типы резервного </a:t>
            </a:r>
            <a:r>
              <a:rPr lang="ru-RU" dirty="0" smtClean="0">
                <a:hlinkClick r:id="rId6" action="ppaction://hlinksldjump"/>
              </a:rPr>
              <a:t>копирования файлов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15025" y="1052736"/>
            <a:ext cx="32289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 descr="Картинки по запросу резервное копирование данных приколы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3933824"/>
            <a:ext cx="4286250" cy="2924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66300959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1021" y="4165079"/>
            <a:ext cx="4102979" cy="2692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764704"/>
            <a:ext cx="8501122" cy="492922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800" dirty="0" smtClean="0"/>
              <a:t>-Архивируются все </a:t>
            </a:r>
            <a:r>
              <a:rPr lang="ru-RU" sz="2800" dirty="0"/>
              <a:t>файлы, отмеченные </a:t>
            </a:r>
            <a:r>
              <a:rPr lang="ru-RU" sz="2800" dirty="0" smtClean="0"/>
              <a:t>для архивации. </a:t>
            </a:r>
            <a:br>
              <a:rPr lang="ru-RU" sz="2800" dirty="0" smtClean="0"/>
            </a:br>
            <a:r>
              <a:rPr lang="ru-RU" sz="2800" dirty="0" smtClean="0"/>
              <a:t>- Необходим </a:t>
            </a:r>
            <a:r>
              <a:rPr lang="ru-RU" sz="2800" dirty="0"/>
              <a:t>для создания </a:t>
            </a:r>
            <a:r>
              <a:rPr lang="ru-RU" sz="2800" dirty="0" smtClean="0"/>
              <a:t>полных </a:t>
            </a:r>
            <a:r>
              <a:rPr lang="ru-RU" sz="2800" dirty="0"/>
              <a:t>резервных копий каких-либо больших файловых ресурсов. </a:t>
            </a:r>
            <a:endParaRPr lang="ru-RU" sz="2800" dirty="0" smtClean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800" dirty="0" smtClean="0"/>
              <a:t>-Для восстановления информации на момент нормального копирования достаточно восстановить последний сделанный архив.</a:t>
            </a:r>
            <a:endParaRPr lang="ru-RU" sz="28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ru-RU" dirty="0" smtClean="0">
                <a:hlinkClick r:id="rId3" action="ppaction://hlinksldjump"/>
              </a:rPr>
              <a:t>Нормальный (</a:t>
            </a:r>
            <a:r>
              <a:rPr lang="en-US" dirty="0" smtClean="0">
                <a:hlinkClick r:id="rId3" action="ppaction://hlinksldjump"/>
              </a:rPr>
              <a:t>normal</a:t>
            </a:r>
            <a:r>
              <a:rPr lang="ru-RU" dirty="0" smtClean="0">
                <a:hlinkClick r:id="rId3" action="ppaction://hlinksldjump"/>
              </a:rPr>
              <a:t>)</a:t>
            </a:r>
            <a:endParaRPr lang="ru-RU" dirty="0"/>
          </a:p>
        </p:txBody>
      </p:sp>
      <p:sp>
        <p:nvSpPr>
          <p:cNvPr id="7170" name="AutoShape 2" descr="https://dapf.ru/forum/proxy.php?image=https%3A%2F%2Fpp.vk.me%2Fc618729%2Fv618729744%2F3108%2FrdSdl47jx14.jpg&amp;hash=aa96e87ebc762a15581b16d83b558a4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https://www.meme-arsenal.com/memes/84deea01aa9e121b787719004ff8cdcb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422994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36712"/>
            <a:ext cx="8501122" cy="5214974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3200" dirty="0" smtClean="0"/>
              <a:t>В </a:t>
            </a:r>
            <a:r>
              <a:rPr lang="ru-RU" sz="3200" dirty="0"/>
              <a:t>случае утери информации для восстановления данных потребуется сначала восстановить данные из </a:t>
            </a:r>
            <a:r>
              <a:rPr lang="ru-RU" sz="3200" dirty="0" smtClean="0"/>
              <a:t>последней Нормальной копии</a:t>
            </a:r>
            <a:r>
              <a:rPr lang="ru-RU" sz="3200" dirty="0"/>
              <a:t>, а затем последовательно из всех Добавочных копий, созданных после </a:t>
            </a:r>
            <a:r>
              <a:rPr lang="ru-RU" sz="3200" dirty="0" smtClean="0"/>
              <a:t>Нормальной.</a:t>
            </a:r>
            <a:endParaRPr lang="ru-RU" sz="32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r>
              <a:rPr lang="ru-RU" dirty="0" smtClean="0">
                <a:hlinkClick r:id="rId2" action="ppaction://hlinksldjump"/>
              </a:rPr>
              <a:t>Добавочный (</a:t>
            </a:r>
            <a:r>
              <a:rPr lang="en-US" dirty="0" smtClean="0">
                <a:hlinkClick r:id="rId2" action="ppaction://hlinksldjump"/>
              </a:rPr>
              <a:t>Incremental</a:t>
            </a:r>
            <a:r>
              <a:rPr lang="ru-RU" dirty="0" smtClean="0">
                <a:hlinkClick r:id="rId2" action="ppaction://hlinksldjump"/>
              </a:rPr>
              <a:t>)</a:t>
            </a:r>
            <a:endParaRPr lang="ru-RU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3861048"/>
            <a:ext cx="4734680" cy="299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9449670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4786346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400" dirty="0" smtClean="0"/>
              <a:t>Из </a:t>
            </a:r>
            <a:r>
              <a:rPr lang="ru-RU" sz="2400" dirty="0"/>
              <a:t>файлов, отмеченных для архивирования, </a:t>
            </a:r>
            <a:r>
              <a:rPr lang="ru-RU" sz="2400" dirty="0" smtClean="0"/>
              <a:t>архивируются </a:t>
            </a:r>
            <a:r>
              <a:rPr lang="ru-RU" sz="2400" dirty="0"/>
              <a:t>только те, </a:t>
            </a:r>
            <a:r>
              <a:rPr lang="ru-RU" sz="2400" dirty="0" smtClean="0"/>
              <a:t>которые были изменены с момента последнего нормального архива (для </a:t>
            </a:r>
            <a:r>
              <a:rPr lang="en-US" sz="2400" dirty="0" smtClean="0"/>
              <a:t>Windows – </a:t>
            </a:r>
            <a:r>
              <a:rPr lang="ru-RU" sz="2400" dirty="0" smtClean="0"/>
              <a:t>имеют атрибут архивный</a:t>
            </a:r>
            <a:r>
              <a:rPr lang="en-US" sz="2400" dirty="0" smtClean="0"/>
              <a:t>, </a:t>
            </a:r>
            <a:r>
              <a:rPr lang="ru-RU" sz="2400" dirty="0" smtClean="0"/>
              <a:t>при этом после копирования атрибут не сбрасывается). </a:t>
            </a:r>
            <a:r>
              <a:rPr lang="ru-RU" sz="2400" dirty="0"/>
              <a:t>Использование Обычного и Разностного архивирования позволяет сэкономить пространство на носителях с резервными копиями и ускорить процесс создания ежедневных копий.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400" dirty="0" smtClean="0"/>
              <a:t>В </a:t>
            </a:r>
            <a:r>
              <a:rPr lang="ru-RU" sz="2400" dirty="0"/>
              <a:t>случае утери информации </a:t>
            </a:r>
            <a:r>
              <a:rPr lang="ru-RU" sz="2400" dirty="0" smtClean="0"/>
              <a:t>требуется выполнения </a:t>
            </a:r>
            <a:r>
              <a:rPr lang="ru-RU" sz="2400" dirty="0"/>
              <a:t>двух операций восстановления — сначала </a:t>
            </a:r>
            <a:r>
              <a:rPr lang="ru-RU" sz="2400" dirty="0" smtClean="0"/>
              <a:t>восстановление Нормальной копии, </a:t>
            </a:r>
            <a:r>
              <a:rPr lang="ru-RU" sz="2400" dirty="0"/>
              <a:t>а затем из последней </a:t>
            </a:r>
            <a:r>
              <a:rPr lang="ru-RU" sz="2400" dirty="0" smtClean="0"/>
              <a:t>Разностной </a:t>
            </a:r>
            <a:r>
              <a:rPr lang="ru-RU" sz="2400" dirty="0"/>
              <a:t>резервной копии.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linkClick r:id="rId2" action="ppaction://hlinksldjump"/>
              </a:rPr>
              <a:t>Разностный (</a:t>
            </a:r>
            <a:r>
              <a:rPr lang="en-US" dirty="0">
                <a:hlinkClick r:id="rId2" action="ppaction://hlinksldjump"/>
              </a:rPr>
              <a:t>Differential)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94668817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20" y="1785926"/>
            <a:ext cx="8286808" cy="4357718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800" dirty="0" smtClean="0"/>
              <a:t>Данный </a:t>
            </a:r>
            <a:r>
              <a:rPr lang="ru-RU" sz="2800" dirty="0"/>
              <a:t>вид архивирования необходим для создания полных резервных копий каких-либо больших файловых ресурсов. </a:t>
            </a:r>
            <a:r>
              <a:rPr lang="ru-RU" sz="2800" dirty="0" smtClean="0"/>
              <a:t>Для </a:t>
            </a:r>
            <a:r>
              <a:rPr lang="ru-RU" sz="2800" dirty="0"/>
              <a:t>восстановления информации на момент </a:t>
            </a:r>
            <a:r>
              <a:rPr lang="ru-RU" sz="2800" dirty="0" smtClean="0"/>
              <a:t>Зеркального копирования </a:t>
            </a:r>
            <a:r>
              <a:rPr lang="ru-RU" sz="2800" dirty="0"/>
              <a:t>достаточно восстановить последний сделанный </a:t>
            </a:r>
            <a:r>
              <a:rPr lang="ru-RU" sz="2800" dirty="0" smtClean="0"/>
              <a:t>архив, при этом план резервного копирование не меняется.</a:t>
            </a:r>
            <a:endParaRPr lang="ru-RU" sz="2800" dirty="0"/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hlinkClick r:id="rId2" action="ppaction://hlinksldjump"/>
              </a:rPr>
              <a:t>Зеркальное копирование (</a:t>
            </a:r>
            <a:r>
              <a:rPr lang="en-US" dirty="0" smtClean="0">
                <a:hlinkClick r:id="rId2" action="ppaction://hlinksldjump"/>
              </a:rPr>
              <a:t>Copy</a:t>
            </a:r>
            <a:r>
              <a:rPr lang="ru-RU" dirty="0" smtClean="0">
                <a:hlinkClick r:id="rId2" action="ppaction://hlinksldjump"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02711572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 smtClean="0"/>
              <a:t>Резервные копии создаются не по расписанию, а путем создания автоматической копии, после каждого изменения данных.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/>
              <a:t>Когда данные записываются на диск, они также асинхронно записываются в другой точке, обычно ей служит другой компьютер поверх сети. Это вносит определенную нагрузку на операции записи диска, но устраняет необходимость расписания созданий резервных копий.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 smtClean="0"/>
              <a:t>Позволяет восстановить данные на любой момент времени.</a:t>
            </a:r>
            <a:endParaRPr lang="ru-RU" sz="20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hlinkClick r:id="rId2" action="ppaction://hlinksldjump"/>
              </a:rPr>
              <a:t>Точки мгновенного </a:t>
            </a:r>
            <a:r>
              <a:rPr lang="ru-RU" dirty="0" smtClean="0">
                <a:hlinkClick r:id="rId2" action="ppaction://hlinksldjump"/>
              </a:rPr>
              <a:t>восстановления</a:t>
            </a:r>
            <a:endParaRPr lang="ru-RU" dirty="0"/>
          </a:p>
        </p:txBody>
      </p:sp>
      <p:pic>
        <p:nvPicPr>
          <p:cNvPr id="4" name="Рисунок 3" descr="bf337492a0864d5a8d1619941820aa93_L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43636" y="4095751"/>
            <a:ext cx="2762249" cy="276224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031464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206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 smtClean="0"/>
              <a:t>В </a:t>
            </a:r>
            <a:r>
              <a:rPr lang="en-US" sz="1800" dirty="0" smtClean="0"/>
              <a:t>Windows </a:t>
            </a:r>
            <a:r>
              <a:rPr lang="ru-RU" sz="1800" dirty="0" smtClean="0"/>
              <a:t>предусмотрена возможность создания специальной резервной копии, которая позволит восстановить работоспособность и все настройки операционной системы в случае потери данных или прекращения функционирования.</a:t>
            </a:r>
          </a:p>
          <a:p>
            <a:pPr marL="0" indent="0">
              <a:buNone/>
            </a:pPr>
            <a:r>
              <a:rPr lang="ru-RU" sz="1800" dirty="0"/>
              <a:t>При этом </a:t>
            </a:r>
            <a:r>
              <a:rPr lang="ru-RU" sz="1800" dirty="0" smtClean="0"/>
              <a:t>архивируются </a:t>
            </a:r>
            <a:r>
              <a:rPr lang="ru-RU" sz="1800" dirty="0"/>
              <a:t>следующие данные:</a:t>
            </a:r>
          </a:p>
          <a:p>
            <a:r>
              <a:rPr lang="ru-RU" sz="1800" dirty="0"/>
              <a:t>системный реестр;</a:t>
            </a:r>
          </a:p>
          <a:p>
            <a:r>
              <a:rPr lang="ru-RU" sz="1800" dirty="0"/>
              <a:t>база данных зарегистрированных классов </a:t>
            </a:r>
            <a:r>
              <a:rPr lang="ru-RU" sz="1800" dirty="0" smtClean="0"/>
              <a:t>объектов;</a:t>
            </a:r>
            <a:endParaRPr lang="ru-RU" sz="1800" dirty="0"/>
          </a:p>
          <a:p>
            <a:r>
              <a:rPr lang="ru-RU" sz="1800" dirty="0"/>
              <a:t>системные загрузочные файлы;</a:t>
            </a:r>
          </a:p>
          <a:p>
            <a:r>
              <a:rPr lang="ru-RU" sz="1800" dirty="0"/>
              <a:t>база данных служб сертификатов (только на серверах, на которых установлена служба сертификатов);</a:t>
            </a:r>
          </a:p>
          <a:p>
            <a:r>
              <a:rPr lang="ru-RU" sz="1800" dirty="0"/>
              <a:t>база данных </a:t>
            </a:r>
            <a:r>
              <a:rPr lang="ru-RU" sz="1800" dirty="0" err="1"/>
              <a:t>Active</a:t>
            </a:r>
            <a:r>
              <a:rPr lang="ru-RU" sz="1800" dirty="0"/>
              <a:t> </a:t>
            </a:r>
            <a:r>
              <a:rPr lang="ru-RU" sz="1800" dirty="0" err="1"/>
              <a:t>Directory</a:t>
            </a:r>
            <a:r>
              <a:rPr lang="ru-RU" sz="1800" dirty="0"/>
              <a:t> и папка SYSVOL (на контроллерах доменов).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98072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hlinkClick r:id="rId2" action="ppaction://hlinksldjump"/>
              </a:rPr>
              <a:t>Резервная копия </a:t>
            </a:r>
            <a:r>
              <a:rPr lang="ru-RU" sz="3600" dirty="0">
                <a:hlinkClick r:id="rId2" action="ppaction://hlinksldjump"/>
              </a:rPr>
              <a:t>состояния системы</a:t>
            </a:r>
            <a:endParaRPr lang="ru-RU" sz="3600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221088"/>
            <a:ext cx="8460432" cy="2869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66199798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mtClean="0"/>
              <a:t>Занятие </a:t>
            </a:r>
            <a:r>
              <a:rPr lang="ru-RU" smtClean="0"/>
              <a:t>18.</a:t>
            </a:r>
            <a:endParaRPr lang="ru-RU" dirty="0" smtClean="0"/>
          </a:p>
          <a:p>
            <a:r>
              <a:rPr lang="ru-RU" dirty="0" smtClean="0"/>
              <a:t>1. Выполнить конспект</a:t>
            </a:r>
          </a:p>
          <a:p>
            <a:r>
              <a:rPr lang="ru-RU" dirty="0" smtClean="0"/>
              <a:t>2. Выполнить практическую работу, устно ответить на вопросы.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</a:t>
            </a:r>
            <a:endParaRPr lang="ru-RU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3501008"/>
            <a:ext cx="3166466" cy="313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1837</TotalTime>
  <Words>443</Words>
  <Application>Microsoft Office PowerPoint</Application>
  <PresentationFormat>Экран (4:3)</PresentationFormat>
  <Paragraphs>42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Открытая</vt:lpstr>
      <vt:lpstr> Резервное копирование и восстановление данных</vt:lpstr>
      <vt:lpstr>Резервное копирование</vt:lpstr>
      <vt:lpstr>Основы резервного копирования файловых ресурсов</vt:lpstr>
      <vt:lpstr>Типы резервного копирования файлов</vt:lpstr>
      <vt:lpstr>Нормальный (normal)</vt:lpstr>
      <vt:lpstr>Добавочный (Incremental)</vt:lpstr>
      <vt:lpstr>Разностный (Differential)</vt:lpstr>
      <vt:lpstr>Зеркальное копирование (Copy)</vt:lpstr>
      <vt:lpstr>Точки мгновенного восстановления</vt:lpstr>
      <vt:lpstr>Резервная копия состояния системы</vt:lpstr>
      <vt:lpstr>Задание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Сетевое администрирование Лекция 1. Введение в сетевое администрирование</dc:title>
  <dc:creator>Эрман М.А.</dc:creator>
  <cp:lastModifiedBy>Кирилл</cp:lastModifiedBy>
  <cp:revision>164</cp:revision>
  <dcterms:created xsi:type="dcterms:W3CDTF">2010-09-10T11:58:20Z</dcterms:created>
  <dcterms:modified xsi:type="dcterms:W3CDTF">2022-03-17T10:42:13Z</dcterms:modified>
</cp:coreProperties>
</file>