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22.01.2018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285728"/>
            <a:ext cx="7772400" cy="182976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Программное обеспечение компьютерных сетей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 descr="Картинки по запросу компьютерные сети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47701"/>
            <a:ext cx="9144000" cy="40102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28596" y="1714488"/>
            <a:ext cx="8429684" cy="4786346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ru-RU" dirty="0" smtClean="0"/>
              <a:t>		Главная задача сетевого администратора — обеспечить надежную, бесперебойную, производительную и безопасную работу системы.</a:t>
            </a:r>
          </a:p>
          <a:p>
            <a:pPr algn="just">
              <a:buNone/>
            </a:pPr>
            <a:r>
              <a:rPr lang="ru-RU" dirty="0" smtClean="0"/>
              <a:t>		Будем рассматривать </a:t>
            </a:r>
            <a:r>
              <a:rPr lang="ru-RU" i="1" dirty="0" smtClean="0"/>
              <a:t>сеть</a:t>
            </a:r>
            <a:r>
              <a:rPr lang="ru-RU" dirty="0" smtClean="0"/>
              <a:t> как совокупность программных, аппаратных и коммуникационных средств, обеспечивающих эффективное распределение вычислительных ресурсов. </a:t>
            </a:r>
          </a:p>
          <a:p>
            <a:pPr algn="just">
              <a:buNone/>
            </a:pPr>
            <a:r>
              <a:rPr lang="ru-RU" dirty="0" smtClean="0"/>
              <a:t>	</a:t>
            </a:r>
          </a:p>
          <a:p>
            <a:pPr algn="just">
              <a:buNone/>
            </a:pPr>
            <a:r>
              <a:rPr lang="ru-RU" dirty="0" smtClean="0"/>
              <a:t>	Все сети можно условно разделить на 3 категории:</a:t>
            </a:r>
          </a:p>
          <a:p>
            <a:r>
              <a:rPr lang="ru-RU" dirty="0" smtClean="0"/>
              <a:t>локальные сети (LAN, </a:t>
            </a:r>
            <a:r>
              <a:rPr lang="ru-RU" dirty="0" err="1" smtClean="0"/>
              <a:t>Local</a:t>
            </a:r>
            <a:r>
              <a:rPr lang="ru-RU" dirty="0" smtClean="0"/>
              <a:t> </a:t>
            </a:r>
            <a:r>
              <a:rPr lang="ru-RU" dirty="0" err="1" smtClean="0"/>
              <a:t>Area</a:t>
            </a:r>
            <a:r>
              <a:rPr lang="ru-RU" dirty="0" smtClean="0"/>
              <a:t> </a:t>
            </a:r>
            <a:r>
              <a:rPr lang="ru-RU" dirty="0" err="1" smtClean="0"/>
              <a:t>Network</a:t>
            </a:r>
            <a:r>
              <a:rPr lang="ru-RU" dirty="0" smtClean="0"/>
              <a:t>);</a:t>
            </a:r>
          </a:p>
          <a:p>
            <a:r>
              <a:rPr lang="ru-RU" dirty="0" smtClean="0"/>
              <a:t>глобальные сети (WAN, </a:t>
            </a:r>
            <a:r>
              <a:rPr lang="ru-RU" dirty="0" err="1" smtClean="0"/>
              <a:t>Wide</a:t>
            </a:r>
            <a:r>
              <a:rPr lang="ru-RU" dirty="0" smtClean="0"/>
              <a:t> </a:t>
            </a:r>
            <a:r>
              <a:rPr lang="ru-RU" dirty="0" err="1" smtClean="0"/>
              <a:t>Area</a:t>
            </a:r>
            <a:r>
              <a:rPr lang="ru-RU" dirty="0" smtClean="0"/>
              <a:t> </a:t>
            </a:r>
            <a:r>
              <a:rPr lang="ru-RU" dirty="0" err="1" smtClean="0"/>
              <a:t>Network</a:t>
            </a:r>
            <a:r>
              <a:rPr lang="ru-RU" dirty="0" smtClean="0"/>
              <a:t>);</a:t>
            </a:r>
          </a:p>
          <a:p>
            <a:r>
              <a:rPr lang="ru-RU" dirty="0" smtClean="0"/>
              <a:t>городские сети (MAN, </a:t>
            </a:r>
            <a:r>
              <a:rPr lang="ru-RU" i="1" dirty="0" err="1" smtClean="0"/>
              <a:t>Metropolitan</a:t>
            </a:r>
            <a:r>
              <a:rPr lang="ru-RU" i="1" dirty="0" smtClean="0"/>
              <a:t> </a:t>
            </a:r>
            <a:r>
              <a:rPr lang="ru-RU" i="1" dirty="0" err="1" smtClean="0"/>
              <a:t>Area</a:t>
            </a:r>
            <a:r>
              <a:rPr lang="ru-RU" i="1" dirty="0" smtClean="0"/>
              <a:t> </a:t>
            </a:r>
            <a:r>
              <a:rPr lang="ru-RU" i="1" dirty="0" err="1" smtClean="0"/>
              <a:t>Network</a:t>
            </a:r>
            <a:r>
              <a:rPr lang="ru-RU" dirty="0" smtClean="0"/>
              <a:t>).</a:t>
            </a:r>
          </a:p>
          <a:p>
            <a:pPr algn="just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3600" dirty="0" smtClean="0"/>
              <a:t>Задачи и цели сетевого администрирования, понятие о сетевых протоколах и службах</a:t>
            </a:r>
            <a:endParaRPr lang="ru-RU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ru-RU" i="1" dirty="0" smtClean="0"/>
              <a:t>		Механизмы</a:t>
            </a:r>
            <a:r>
              <a:rPr lang="ru-RU" dirty="0" smtClean="0"/>
              <a:t> передачи данных в локальных и глобальных сетях существенно отличаются. </a:t>
            </a:r>
          </a:p>
          <a:p>
            <a:pPr algn="just">
              <a:buNone/>
            </a:pPr>
            <a:r>
              <a:rPr lang="ru-RU" i="1" dirty="0" smtClean="0"/>
              <a:t>		Глобальные сети</a:t>
            </a:r>
            <a:r>
              <a:rPr lang="ru-RU" dirty="0" smtClean="0"/>
              <a:t> ориентированы на соединение — до начала передачи данных между абонентами устанавливается соединение (</a:t>
            </a:r>
            <a:r>
              <a:rPr lang="ru-RU" i="1" dirty="0" smtClean="0"/>
              <a:t>сеанс</a:t>
            </a:r>
            <a:r>
              <a:rPr lang="ru-RU" dirty="0" smtClean="0"/>
              <a:t>). В локальных сетях используются методы, не требующие предварительной установки соединения, — пакет с данными посылается без подтверждения готовности получателя к обмену.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142844" y="214290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ru-RU" dirty="0" smtClean="0"/>
              <a:t>		Сетевая </a:t>
            </a:r>
            <a:r>
              <a:rPr lang="ru-RU" i="1" dirty="0" smtClean="0"/>
              <a:t>инфраструктура</a:t>
            </a:r>
            <a:r>
              <a:rPr lang="ru-RU" dirty="0" smtClean="0"/>
              <a:t> строится из различных компонентов, которые условно можно разнести по следующим уровням:</a:t>
            </a:r>
          </a:p>
          <a:p>
            <a:r>
              <a:rPr lang="ru-RU" dirty="0" smtClean="0"/>
              <a:t>кабельная система и средства коммуникаций;</a:t>
            </a:r>
          </a:p>
          <a:p>
            <a:r>
              <a:rPr lang="ru-RU" dirty="0" smtClean="0"/>
              <a:t>активное сетевое оборудование;</a:t>
            </a:r>
          </a:p>
          <a:p>
            <a:r>
              <a:rPr lang="ru-RU" dirty="0" smtClean="0"/>
              <a:t>сетевые протоколы;</a:t>
            </a:r>
          </a:p>
          <a:p>
            <a:r>
              <a:rPr lang="ru-RU" dirty="0" smtClean="0"/>
              <a:t>сетевые службы;</a:t>
            </a:r>
          </a:p>
          <a:p>
            <a:r>
              <a:rPr lang="ru-RU" dirty="0" smtClean="0"/>
              <a:t>сетевые приложения.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3074" name="Picture 2" descr="Картинки по запросу сетевые службы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33936" y="3400452"/>
            <a:ext cx="4610064" cy="34575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0" y="0"/>
            <a:ext cx="8429652" cy="4714884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ru-RU" dirty="0" smtClean="0"/>
              <a:t>		Активное сетевое оборудование включает в себя такие виды устройств, как повторители (</a:t>
            </a:r>
            <a:r>
              <a:rPr lang="ru-RU" i="1" dirty="0" smtClean="0"/>
              <a:t>репитеры</a:t>
            </a:r>
            <a:r>
              <a:rPr lang="ru-RU" dirty="0" smtClean="0"/>
              <a:t>), мосты, </a:t>
            </a:r>
            <a:r>
              <a:rPr lang="ru-RU" i="1" dirty="0" smtClean="0"/>
              <a:t>концентраторы</a:t>
            </a:r>
            <a:r>
              <a:rPr lang="ru-RU" dirty="0" smtClean="0"/>
              <a:t>, коммутаторы, </a:t>
            </a:r>
            <a:r>
              <a:rPr lang="ru-RU" dirty="0" err="1" smtClean="0"/>
              <a:t>маршрутизаторы</a:t>
            </a:r>
            <a:r>
              <a:rPr lang="ru-RU" dirty="0" smtClean="0"/>
              <a:t>.</a:t>
            </a:r>
          </a:p>
          <a:p>
            <a:pPr algn="just">
              <a:buNone/>
            </a:pPr>
            <a:r>
              <a:rPr lang="ru-RU" dirty="0" smtClean="0"/>
              <a:t>		Основу работы сети составляют так называемые </a:t>
            </a:r>
            <a:r>
              <a:rPr lang="ru-RU" i="1" dirty="0" smtClean="0"/>
              <a:t>сетевые службы</a:t>
            </a:r>
            <a:r>
              <a:rPr lang="ru-RU" dirty="0" smtClean="0"/>
              <a:t> (или сервисы). Базовый набор сетевых служб любой корпоративной сети состоит из следующих служб:</a:t>
            </a:r>
          </a:p>
          <a:p>
            <a:r>
              <a:rPr lang="ru-RU" dirty="0" smtClean="0"/>
              <a:t>службы сетевой инфраструктуры DNS, DHCP, WINS;</a:t>
            </a:r>
          </a:p>
          <a:p>
            <a:r>
              <a:rPr lang="ru-RU" dirty="0" smtClean="0"/>
              <a:t>службы файлов и печати;</a:t>
            </a:r>
          </a:p>
          <a:p>
            <a:r>
              <a:rPr lang="ru-RU" dirty="0" smtClean="0"/>
              <a:t>службы каталогов (например, </a:t>
            </a:r>
            <a:r>
              <a:rPr lang="ru-RU" dirty="0" err="1" smtClean="0"/>
              <a:t>Novell</a:t>
            </a:r>
            <a:r>
              <a:rPr lang="ru-RU" dirty="0" smtClean="0"/>
              <a:t> </a:t>
            </a:r>
            <a:r>
              <a:rPr lang="ru-RU" i="1" dirty="0" smtClean="0"/>
              <a:t>NDS</a:t>
            </a:r>
            <a:r>
              <a:rPr lang="ru-RU" dirty="0" smtClean="0"/>
              <a:t>, MS </a:t>
            </a:r>
            <a:r>
              <a:rPr lang="ru-RU" dirty="0" err="1" smtClean="0"/>
              <a:t>Active</a:t>
            </a:r>
            <a:r>
              <a:rPr lang="ru-RU" dirty="0" smtClean="0"/>
              <a:t> </a:t>
            </a:r>
            <a:r>
              <a:rPr lang="ru-RU" dirty="0" err="1" smtClean="0"/>
              <a:t>Directory</a:t>
            </a:r>
            <a:r>
              <a:rPr lang="ru-RU" dirty="0" smtClean="0"/>
              <a:t>);</a:t>
            </a:r>
          </a:p>
          <a:p>
            <a:r>
              <a:rPr lang="ru-RU" dirty="0" smtClean="0"/>
              <a:t>службы обмена сообщениями;</a:t>
            </a:r>
          </a:p>
          <a:p>
            <a:r>
              <a:rPr lang="ru-RU" dirty="0" smtClean="0"/>
              <a:t>службы доступа к базам данных.</a:t>
            </a:r>
          </a:p>
          <a:p>
            <a:pPr algn="just">
              <a:buNone/>
            </a:pPr>
            <a:endParaRPr lang="ru-RU" dirty="0"/>
          </a:p>
        </p:txBody>
      </p:sp>
      <p:pic>
        <p:nvPicPr>
          <p:cNvPr id="2050" name="Picture 2" descr="Картинки по запросу маршрутизатор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2077" y="4421522"/>
            <a:ext cx="3771923" cy="24364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Планирование сети.</a:t>
            </a:r>
          </a:p>
          <a:p>
            <a:r>
              <a:rPr lang="ru-RU" dirty="0" smtClean="0"/>
              <a:t>Установка и настройка сетевых узлов (устройств активного сетевого оборудования, персональных компьютеров, серверов, средств коммуникаций).</a:t>
            </a:r>
          </a:p>
          <a:p>
            <a:r>
              <a:rPr lang="ru-RU" dirty="0" smtClean="0"/>
              <a:t>Установка и настройка сетевых протоколов.</a:t>
            </a:r>
          </a:p>
          <a:p>
            <a:r>
              <a:rPr lang="ru-RU" dirty="0" smtClean="0"/>
              <a:t>Установка и настройка сетевых служб.</a:t>
            </a:r>
          </a:p>
          <a:p>
            <a:r>
              <a:rPr lang="ru-RU" dirty="0" smtClean="0"/>
              <a:t>Поиск неисправностей.</a:t>
            </a:r>
          </a:p>
          <a:p>
            <a:r>
              <a:rPr lang="ru-RU" dirty="0" smtClean="0"/>
              <a:t>Поиск узких мест сети и повышения эффективности работы сети.</a:t>
            </a:r>
          </a:p>
          <a:p>
            <a:r>
              <a:rPr lang="ru-RU" dirty="0" smtClean="0"/>
              <a:t>Мониторинг сетевых узлов.</a:t>
            </a:r>
          </a:p>
          <a:p>
            <a:r>
              <a:rPr lang="ru-RU" dirty="0" smtClean="0"/>
              <a:t>Мониторинг сетевого трафика.</a:t>
            </a:r>
          </a:p>
          <a:p>
            <a:r>
              <a:rPr lang="ru-RU" dirty="0" smtClean="0"/>
              <a:t>Обеспечение защиты данных.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Задачи сетевого администрирования в сложной распределенной КС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285720" y="1714488"/>
            <a:ext cx="8401080" cy="429280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dirty="0" smtClean="0"/>
              <a:t>		Основная идея модели OSI в том, что одни и те же уровни на разных системах, не имея возможности связываться непосредственно, должны работать абсолютно одинаково. Одинаковым должен быть и сервис между соответствующими уровнями различных систем. Нарушение этого принципа может привести к тому, что информация, посланная от одной системы к другой, после всех преобразований не будет идентична исходной.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71472" y="57148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Модели межсетевого взаимодействия (модель OSI, модель TCP/IP).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На данном уровне выполняется передача битов по физическим каналам (коаксиальный кабель, витая пара, оптоволокно).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Физический уровень</a:t>
            </a:r>
            <a:endParaRPr lang="ru-RU" dirty="0"/>
          </a:p>
        </p:txBody>
      </p:sp>
      <p:pic>
        <p:nvPicPr>
          <p:cNvPr id="9218" name="Picture 2" descr="Картинки по запросу сетевое оборудование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1" y="3500438"/>
            <a:ext cx="3078377" cy="318612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Данный уровень определяет методы доступа к среде передачи данных и обеспечивает передачу кадра данных между любыми узлами в сетях с </a:t>
            </a:r>
            <a:r>
              <a:rPr lang="ru-RU" i="1" dirty="0" smtClean="0"/>
              <a:t>типовой топологией</a:t>
            </a:r>
            <a:r>
              <a:rPr lang="ru-RU" dirty="0" smtClean="0"/>
              <a:t> по физическому адресу сетевого устройства.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Канальный уровень</a:t>
            </a:r>
            <a:endParaRPr lang="ru-RU" dirty="0"/>
          </a:p>
        </p:txBody>
      </p:sp>
      <p:pic>
        <p:nvPicPr>
          <p:cNvPr id="8194" name="Picture 2" descr="Похожее изображение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4000504"/>
            <a:ext cx="3000396" cy="23103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Обеспечивает доставку данных между любыми двумя узлами в сети с произвольной топологией, при этом не гарантируется надежная доставка данных от узла-отправителя к узлу-получателю. На этом уровне выполняются такие функции как маршрутизация логических адресов сетевых узлов, создание и ведение таблиц маршрутизации, фрагментация и сборка данных.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Сетевой уровень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Обеспечивает передачу данных между любыми узлами сети с требуемым уровнем надежности. Для выполнения этой задачи на транспортном уровне имеются механизмы установления соединения между сетевыми узлами, нумерации, буферизации и упорядочивания пакетов, передаваемых между узлами сети.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Транспортный уровень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Реализует средства управления сессией, диалогом, а также предоставляет средства синхронизации в рамках процедуры обмена сообщениями, контроля над ошибками, обработки транзакций, поддержки вызова удаленных процедур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 smtClean="0"/>
              <a:t>Сеансовый уровень</a:t>
            </a:r>
            <a:r>
              <a:rPr lang="ru-RU" b="0" dirty="0" smtClean="0"/>
              <a:t>.</a:t>
            </a:r>
            <a:endParaRPr lang="ru-RU" dirty="0"/>
          </a:p>
        </p:txBody>
      </p:sp>
      <p:pic>
        <p:nvPicPr>
          <p:cNvPr id="5122" name="Picture 2" descr="Картинки по запросу сетевое оборудование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30" y="3954981"/>
            <a:ext cx="4643470" cy="290301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На этом уровне могут выполняться различные виды преобразования данных, такие как компрессия и декомпрессия, шифровка и дешифровка данных.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Уровень представления</a:t>
            </a:r>
            <a:endParaRPr lang="ru-RU" dirty="0"/>
          </a:p>
        </p:txBody>
      </p:sp>
      <p:pic>
        <p:nvPicPr>
          <p:cNvPr id="4098" name="Picture 2" descr="Картинки по запросу сетевое оборудование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596" y="3500438"/>
            <a:ext cx="4143404" cy="31075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Набор сетевых сервисов, предоставляемых конечным пользователям и приложениям. Примеры таких сервисов — обмен сообщениями электронной почты, передача файлов между узлами сети, приложения управления сетевыми узлами.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Прикладной уровень</a:t>
            </a:r>
            <a:endParaRPr lang="ru-RU" dirty="0"/>
          </a:p>
        </p:txBody>
      </p:sp>
      <p:pic>
        <p:nvPicPr>
          <p:cNvPr id="3074" name="Picture 2" descr="Картинки по запросу сетевое оборудование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48" y="4095749"/>
            <a:ext cx="3810000" cy="27622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Функционирование первых трех уровней, физического, канального и сетевого, обеспечивается, в основном, активным сетевым оборудованием и, как правило, реализуются следующими компонентами: сетевыми адаптерами, </a:t>
            </a:r>
            <a:r>
              <a:rPr lang="ru-RU" i="1" dirty="0" smtClean="0"/>
              <a:t>репитерами</a:t>
            </a:r>
            <a:r>
              <a:rPr lang="ru-RU" dirty="0" smtClean="0"/>
              <a:t>, мостами, концентраторами, коммутаторами, </a:t>
            </a:r>
            <a:r>
              <a:rPr lang="ru-RU" dirty="0" err="1" smtClean="0"/>
              <a:t>маршрутизаторами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ru-RU" dirty="0" smtClean="0"/>
              <a:t>1. Прикладной уровень (</a:t>
            </a:r>
            <a:r>
              <a:rPr lang="en-US" dirty="0" smtClean="0"/>
              <a:t>Application)</a:t>
            </a:r>
            <a:r>
              <a:rPr lang="ru-RU" dirty="0" smtClean="0"/>
              <a:t> </a:t>
            </a:r>
          </a:p>
          <a:p>
            <a:pPr algn="ctr">
              <a:buNone/>
            </a:pPr>
            <a:r>
              <a:rPr lang="ru-RU" dirty="0" smtClean="0"/>
              <a:t>		</a:t>
            </a:r>
            <a:r>
              <a:rPr lang="en-US" dirty="0" smtClean="0"/>
              <a:t>WWW, FTP, TFTP, SNMP, Telnet, SMTP, DNS, DHCP, WINS</a:t>
            </a:r>
            <a:endParaRPr lang="ru-RU" dirty="0" smtClean="0"/>
          </a:p>
          <a:p>
            <a:pPr algn="ctr">
              <a:buNone/>
            </a:pPr>
            <a:r>
              <a:rPr lang="ru-RU" dirty="0" smtClean="0"/>
              <a:t>2. Транспортный уровень (</a:t>
            </a:r>
            <a:r>
              <a:rPr lang="en-US" dirty="0" smtClean="0"/>
              <a:t>Transport)</a:t>
            </a:r>
            <a:endParaRPr lang="ru-RU" dirty="0" smtClean="0"/>
          </a:p>
          <a:p>
            <a:pPr algn="ctr">
              <a:buNone/>
            </a:pPr>
            <a:r>
              <a:rPr lang="en-US" dirty="0" smtClean="0"/>
              <a:t>TCP, UDP</a:t>
            </a:r>
            <a:endParaRPr lang="ru-RU" dirty="0" smtClean="0"/>
          </a:p>
          <a:p>
            <a:pPr algn="ctr">
              <a:buNone/>
            </a:pPr>
            <a:r>
              <a:rPr lang="en-US" dirty="0" smtClean="0"/>
              <a:t>3. </a:t>
            </a:r>
            <a:r>
              <a:rPr lang="ru-RU" dirty="0" smtClean="0"/>
              <a:t>Уровень межсетевого взаимодействия (</a:t>
            </a:r>
            <a:r>
              <a:rPr lang="en-US" dirty="0" smtClean="0"/>
              <a:t>Internet)</a:t>
            </a:r>
            <a:endParaRPr lang="ru-RU" dirty="0" smtClean="0"/>
          </a:p>
          <a:p>
            <a:pPr algn="ctr">
              <a:buNone/>
            </a:pPr>
            <a:r>
              <a:rPr lang="en-US" dirty="0" smtClean="0"/>
              <a:t>ARP, IP, ICMP, RIP, OSPF</a:t>
            </a:r>
            <a:endParaRPr lang="ru-RU" dirty="0" smtClean="0"/>
          </a:p>
          <a:p>
            <a:pPr algn="ctr">
              <a:buNone/>
            </a:pPr>
            <a:r>
              <a:rPr lang="en-US" dirty="0" smtClean="0"/>
              <a:t>4. </a:t>
            </a:r>
            <a:r>
              <a:rPr lang="ru-RU" i="1" dirty="0" smtClean="0"/>
              <a:t>Уровень сетевого интерфейса</a:t>
            </a:r>
            <a:r>
              <a:rPr lang="ru-RU" dirty="0" smtClean="0"/>
              <a:t> (</a:t>
            </a:r>
            <a:r>
              <a:rPr lang="en-US" dirty="0" smtClean="0"/>
              <a:t>Network Interface)</a:t>
            </a:r>
            <a:endParaRPr lang="ru-RU" dirty="0" smtClean="0"/>
          </a:p>
          <a:p>
            <a:pPr algn="ctr">
              <a:buNone/>
            </a:pPr>
            <a:r>
              <a:rPr lang="ru-RU" dirty="0" smtClean="0"/>
              <a:t> </a:t>
            </a:r>
            <a:r>
              <a:rPr lang="en-US" dirty="0" smtClean="0"/>
              <a:t>(Ethernet, Token Ring, FDDI, ATM, X.25, Frame Relay, SLIP, PPP)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Модель </a:t>
            </a:r>
            <a:r>
              <a:rPr lang="en-US" dirty="0" smtClean="0"/>
              <a:t>TCP/IP.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71472" y="1785926"/>
            <a:ext cx="8229600" cy="357189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Операционные системы семейства </a:t>
            </a:r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 err="1" smtClean="0"/>
              <a:t>Server</a:t>
            </a:r>
            <a:r>
              <a:rPr lang="ru-RU" dirty="0" smtClean="0"/>
              <a:t> как базовый инструмент для изучения курса "Сетевое администрирование"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DNS</a:t>
            </a:r>
            <a:endParaRPr lang="ru-RU" dirty="0"/>
          </a:p>
        </p:txBody>
      </p:sp>
      <p:pic>
        <p:nvPicPr>
          <p:cNvPr id="1026" name="Picture 2" descr="Картинки по запросу domain name system это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" y="0"/>
            <a:ext cx="9144011" cy="68580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28596" y="1214422"/>
            <a:ext cx="8443914" cy="507209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i="1" dirty="0" smtClean="0"/>
              <a:t>		</a:t>
            </a:r>
            <a:r>
              <a:rPr lang="ru-RU" i="1" dirty="0" smtClean="0"/>
              <a:t>DNS</a:t>
            </a:r>
            <a:r>
              <a:rPr lang="ru-RU" dirty="0" smtClean="0"/>
              <a:t> расшифровывается как </a:t>
            </a:r>
            <a:r>
              <a:rPr lang="ru-RU" i="1" dirty="0" err="1" smtClean="0"/>
              <a:t>Domain</a:t>
            </a:r>
            <a:r>
              <a:rPr lang="ru-RU" i="1" dirty="0" smtClean="0"/>
              <a:t> </a:t>
            </a:r>
            <a:r>
              <a:rPr lang="ru-RU" i="1" dirty="0" err="1" smtClean="0"/>
              <a:t>Name</a:t>
            </a:r>
            <a:r>
              <a:rPr lang="ru-RU" i="1" dirty="0" smtClean="0"/>
              <a:t> </a:t>
            </a:r>
            <a:r>
              <a:rPr lang="ru-RU" i="1" dirty="0" err="1" smtClean="0"/>
              <a:t>System</a:t>
            </a:r>
            <a:r>
              <a:rPr lang="ru-RU" dirty="0" smtClean="0"/>
              <a:t>. Это глобальное распределенное хранилище ключей и значений. Сервера по всему миру могут предоставляют значение по ключу, а если им неизвестен ключ, то они попросят помощи у другого сервера.</a:t>
            </a:r>
          </a:p>
          <a:p>
            <a:pPr algn="just">
              <a:buNone/>
            </a:pPr>
            <a:r>
              <a:rPr lang="ru-RU" dirty="0" smtClean="0"/>
              <a:t>		Вы или ваш браузер запрашивает значение для ключа </a:t>
            </a:r>
            <a:r>
              <a:rPr lang="ru-RU" dirty="0" err="1" smtClean="0"/>
              <a:t>www.example.com</a:t>
            </a:r>
            <a:r>
              <a:rPr lang="ru-RU" dirty="0" smtClean="0"/>
              <a:t>, и получает в ответ 1.2.3.4.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dirty="0" smtClean="0"/>
              <a:t>Что такое </a:t>
            </a:r>
            <a:r>
              <a:rPr lang="en-US" b="0" dirty="0" smtClean="0"/>
              <a:t>DNS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714348" y="5357826"/>
            <a:ext cx="8229600" cy="72090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Один домен – один сайт – один адрес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1746" name="Picture 2" descr="схема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857232"/>
            <a:ext cx="8643998" cy="40431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С конкретным доменным именем может быть связан не только </a:t>
            </a:r>
            <a:r>
              <a:rPr lang="ru-RU" dirty="0" err="1" smtClean="0"/>
              <a:t>веб-сайт</a:t>
            </a:r>
            <a:r>
              <a:rPr lang="ru-RU" dirty="0" smtClean="0"/>
              <a:t>, но и, например, почтовый сервер. И у них могут быть разные адреса.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smtClean="0"/>
              <a:t>DNS-</a:t>
            </a:r>
            <a:r>
              <a:rPr lang="ru-RU" b="0" dirty="0" smtClean="0"/>
              <a:t>зона</a:t>
            </a:r>
            <a:endParaRPr lang="ru-RU" dirty="0"/>
          </a:p>
        </p:txBody>
      </p:sp>
      <p:pic>
        <p:nvPicPr>
          <p:cNvPr id="33794" name="Picture 2" descr="DNS, веб-сервер, почтовый сервер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071810"/>
            <a:ext cx="7381927" cy="36175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328</TotalTime>
  <Words>146</Words>
  <PresentationFormat>Экран (4:3)</PresentationFormat>
  <Paragraphs>68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Открытая</vt:lpstr>
      <vt:lpstr>Программное обеспечение компьютерных сетей</vt:lpstr>
      <vt:lpstr>Задачи и цели сетевого администрирования, понятие о сетевых протоколах и службах</vt:lpstr>
      <vt:lpstr>Слайд 3</vt:lpstr>
      <vt:lpstr>Слайд 4</vt:lpstr>
      <vt:lpstr>Слайд 5</vt:lpstr>
      <vt:lpstr>Задачи сетевого администрирования в сложной распределенной КС</vt:lpstr>
      <vt:lpstr>Модели межсетевого взаимодействия (модель OSI, модель TCP/IP). </vt:lpstr>
      <vt:lpstr>Физический уровень</vt:lpstr>
      <vt:lpstr>Канальный уровень</vt:lpstr>
      <vt:lpstr>Сетевой уровень</vt:lpstr>
      <vt:lpstr>Транспортный уровень</vt:lpstr>
      <vt:lpstr>Сеансовый уровень.</vt:lpstr>
      <vt:lpstr>Уровень представления</vt:lpstr>
      <vt:lpstr>Прикладной уровень</vt:lpstr>
      <vt:lpstr>Слайд 15</vt:lpstr>
      <vt:lpstr>Модель TCP/IP.</vt:lpstr>
      <vt:lpstr>Операционные системы семейства Windows Server как базовый инструмент для изучения курса "Сетевое администрирование" </vt:lpstr>
      <vt:lpstr>DNS</vt:lpstr>
      <vt:lpstr>Что такое DNS</vt:lpstr>
      <vt:lpstr>Слайд 20</vt:lpstr>
      <vt:lpstr>DNS-зона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home</dc:creator>
  <cp:lastModifiedBy>Кирилл</cp:lastModifiedBy>
  <cp:revision>29</cp:revision>
  <dcterms:created xsi:type="dcterms:W3CDTF">2018-01-14T09:21:05Z</dcterms:created>
  <dcterms:modified xsi:type="dcterms:W3CDTF">2018-01-22T12:35:36Z</dcterms:modified>
</cp:coreProperties>
</file>