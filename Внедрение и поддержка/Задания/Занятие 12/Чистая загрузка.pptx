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296" r:id="rId20"/>
    <p:sldId id="297" r:id="rId21"/>
    <p:sldId id="298" r:id="rId22"/>
    <p:sldId id="299" r:id="rId23"/>
    <p:sldId id="311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0" r:id="rId34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>
      <p:cViewPr varScale="1">
        <p:scale>
          <a:sx n="106" d="100"/>
          <a:sy n="106" d="100"/>
        </p:scale>
        <p:origin x="-16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EF794-C895-4B34-B804-2354C417239C}" type="datetimeFigureOut">
              <a:rPr lang="ru-RU" smtClean="0"/>
              <a:pPr/>
              <a:t>09.02.2023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E48AB-84EC-4E8E-9944-7FCD6135A77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1126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45D614-AC46-47A4-980B-497E08B36755}" type="slidenum">
              <a:rPr lang="ru-RU" altLang="ru-RU"/>
              <a:pPr/>
              <a:t>5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1331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2379332-0D43-4F39-85EC-32D514435090}" type="slidenum">
              <a:rPr lang="ru-RU" altLang="ru-RU"/>
              <a:pPr/>
              <a:t>6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1536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B354B4C-34B5-4C66-BD64-68A6E82592A3}" type="slidenum">
              <a:rPr lang="ru-RU" altLang="ru-RU"/>
              <a:pPr/>
              <a:t>7</a:t>
            </a:fld>
            <a:endParaRPr lang="ru-RU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8" name="Picture 4" descr="ÐÐ°ÑÑÐ¸Ð½ÐºÐ¸ Ð¿Ð¾ Ð·Ð°Ð¿ÑÐ¾ÑÑ ÐÐ¸ÑÑÑÐ°Ð»ÑÐ½ÑÐµ Ð¼Ð°ÑÐ¸Ð½Ñ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3291841" cy="2057401"/>
          </a:xfrm>
          <a:prstGeom prst="rect">
            <a:avLst/>
          </a:prstGeom>
          <a:noFill/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81000" y="2209800"/>
            <a:ext cx="8610600" cy="1905000"/>
          </a:xfr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Установка и создание в системе виртуальной машины для исполнения приложений.</a:t>
            </a:r>
            <a:endParaRPr lang="ru-RU" dirty="0"/>
          </a:p>
        </p:txBody>
      </p:sp>
      <p:pic>
        <p:nvPicPr>
          <p:cNvPr id="31746" name="Picture 2" descr="ÐÐ°ÑÑÐ¸Ð½ÐºÐ¸ Ð¿Ð¾ Ð·Ð°Ð¿ÑÐ¾ÑÑ ÐÐ¸ÑÑÑÐ°Ð»ÑÐ½ÑÐµ Ð¼Ð°ÑÐ¸Ð½Ñ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29025" y="4267200"/>
            <a:ext cx="5514975" cy="23241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Содержимое 2">
            <a:extLst>
              <a:ext uri="{FF2B5EF4-FFF2-40B4-BE49-F238E27FC236}">
                <a16:creationId xmlns="" xmlns:a16="http://schemas.microsoft.com/office/drawing/2014/main" id="{A901BF99-5E77-47EF-815F-B024975C1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0"/>
            <a:ext cx="8032750" cy="3733800"/>
          </a:xfrm>
        </p:spPr>
        <p:txBody>
          <a:bodyPr>
            <a:noAutofit/>
          </a:bodyPr>
          <a:lstStyle/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ru-RU" sz="2400" dirty="0">
                <a:cs typeface="Times New Roman" panose="02020603050405020304" pitchFamily="18" charset="0"/>
              </a:rPr>
              <a:t>	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сфере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программирования,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 виртуализации внедряются в основном для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поддержки и тестирования программного обеспечения, а также для поддержания виртуальной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инфраструктуры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на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конечных пользователей оказывают весьма малое влияние.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22" name="Picture 2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4454211"/>
            <a:ext cx="5181600" cy="2403789"/>
          </a:xfrm>
          <a:prstGeom prst="rect">
            <a:avLst/>
          </a:prstGeom>
          <a:noFill/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Содержимое 2"/>
          <p:cNvSpPr>
            <a:spLocks noGrp="1"/>
          </p:cNvSpPr>
          <p:nvPr>
            <p:ph idx="1"/>
          </p:nvPr>
        </p:nvSpPr>
        <p:spPr>
          <a:xfrm>
            <a:off x="381000" y="762000"/>
            <a:ext cx="8496300" cy="518477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buFont typeface="Wingdings 2" pitchFamily="18" charset="2"/>
              <a:buNone/>
            </a:pPr>
            <a:r>
              <a:rPr lang="ru-RU" altLang="ru-RU" sz="2400" dirty="0" smtClean="0">
                <a:solidFill>
                  <a:srgbClr val="402000"/>
                </a:solidFill>
                <a:latin typeface="Times New Roman" pitchFamily="18" charset="0"/>
                <a:cs typeface="Times New Roman" pitchFamily="18" charset="0"/>
              </a:rPr>
              <a:t>	Виртуальная машина - это программа, которую вы запускаете из своей операционной системы. Программа эмулирует реальную машину. На виртуальные машины, как и на реальные, можно ставить операционные системы. </a:t>
            </a:r>
          </a:p>
          <a:p>
            <a:pPr marL="0" indent="0" algn="just" eaLnBrk="1" hangingPunct="1">
              <a:lnSpc>
                <a:spcPct val="150000"/>
              </a:lnSpc>
              <a:buFont typeface="Wingdings 2" pitchFamily="18" charset="2"/>
              <a:buNone/>
            </a:pP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Виртуальная машина работает абсолютно так же, как физический компьютер, и содержит собственные виртуальные (т.е. программные) ЦП, ОЗУ, жесткий диск и сетевую интерфейсную карту (NIC).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7B1A3D35-301F-4A73-B7C2-0041FD9FDCA4}"/>
              </a:ext>
            </a:extLst>
          </p:cNvPr>
          <p:cNvSpPr/>
          <p:nvPr/>
        </p:nvSpPr>
        <p:spPr>
          <a:xfrm>
            <a:off x="533400" y="304800"/>
            <a:ext cx="8351837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altLang="ru-RU" sz="2400" i="0" dirty="0">
                <a:solidFill>
                  <a:schemeClr val="accent2">
                    <a:lumMod val="75000"/>
                  </a:schemeClr>
                </a:solidFill>
              </a:rPr>
              <a:t>Виртуальная машина</a:t>
            </a:r>
            <a:endParaRPr lang="ru-RU" sz="2400" i="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Содержимое 2"/>
          <p:cNvSpPr>
            <a:spLocks noGrp="1"/>
          </p:cNvSpPr>
          <p:nvPr>
            <p:ph idx="1"/>
          </p:nvPr>
        </p:nvSpPr>
        <p:spPr>
          <a:xfrm>
            <a:off x="684213" y="1125538"/>
            <a:ext cx="8280400" cy="5256212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 2" pitchFamily="18" charset="2"/>
              <a:buNone/>
            </a:pPr>
            <a:r>
              <a:rPr lang="ru-RU" altLang="ru-RU" sz="2200" dirty="0" smtClean="0">
                <a:latin typeface="Times New Roman" pitchFamily="18" charset="0"/>
                <a:cs typeface="Times New Roman" pitchFamily="18" charset="0"/>
              </a:rPr>
              <a:t>Виртуальные машины могут использоваться для: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 2" pitchFamily="18" charset="2"/>
              <a:buNone/>
            </a:pPr>
            <a:r>
              <a:rPr lang="ru-RU" altLang="ru-RU" sz="2200" dirty="0" smtClean="0">
                <a:latin typeface="Times New Roman" pitchFamily="18" charset="0"/>
                <a:cs typeface="Times New Roman" pitchFamily="18" charset="0"/>
              </a:rPr>
              <a:t>•   защиты информации и ограничения возможностей программ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 2" pitchFamily="18" charset="2"/>
              <a:buNone/>
            </a:pPr>
            <a:r>
              <a:rPr lang="ru-RU" altLang="ru-RU" sz="2200" dirty="0" smtClean="0">
                <a:latin typeface="Times New Roman" pitchFamily="18" charset="0"/>
                <a:cs typeface="Times New Roman" pitchFamily="18" charset="0"/>
              </a:rPr>
              <a:t>•   исследования производительности ПО или новой компьютерной  архитектуры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 2" pitchFamily="18" charset="2"/>
              <a:buNone/>
            </a:pPr>
            <a:r>
              <a:rPr lang="ru-RU" altLang="ru-RU" sz="2200" dirty="0" smtClean="0">
                <a:latin typeface="Times New Roman" pitchFamily="18" charset="0"/>
                <a:cs typeface="Times New Roman" pitchFamily="18" charset="0"/>
              </a:rPr>
              <a:t>•   эмуляции различных архитектур (например, эмулятор игровой приставки)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 2" pitchFamily="18" charset="2"/>
              <a:buNone/>
            </a:pPr>
            <a:r>
              <a:rPr lang="ru-RU" altLang="ru-RU" sz="2200" dirty="0" smtClean="0">
                <a:latin typeface="Times New Roman" pitchFamily="18" charset="0"/>
                <a:cs typeface="Times New Roman" pitchFamily="18" charset="0"/>
              </a:rPr>
              <a:t>•   вредоносного кода для управления инфицированной системой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 2" pitchFamily="18" charset="2"/>
              <a:buNone/>
            </a:pPr>
            <a:r>
              <a:rPr lang="ru-RU" altLang="ru-RU" sz="2200" dirty="0" smtClean="0">
                <a:latin typeface="Times New Roman" pitchFamily="18" charset="0"/>
                <a:cs typeface="Times New Roman" pitchFamily="18" charset="0"/>
              </a:rPr>
              <a:t>•   моделирования информационных систем с клиент-серверной архитектурой на одной ЭВМ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 2" pitchFamily="18" charset="2"/>
              <a:buNone/>
            </a:pPr>
            <a:r>
              <a:rPr lang="ru-RU" altLang="ru-RU" sz="2200" dirty="0" smtClean="0">
                <a:latin typeface="Times New Roman" pitchFamily="18" charset="0"/>
                <a:cs typeface="Times New Roman" pitchFamily="18" charset="0"/>
              </a:rPr>
              <a:t>•  тестирования и отладки системного программного обеспечения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441E6901-87E7-4F45-ACE2-E7B041552B2A}"/>
              </a:ext>
            </a:extLst>
          </p:cNvPr>
          <p:cNvSpPr/>
          <p:nvPr/>
        </p:nvSpPr>
        <p:spPr>
          <a:xfrm>
            <a:off x="468313" y="765175"/>
            <a:ext cx="8351837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altLang="ru-RU" sz="2400" i="0" dirty="0">
                <a:solidFill>
                  <a:schemeClr val="accent2">
                    <a:lumMod val="75000"/>
                  </a:schemeClr>
                </a:solidFill>
              </a:rPr>
              <a:t>Применение</a:t>
            </a:r>
            <a:endParaRPr lang="ru-RU" sz="2400" i="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Содержимое 2">
            <a:extLst>
              <a:ext uri="{FF2B5EF4-FFF2-40B4-BE49-F238E27FC236}">
                <a16:creationId xmlns="" xmlns:a16="http://schemas.microsoft.com/office/drawing/2014/main" id="{112AEFEC-7453-47D7-9F5E-A8A121F39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476250"/>
            <a:ext cx="8496300" cy="6192838"/>
          </a:xfrm>
        </p:spPr>
        <p:txBody>
          <a:bodyPr/>
          <a:lstStyle/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Font typeface="Wingdings 2" pitchFamily="18" charset="2"/>
              <a:buNone/>
              <a:defRPr/>
            </a:pPr>
            <a:r>
              <a:rPr lang="ru-RU" altLang="ru-RU" sz="2000" b="1" dirty="0">
                <a:solidFill>
                  <a:schemeClr val="accent2">
                    <a:lumMod val="75000"/>
                  </a:schemeClr>
                </a:solidFill>
                <a:cs typeface="Times New Roman" panose="02020603050405020304" pitchFamily="18" charset="0"/>
              </a:rPr>
              <a:t>Некоторые известные виртуальные машины:</a:t>
            </a:r>
          </a:p>
          <a:p>
            <a:pPr marL="0" indent="0" eaLnBrk="1" hangingPunct="1">
              <a:spcBef>
                <a:spcPct val="0"/>
              </a:spcBef>
              <a:buFont typeface="Wingdings 2" pitchFamily="18" charset="2"/>
              <a:buNone/>
              <a:defRPr/>
            </a:pPr>
            <a:endParaRPr lang="ru-RU" alt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47CE4786-5F59-46E2-AC6D-2BB5B786FC06}"/>
              </a:ext>
            </a:extLst>
          </p:cNvPr>
          <p:cNvSpPr/>
          <p:nvPr/>
        </p:nvSpPr>
        <p:spPr>
          <a:xfrm>
            <a:off x="468313" y="733425"/>
            <a:ext cx="8351837" cy="36988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="" xmlns:a16="http://schemas.microsoft.com/office/drawing/2014/main" id="{2F1BE84C-317F-439E-A92A-2EE0C233B1EB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219200"/>
          <a:ext cx="8064500" cy="43079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6021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3375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667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7974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Среды языков программирования</a:t>
                      </a:r>
                    </a:p>
                    <a:p>
                      <a:pPr marL="4572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 </a:t>
                      </a:r>
                      <a:endParaRPr lang="ru-RU" sz="700" dirty="0">
                        <a:effectLst/>
                      </a:endParaRPr>
                    </a:p>
                    <a:p>
                      <a:pPr marL="4572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 </a:t>
                      </a:r>
                      <a:endParaRPr lang="ru-RU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70" marR="4277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Операционные системы и гипервизоры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70" marR="4277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Автономные эмуляторы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70" marR="4277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64958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Common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Language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Runtime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Forth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Java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Virtual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Machine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>
                          <a:effectLst/>
                        </a:rPr>
                        <a:t>UCSD p-</a:t>
                      </a:r>
                      <a:r>
                        <a:rPr lang="ru-RU" sz="1600" dirty="0" err="1">
                          <a:effectLst/>
                        </a:rPr>
                        <a:t>System</a:t>
                      </a:r>
                      <a:endParaRPr lang="ru-RU" sz="1600" dirty="0">
                        <a:effectLst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 </a:t>
                      </a:r>
                      <a:endParaRPr lang="ru-RU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70" marR="4277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Icore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virtual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accounts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Kernel-based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Virtual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Machine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OpenVZ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Parallels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Virtuozzo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Containers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>
                          <a:effectLst/>
                        </a:rPr>
                        <a:t>User-</a:t>
                      </a:r>
                      <a:r>
                        <a:rPr lang="ru-RU" sz="1600" dirty="0" err="1">
                          <a:effectLst/>
                        </a:rPr>
                        <a:t>mode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Linux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VDSmanager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Virtual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Iron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>
                          <a:effectLst/>
                        </a:rPr>
                        <a:t>VM/CMS</a:t>
                      </a: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VMware</a:t>
                      </a:r>
                      <a:r>
                        <a:rPr lang="ru-RU" sz="1600" dirty="0">
                          <a:effectLst/>
                        </a:rPr>
                        <a:t> ESX</a:t>
                      </a:r>
                    </a:p>
                    <a:p>
                      <a:pPr marL="4572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70" marR="4277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bochs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DOSBox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Microsoft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Virtual</a:t>
                      </a:r>
                      <a:r>
                        <a:rPr lang="ru-RU" sz="1600" dirty="0">
                          <a:effectLst/>
                        </a:rPr>
                        <a:t> PC</a:t>
                      </a: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Parallels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Workstation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>
                          <a:effectLst/>
                        </a:rPr>
                        <a:t>QEMU</a:t>
                      </a: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VirtualBox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VMware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Fusion</a:t>
                      </a:r>
                      <a:endParaRPr lang="ru-RU" sz="1600" dirty="0">
                        <a:effectLst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ru-RU" sz="1600" dirty="0" err="1">
                          <a:effectLst/>
                        </a:rPr>
                        <a:t>VMware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Workstation</a:t>
                      </a:r>
                      <a:endParaRPr lang="ru-RU" sz="1600" dirty="0">
                        <a:effectLst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 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70" marR="4277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Содержимое 2"/>
          <p:cNvSpPr>
            <a:spLocks noGrp="1"/>
          </p:cNvSpPr>
          <p:nvPr>
            <p:ph idx="1"/>
          </p:nvPr>
        </p:nvSpPr>
        <p:spPr>
          <a:xfrm>
            <a:off x="642938" y="1133475"/>
            <a:ext cx="8393112" cy="5535613"/>
          </a:xfrm>
        </p:spPr>
        <p:txBody>
          <a:bodyPr/>
          <a:lstStyle/>
          <a:p>
            <a:pPr indent="0" algn="just">
              <a:lnSpc>
                <a:spcPct val="150000"/>
              </a:lnSpc>
              <a:spcAft>
                <a:spcPts val="800"/>
              </a:spcAft>
              <a:buFont typeface="Wingdings 2" pitchFamily="18" charset="2"/>
              <a:buNone/>
            </a:pP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Архитектура системы выглядит следующим образом:</a:t>
            </a:r>
            <a:endParaRPr lang="ru-RU" altLang="ru-RU" sz="20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indent="0" algn="just">
              <a:lnSpc>
                <a:spcPct val="150000"/>
              </a:lnSpc>
              <a:buFont typeface="Symbol" pitchFamily="18" charset="2"/>
              <a:buChar char=""/>
            </a:pPr>
            <a:r>
              <a:rPr lang="ru-RU" altLang="ru-RU" sz="2000" b="1" dirty="0" err="1" smtClean="0">
                <a:latin typeface="Times New Roman" pitchFamily="18" charset="0"/>
                <a:cs typeface="Times New Roman" pitchFamily="18" charset="0"/>
              </a:rPr>
              <a:t>хостовая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 операционная система и монитор виртуальных машин разделяют между собой права на управление аппаратными компонентами компьютера; </a:t>
            </a:r>
          </a:p>
          <a:p>
            <a:pPr indent="0" algn="just">
              <a:lnSpc>
                <a:spcPct val="150000"/>
              </a:lnSpc>
              <a:buFont typeface="Symbol" pitchFamily="18" charset="2"/>
              <a:buChar char=""/>
            </a:pPr>
            <a:r>
              <a:rPr lang="ru-RU" altLang="ru-RU" sz="2000" b="1" dirty="0" smtClean="0">
                <a:latin typeface="Times New Roman" pitchFamily="18" charset="0"/>
                <a:cs typeface="Times New Roman" pitchFamily="18" charset="0"/>
              </a:rPr>
              <a:t>монитор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 виртуальных машин контролирует распределение ресурсов между запущенными виртуальными машинами, создавая для них иллюзию непосредственного доступа к аппаратному уровню (этот механизм называют виртуализацией);</a:t>
            </a:r>
          </a:p>
          <a:p>
            <a:pPr indent="0" algn="just">
              <a:lnSpc>
                <a:spcPct val="150000"/>
              </a:lnSpc>
              <a:spcAft>
                <a:spcPts val="800"/>
              </a:spcAft>
              <a:buFont typeface="Symbol" pitchFamily="18" charset="2"/>
              <a:buChar char=""/>
            </a:pPr>
            <a:r>
              <a:rPr lang="ru-RU" altLang="ru-RU" sz="2000" b="1" dirty="0" smtClean="0">
                <a:latin typeface="Times New Roman" pitchFamily="18" charset="0"/>
                <a:cs typeface="Times New Roman" pitchFamily="18" charset="0"/>
              </a:rPr>
              <a:t>гостевые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 операционные системы в пределах выделенных им ресурсов управляют работой запущенных под их правлением приложений.</a:t>
            </a:r>
          </a:p>
          <a:p>
            <a:pPr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6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57237DDD-46C7-4A89-AC06-66452211D8A6}"/>
              </a:ext>
            </a:extLst>
          </p:cNvPr>
          <p:cNvSpPr/>
          <p:nvPr/>
        </p:nvSpPr>
        <p:spPr>
          <a:xfrm>
            <a:off x="395288" y="733425"/>
            <a:ext cx="8640762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altLang="ru-RU" sz="2000" i="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Архитектура системы виртуальных машин</a:t>
            </a:r>
            <a:endParaRPr lang="ru-RU" sz="2000" i="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Содержимое 2"/>
          <p:cNvSpPr>
            <a:spLocks noGrp="1"/>
          </p:cNvSpPr>
          <p:nvPr>
            <p:ph idx="1"/>
          </p:nvPr>
        </p:nvSpPr>
        <p:spPr>
          <a:xfrm>
            <a:off x="1222375" y="1266825"/>
            <a:ext cx="7921625" cy="5591175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Font typeface="Wingdings 2" pitchFamily="18" charset="2"/>
              <a:buNone/>
            </a:pPr>
            <a:endParaRPr lang="ru-RU" altLang="ru-RU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 2" pitchFamily="18" charset="2"/>
              <a:buNone/>
            </a:pPr>
            <a:r>
              <a:rPr lang="en-US" altLang="ru-RU" sz="22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altLang="ru-RU" sz="2200" dirty="0" smtClean="0">
                <a:latin typeface="Times New Roman" pitchFamily="18" charset="0"/>
                <a:cs typeface="Times New Roman" pitchFamily="18" charset="0"/>
              </a:rPr>
              <a:t>Гостевая операционная система — операционная система, работающая в виртуальной машине; на одном реальном компьютере может быть запущена одна </a:t>
            </a:r>
            <a:r>
              <a:rPr lang="ru-RU" altLang="ru-RU" sz="2200" dirty="0" err="1" smtClean="0">
                <a:latin typeface="Times New Roman" pitchFamily="18" charset="0"/>
                <a:cs typeface="Times New Roman" pitchFamily="18" charset="0"/>
              </a:rPr>
              <a:t>хостовая</a:t>
            </a:r>
            <a:r>
              <a:rPr lang="ru-RU" altLang="ru-RU" sz="2200" dirty="0" smtClean="0">
                <a:latin typeface="Times New Roman" pitchFamily="18" charset="0"/>
                <a:cs typeface="Times New Roman" pitchFamily="18" charset="0"/>
              </a:rPr>
              <a:t> и одна или множество гостевых операционных систем.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89C9CFCD-FF38-4C9D-A096-C22BF9B3898C}"/>
              </a:ext>
            </a:extLst>
          </p:cNvPr>
          <p:cNvSpPr/>
          <p:nvPr/>
        </p:nvSpPr>
        <p:spPr>
          <a:xfrm>
            <a:off x="611188" y="766763"/>
            <a:ext cx="8351837" cy="4016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altLang="ru-RU" sz="2000" i="0" dirty="0">
                <a:solidFill>
                  <a:schemeClr val="accent2">
                    <a:lumMod val="75000"/>
                  </a:schemeClr>
                </a:solidFill>
              </a:rPr>
              <a:t>Архитектура системы виртуальных машин</a:t>
            </a:r>
          </a:p>
        </p:txBody>
      </p:sp>
      <p:pic>
        <p:nvPicPr>
          <p:cNvPr id="14340" name="Picture 5" descr="C:\Users\User\Desktop\34795_44156313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813" y="1419225"/>
            <a:ext cx="5545137" cy="287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1"/>
          <p:cNvSpPr>
            <a:spLocks noGrp="1"/>
          </p:cNvSpPr>
          <p:nvPr>
            <p:ph type="title"/>
          </p:nvPr>
        </p:nvSpPr>
        <p:spPr>
          <a:xfrm>
            <a:off x="250825" y="404813"/>
            <a:ext cx="8569325" cy="719137"/>
          </a:xfrm>
        </p:spPr>
        <p:txBody>
          <a:bodyPr/>
          <a:lstStyle/>
          <a:p>
            <a:pPr algn="ctr"/>
            <a:r>
              <a:rPr lang="ru-RU" altLang="ru-RU" sz="2400" b="1" smtClean="0">
                <a:latin typeface="Times New Roman" pitchFamily="18" charset="0"/>
                <a:cs typeface="Times New Roman" pitchFamily="18" charset="0"/>
              </a:rPr>
              <a:t>Виртуальные машины и их операционные системы</a:t>
            </a:r>
          </a:p>
        </p:txBody>
      </p:sp>
      <p:sp>
        <p:nvSpPr>
          <p:cNvPr id="19459" name="Объект 2"/>
          <p:cNvSpPr>
            <a:spLocks noGrp="1"/>
          </p:cNvSpPr>
          <p:nvPr>
            <p:ph idx="1"/>
          </p:nvPr>
        </p:nvSpPr>
        <p:spPr>
          <a:xfrm>
            <a:off x="468313" y="1412875"/>
            <a:ext cx="8496300" cy="52832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Font typeface="Wingdings 2" pitchFamily="18" charset="2"/>
              <a:buNone/>
            </a:pPr>
            <a:r>
              <a:rPr lang="ru-RU" altLang="ru-RU" sz="2400" dirty="0" smtClean="0"/>
              <a:t>Существует большое количество различных программ для создания и управления виртуальными компьютерами. </a:t>
            </a:r>
          </a:p>
          <a:p>
            <a:pPr marL="0" indent="0" algn="just">
              <a:lnSpc>
                <a:spcPct val="150000"/>
              </a:lnSpc>
              <a:buFont typeface="Wingdings 2" pitchFamily="18" charset="2"/>
              <a:buNone/>
            </a:pPr>
            <a:endParaRPr lang="ru-RU" altLang="ru-RU" sz="2400" dirty="0" smtClean="0"/>
          </a:p>
          <a:p>
            <a:pPr marL="0" indent="0" algn="just">
              <a:lnSpc>
                <a:spcPct val="150000"/>
              </a:lnSpc>
              <a:buFont typeface="Wingdings 2" pitchFamily="18" charset="2"/>
              <a:buNone/>
            </a:pPr>
            <a:endParaRPr lang="ru-RU" altLang="ru-RU" sz="2000" dirty="0" smtClean="0"/>
          </a:p>
        </p:txBody>
      </p:sp>
      <p:pic>
        <p:nvPicPr>
          <p:cNvPr id="19460" name="Рисунок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3657600"/>
            <a:ext cx="759142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Заголовок 1"/>
          <p:cNvSpPr>
            <a:spLocks noGrp="1"/>
          </p:cNvSpPr>
          <p:nvPr>
            <p:ph type="title"/>
          </p:nvPr>
        </p:nvSpPr>
        <p:spPr>
          <a:xfrm>
            <a:off x="322263" y="476250"/>
            <a:ext cx="8713787" cy="649288"/>
          </a:xfrm>
        </p:spPr>
        <p:txBody>
          <a:bodyPr/>
          <a:lstStyle/>
          <a:p>
            <a:pPr algn="ctr"/>
            <a:r>
              <a:rPr lang="ru-RU" altLang="ru-RU" sz="2400" b="1" smtClean="0">
                <a:latin typeface="Times New Roman" pitchFamily="18" charset="0"/>
                <a:cs typeface="Times New Roman" pitchFamily="18" charset="0"/>
              </a:rPr>
              <a:t>Виртуальная машина </a:t>
            </a:r>
            <a:r>
              <a:rPr lang="en-US" altLang="ru-RU" sz="2400" b="1" smtClean="0">
                <a:latin typeface="Times New Roman" pitchFamily="18" charset="0"/>
                <a:cs typeface="Times New Roman" pitchFamily="18" charset="0"/>
              </a:rPr>
              <a:t>VirtualBox</a:t>
            </a:r>
            <a:endParaRPr lang="ru-RU" altLang="ru-RU" sz="2400" b="1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07" name="Объект 2">
            <a:extLst>
              <a:ext uri="{FF2B5EF4-FFF2-40B4-BE49-F238E27FC236}">
                <a16:creationId xmlns="" xmlns:a16="http://schemas.microsoft.com/office/drawing/2014/main" id="{34D80AC7-B90E-4ED8-925B-80B360A5F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412875"/>
            <a:ext cx="8712200" cy="5040313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Font typeface="Wingdings 2" pitchFamily="18" charset="2"/>
              <a:buNone/>
              <a:defRPr/>
            </a:pPr>
            <a:r>
              <a:rPr lang="ru-RU" altLang="ru-RU" sz="2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VirtualBox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виртуальная машина, на которую можно установить все самые популярные операционные системы.  </a:t>
            </a:r>
            <a:r>
              <a:rPr lang="ru-RU" alt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VirtualBox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поддерживает работу с </a:t>
            </a:r>
            <a:r>
              <a:rPr lang="ru-RU" alt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FreeBSD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OS. Среда виртуализации может быть установлена как для работы с операционными системами, так и для развертывания сетевой инфраструктуры и хостинга сайтов. </a:t>
            </a:r>
          </a:p>
          <a:p>
            <a:pPr marL="0" indent="0" algn="just">
              <a:lnSpc>
                <a:spcPct val="150000"/>
              </a:lnSpc>
              <a:buFont typeface="Wingdings 2" pitchFamily="18" charset="2"/>
              <a:buNone/>
              <a:defRPr/>
            </a:pP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помощью </a:t>
            </a:r>
            <a:r>
              <a:rPr lang="ru-RU" alt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VirtualBox</a:t>
            </a:r>
            <a:r>
              <a:rPr lang="ru-RU" alt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 сможете ознакомиться с функционалом ОС или же в безопасном режиме протестировать программу без вреда основной системе. Часто пользователи предпочитают устанавливать на виртуальные машины старые игры, которые несовместимы с современными ОС.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Заголовок 1">
            <a:extLst>
              <a:ext uri="{FF2B5EF4-FFF2-40B4-BE49-F238E27FC236}">
                <a16:creationId xmlns="" xmlns:a16="http://schemas.microsoft.com/office/drawing/2014/main" id="{0BC008A9-93B9-4E65-8CD2-A7D114F2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92150"/>
            <a:ext cx="8229600" cy="576263"/>
          </a:xfrm>
        </p:spPr>
        <p:txBody>
          <a:bodyPr/>
          <a:lstStyle/>
          <a:p>
            <a:pPr algn="ctr">
              <a:defRPr/>
            </a:pPr>
            <a:r>
              <a:rPr lang="en-US" altLang="ru-RU" sz="2800" b="1" dirty="0">
                <a:solidFill>
                  <a:srgbClr val="087786"/>
                </a:solidFill>
                <a:latin typeface="+mn-lt"/>
                <a:cs typeface="Times New Roman" panose="02020603050405020304" pitchFamily="18" charset="0"/>
              </a:rPr>
              <a:t>VirtualBox</a:t>
            </a:r>
            <a:endParaRPr lang="ru-RU" altLang="ru-RU" sz="2800" b="1" dirty="0">
              <a:solidFill>
                <a:srgbClr val="087786"/>
              </a:solidFill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="" xmlns:a16="http://schemas.microsoft.com/office/drawing/2014/main" id="{2AF83EFA-2F32-481B-8F40-C73F701F691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4213" y="1484313"/>
          <a:ext cx="6048375" cy="4364035"/>
        </p:xfrm>
        <a:graphic>
          <a:graphicData uri="http://schemas.openxmlformats.org/drawingml/2006/table">
            <a:tbl>
              <a:tblPr/>
              <a:tblGrid>
                <a:gridCol w="215971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8865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18655"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Тип</a:t>
                      </a: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Гипервизор</a:t>
                      </a:r>
                      <a:endParaRPr lang="ru-RU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8655"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Разработчик</a:t>
                      </a: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Oracle</a:t>
                      </a:r>
                      <a:endParaRPr lang="ru-RU" sz="200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8655"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Написана на</a:t>
                      </a:r>
                      <a:endParaRPr lang="ru-RU" sz="2000" u="non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ru-RU" sz="2000" u="none" strike="noStrike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и </a:t>
                      </a:r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ассемблер</a:t>
                      </a:r>
                      <a:endParaRPr lang="ru-RU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8655"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Интерфейс</a:t>
                      </a:r>
                      <a:endParaRPr lang="ru-RU" sz="2000" u="non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u="none" strike="noStrike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734827"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Операционная система</a:t>
                      </a:r>
                      <a:endParaRPr lang="ru-RU" sz="2000" u="non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Linux</a:t>
                      </a: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Windows</a:t>
                      </a: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sz="2000" u="none" strike="noStrike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macOS</a:t>
                      </a: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 </a:t>
                      </a:r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Solaris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18655"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Первый выпуск</a:t>
                      </a: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января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2007</a:t>
                      </a:r>
                      <a:endParaRPr lang="ru-RU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98623"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Последняя версия</a:t>
                      </a: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5.2.18 (</a:t>
                      </a:r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августа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18655"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Лицензия</a:t>
                      </a:r>
                      <a:endParaRPr lang="ru-RU" sz="2000" u="non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GNU GPL 2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18655"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Сайт</a:t>
                      </a: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virtualbox.org</a:t>
                      </a: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англ.)</a:t>
                      </a:r>
                    </a:p>
                  </a:txBody>
                  <a:tcPr marL="88923" marR="88923" marT="44466" marB="44466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1539" name="Picture 7" descr="Virtualbox 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025" y="1484313"/>
            <a:ext cx="2232025" cy="254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20B806C-0EAD-4AFD-BA7B-82A1D7642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92125"/>
          </a:xfrm>
        </p:spPr>
        <p:txBody>
          <a:bodyPr/>
          <a:lstStyle/>
          <a:p>
            <a:pPr algn="ctr">
              <a:defRPr/>
            </a:pPr>
            <a:r>
              <a:rPr lang="ru-RU" sz="2400" dirty="0">
                <a:latin typeface="+mn-lt"/>
              </a:rPr>
              <a:t>Виртуальная машина </a:t>
            </a:r>
            <a:r>
              <a:rPr lang="en-US" sz="2400" dirty="0">
                <a:latin typeface="+mn-lt"/>
              </a:rPr>
              <a:t>VMware</a:t>
            </a:r>
            <a:endParaRPr lang="ru-RU" sz="2400" dirty="0">
              <a:latin typeface="+mn-lt"/>
            </a:endParaRPr>
          </a:p>
        </p:txBody>
      </p:sp>
      <p:sp>
        <p:nvSpPr>
          <p:cNvPr id="22531" name="Объект 2"/>
          <p:cNvSpPr>
            <a:spLocks noGrp="1"/>
          </p:cNvSpPr>
          <p:nvPr>
            <p:ph idx="1"/>
          </p:nvPr>
        </p:nvSpPr>
        <p:spPr>
          <a:xfrm>
            <a:off x="457200" y="1196975"/>
            <a:ext cx="8435975" cy="5127625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Font typeface="Wingdings 2" pitchFamily="18" charset="2"/>
              <a:buNone/>
            </a:pPr>
            <a:r>
              <a:rPr lang="ru-RU" altLang="ru-RU" sz="2400" dirty="0" err="1" smtClean="0">
                <a:latin typeface="Times New Roman" pitchFamily="18" charset="0"/>
                <a:cs typeface="Times New Roman" pitchFamily="18" charset="0"/>
              </a:rPr>
              <a:t>VMware</a:t>
            </a: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 – это наиболее известная и распространенная виртуальная машина, как правило, используют для работы крупные площадки или корпорации.</a:t>
            </a:r>
          </a:p>
          <a:p>
            <a:pPr marL="0" indent="0" algn="just">
              <a:lnSpc>
                <a:spcPct val="150000"/>
              </a:lnSpc>
              <a:buFont typeface="Wingdings 2" pitchFamily="18" charset="2"/>
              <a:buNone/>
            </a:pP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Виртуальная машина </a:t>
            </a:r>
            <a:r>
              <a:rPr lang="ru-RU" altLang="ru-RU" sz="2400" dirty="0" err="1" smtClean="0">
                <a:latin typeface="Times New Roman" pitchFamily="18" charset="0"/>
                <a:cs typeface="Times New Roman" pitchFamily="18" charset="0"/>
              </a:rPr>
              <a:t>VMware</a:t>
            </a: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 поставляется в двух видах: </a:t>
            </a:r>
            <a:r>
              <a:rPr lang="ru-RU" altLang="ru-RU" sz="2400" dirty="0" err="1" smtClean="0">
                <a:latin typeface="Times New Roman" pitchFamily="18" charset="0"/>
                <a:cs typeface="Times New Roman" pitchFamily="18" charset="0"/>
              </a:rPr>
              <a:t>Workstation</a:t>
            </a: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altLang="ru-RU" sz="2400" dirty="0" err="1" smtClean="0">
                <a:latin typeface="Times New Roman" pitchFamily="18" charset="0"/>
                <a:cs typeface="Times New Roman" pitchFamily="18" charset="0"/>
              </a:rPr>
              <a:t>Player</a:t>
            </a: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, поддерживает работу с 32 и 64-битными системами, USB 3.0, установку различных операционных систем.</a:t>
            </a:r>
          </a:p>
          <a:p>
            <a:pPr marL="0" indent="0" algn="just">
              <a:lnSpc>
                <a:spcPct val="150000"/>
              </a:lnSpc>
              <a:buFont typeface="Wingdings 2" pitchFamily="18" charset="2"/>
              <a:buNone/>
            </a:pPr>
            <a:r>
              <a:rPr lang="ru-RU" altLang="ru-RU" sz="2400" dirty="0" err="1" smtClean="0">
                <a:latin typeface="Times New Roman" pitchFamily="18" charset="0"/>
                <a:cs typeface="Times New Roman" pitchFamily="18" charset="0"/>
              </a:rPr>
              <a:t>VMWare</a:t>
            </a: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 подойдет продвинутым пользователям, которые предпочитают выполнять настройки системы вручную.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E0AC0EF-227C-4654-9D53-72A964AF8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2150"/>
            <a:ext cx="8229600" cy="565150"/>
          </a:xfrm>
        </p:spPr>
        <p:txBody>
          <a:bodyPr/>
          <a:lstStyle/>
          <a:p>
            <a:pPr algn="ctr">
              <a:defRPr/>
            </a:pPr>
            <a:r>
              <a:rPr lang="en-US" sz="2800" dirty="0">
                <a:latin typeface="+mn-lt"/>
              </a:rPr>
              <a:t>VMware Workstation</a:t>
            </a:r>
            <a:endParaRPr lang="ru-RU" sz="2800" dirty="0">
              <a:latin typeface="+mn-lt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="" xmlns:a16="http://schemas.microsoft.com/office/drawing/2014/main" id="{B63C2267-D976-460E-850F-20DEC6212E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0388" y="1412875"/>
          <a:ext cx="5811837" cy="5275263"/>
        </p:xfrm>
        <a:graphic>
          <a:graphicData uri="http://schemas.openxmlformats.org/drawingml/2006/table">
            <a:tbl>
              <a:tblPr/>
              <a:tblGrid>
                <a:gridCol w="235543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563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34587">
                <a:tc>
                  <a:txBody>
                    <a:bodyPr/>
                    <a:lstStyle/>
                    <a:p>
                      <a:pPr fontAlgn="t"/>
                      <a:r>
                        <a:rPr lang="ru-RU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Тип</a:t>
                      </a: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Виртуальная машина</a:t>
                      </a:r>
                      <a:endParaRPr lang="ru-RU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4587">
                <a:tc>
                  <a:txBody>
                    <a:bodyPr/>
                    <a:lstStyle/>
                    <a:p>
                      <a:pPr fontAlgn="t"/>
                      <a:r>
                        <a:rPr lang="ru-RU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Разработчик</a:t>
                      </a: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VMware</a:t>
                      </a: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34587"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Написана на</a:t>
                      </a:r>
                      <a:endParaRPr lang="ru-RU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С,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96626"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ОС</a:t>
                      </a:r>
                      <a:endParaRPr lang="ru-RU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</a:t>
                      </a: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Linux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4587"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Первый выпуск</a:t>
                      </a: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1999</a:t>
                      </a:r>
                      <a:endParaRPr lang="ru-RU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01115"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Аппаратная платформа</a:t>
                      </a:r>
                      <a:endParaRPr lang="ru-RU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x86-64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701115">
                <a:tc>
                  <a:txBody>
                    <a:bodyPr/>
                    <a:lstStyle/>
                    <a:p>
                      <a:pPr fontAlgn="t"/>
                      <a:r>
                        <a:rPr lang="ru-RU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Последняя версия</a:t>
                      </a: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14.1.2 build-8497320</a:t>
                      </a:r>
                      <a:endParaRPr lang="ru-RU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fontAlgn="t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</a:t>
                      </a:r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мая</a:t>
                      </a:r>
                      <a:r>
                        <a:rPr lang="ru-RU" sz="2000" u="none" strike="noStrike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4587">
                <a:tc>
                  <a:txBody>
                    <a:bodyPr/>
                    <a:lstStyle/>
                    <a:p>
                      <a:pPr fontAlgn="t"/>
                      <a:r>
                        <a:rPr lang="ru-RU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Состояние</a:t>
                      </a: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активное</a:t>
                      </a: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768885"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Лицензия</a:t>
                      </a:r>
                      <a:endParaRPr lang="ru-RU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проприетарное программное обеспечение</a:t>
                      </a: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34587">
                <a:tc>
                  <a:txBody>
                    <a:bodyPr/>
                    <a:lstStyle/>
                    <a:p>
                      <a:pPr fontAlgn="t"/>
                      <a:r>
                        <a:rPr lang="ru-RU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Сайт</a:t>
                      </a: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vmware.com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5" marB="45725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23590" name="Picture 3" descr="VMware Workstation 11.0 ic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25" y="1412875"/>
            <a:ext cx="2592388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540F8B9-DDDE-42BD-83B2-D6CDA2C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92125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 sz="2800" dirty="0">
                <a:latin typeface="+mn-lt"/>
              </a:rPr>
              <a:t>Виртуальная машина </a:t>
            </a:r>
            <a:r>
              <a:rPr lang="ru-RU" sz="2800" dirty="0" err="1">
                <a:latin typeface="+mn-lt"/>
              </a:rPr>
              <a:t>Microsoft</a:t>
            </a:r>
            <a:r>
              <a:rPr lang="ru-RU" sz="2800" dirty="0">
                <a:latin typeface="+mn-lt"/>
              </a:rPr>
              <a:t> </a:t>
            </a:r>
            <a:r>
              <a:rPr lang="ru-RU" sz="2800" dirty="0" err="1">
                <a:latin typeface="+mn-lt"/>
              </a:rPr>
              <a:t>Virtual</a:t>
            </a:r>
            <a:r>
              <a:rPr lang="ru-RU" sz="2800" dirty="0">
                <a:latin typeface="+mn-lt"/>
              </a:rPr>
              <a:t> PC</a:t>
            </a:r>
          </a:p>
        </p:txBody>
      </p:sp>
      <p:sp>
        <p:nvSpPr>
          <p:cNvPr id="24579" name="Объект 2"/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512762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Font typeface="Wingdings 2" pitchFamily="18" charset="2"/>
              <a:buNone/>
            </a:pPr>
            <a:r>
              <a:rPr lang="ru-RU" altLang="ru-RU" sz="24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dirty="0" err="1" smtClean="0">
                <a:latin typeface="Times New Roman" pitchFamily="18" charset="0"/>
                <a:cs typeface="Times New Roman" pitchFamily="18" charset="0"/>
              </a:rPr>
              <a:t>Virtual</a:t>
            </a: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 PC – это еще один популярный эмулятор виртуальных машин. </a:t>
            </a:r>
          </a:p>
          <a:p>
            <a:pPr marL="0" indent="0" algn="just">
              <a:lnSpc>
                <a:spcPct val="150000"/>
              </a:lnSpc>
              <a:buFont typeface="Wingdings 2" pitchFamily="18" charset="2"/>
              <a:buNone/>
            </a:pP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Программа хорошо совместима со всеми версиями OS </a:t>
            </a:r>
            <a:r>
              <a:rPr lang="ru-RU" altLang="ru-RU" sz="24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Font typeface="Wingdings 2" pitchFamily="18" charset="2"/>
              <a:buNone/>
            </a:pP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Обладает широким функционалом и удобным интерфейсом, но у нее есть один большой недостаток – она работает только с операционными системами </a:t>
            </a:r>
            <a:r>
              <a:rPr lang="ru-RU" altLang="ru-RU" sz="24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 algn="just">
              <a:lnSpc>
                <a:spcPct val="150000"/>
              </a:lnSpc>
              <a:buFont typeface="Wingdings 2" pitchFamily="18" charset="2"/>
              <a:buNone/>
            </a:pP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На ней нельзя запустить </a:t>
            </a:r>
            <a:r>
              <a:rPr lang="ru-RU" altLang="ru-RU" sz="24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altLang="ru-RU" sz="2400" dirty="0" err="1" smtClean="0">
                <a:latin typeface="Times New Roman" pitchFamily="18" charset="0"/>
                <a:cs typeface="Times New Roman" pitchFamily="18" charset="0"/>
              </a:rPr>
              <a:t>Mac</a:t>
            </a:r>
            <a:r>
              <a:rPr lang="ru-RU" altLang="ru-RU" sz="2400" dirty="0" smtClean="0">
                <a:latin typeface="Times New Roman" pitchFamily="18" charset="0"/>
                <a:cs typeface="Times New Roman" pitchFamily="18" charset="0"/>
              </a:rPr>
              <a:t> OS.</a:t>
            </a:r>
          </a:p>
          <a:p>
            <a:pPr marL="0" indent="0">
              <a:buFont typeface="Wingdings 2" pitchFamily="18" charset="2"/>
              <a:buNone/>
            </a:pPr>
            <a:endParaRPr lang="ru-RU" altLang="ru-RU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A461F3E-9FB3-4FC9-B74E-592487F26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636588"/>
          </a:xfrm>
        </p:spPr>
        <p:txBody>
          <a:bodyPr/>
          <a:lstStyle/>
          <a:p>
            <a:pPr algn="ctr">
              <a:defRPr/>
            </a:pPr>
            <a:r>
              <a:rPr lang="en-US" sz="2800" b="1" dirty="0">
                <a:latin typeface="+mn-lt"/>
              </a:rPr>
              <a:t>Virtual PC</a:t>
            </a:r>
            <a:endParaRPr lang="ru-RU" sz="2800" b="1" dirty="0">
              <a:latin typeface="+mn-lt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="" xmlns:a16="http://schemas.microsoft.com/office/drawing/2014/main" id="{07A25AA2-8FC1-4D17-ADF7-68380C3638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1188" y="1557338"/>
          <a:ext cx="5905500" cy="5106843"/>
        </p:xfrm>
        <a:graphic>
          <a:graphicData uri="http://schemas.openxmlformats.org/drawingml/2006/table">
            <a:tbl>
              <a:tblPr/>
              <a:tblGrid>
                <a:gridCol w="250474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0075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43998">
                <a:tc>
                  <a:txBody>
                    <a:bodyPr/>
                    <a:lstStyle/>
                    <a:p>
                      <a:pPr fontAlgn="t"/>
                      <a:r>
                        <a:rPr lang="ru-RU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Тип</a:t>
                      </a:r>
                    </a:p>
                  </a:txBody>
                  <a:tcPr marL="91453" marR="91453" marT="45714" marB="4571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Сервер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виртуализации</a:t>
                      </a:r>
                      <a:endParaRPr lang="ru-RU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91453" marR="91453" marT="45714" marB="4571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43998">
                <a:tc>
                  <a:txBody>
                    <a:bodyPr/>
                    <a:lstStyle/>
                    <a:p>
                      <a:pPr fontAlgn="t"/>
                      <a:r>
                        <a:rPr lang="ru-RU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Разработчик</a:t>
                      </a:r>
                    </a:p>
                  </a:txBody>
                  <a:tcPr marL="91453" marR="91453" marT="45714" marB="4571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Microsoft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91453" marR="91453" marT="45714" marB="4571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01027"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Операционная система</a:t>
                      </a:r>
                      <a:endParaRPr lang="ru-RU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91453" marR="91453" marT="45714" marB="4571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Windows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91453" marR="91453" marT="45714" marB="4571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767993">
                <a:tc>
                  <a:txBody>
                    <a:bodyPr/>
                    <a:lstStyle/>
                    <a:p>
                      <a:pPr fontAlgn="t"/>
                      <a:r>
                        <a:rPr lang="ru-RU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Последняя версия</a:t>
                      </a:r>
                    </a:p>
                  </a:txBody>
                  <a:tcPr marL="91453" marR="91453" marT="45714" marB="4571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6.1.7600.16393 (Windows), </a:t>
                      </a:r>
                      <a:b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7.0.3 (Mac)</a:t>
                      </a:r>
                      <a:b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</a:t>
                      </a:r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февраля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2011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Windows), </a:t>
                      </a:r>
                      <a:b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</a:t>
                      </a:r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августа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2007</a:t>
                      </a:r>
                      <a:r>
                        <a:rPr lang="ru-RU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</a:t>
                      </a: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Mac))</a:t>
                      </a:r>
                    </a:p>
                  </a:txBody>
                  <a:tcPr marL="91453" marR="91453" marT="45714" marB="4571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951996"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Лицензия</a:t>
                      </a:r>
                      <a:endParaRPr lang="ru-RU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91453" marR="91453" marT="45714" marB="4571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Бесплатное программное обеспечение</a:t>
                      </a:r>
                      <a:endParaRPr lang="ru-RU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91453" marR="91453" marT="45714" marB="4571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43998">
                <a:tc>
                  <a:txBody>
                    <a:bodyPr/>
                    <a:lstStyle/>
                    <a:p>
                      <a:pPr fontAlgn="t"/>
                      <a:r>
                        <a:rPr lang="ru-RU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Сайт</a:t>
                      </a:r>
                    </a:p>
                  </a:txBody>
                  <a:tcPr marL="91453" marR="91453" marT="45714" marB="4571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microsoft.com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91453" marR="91453" marT="45714" marB="45714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5626" name="Picture 3" descr="Microsoft Virtual P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59563" y="1196975"/>
            <a:ext cx="2266950" cy="2579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Содержимое 2"/>
          <p:cNvSpPr>
            <a:spLocks noGrp="1"/>
          </p:cNvSpPr>
          <p:nvPr>
            <p:ph idx="1"/>
          </p:nvPr>
        </p:nvSpPr>
        <p:spPr>
          <a:xfrm>
            <a:off x="395288" y="1196975"/>
            <a:ext cx="8424862" cy="5327650"/>
          </a:xfrm>
        </p:spPr>
        <p:txBody>
          <a:bodyPr>
            <a:normAutofit fontScale="92500" lnSpcReduction="20000"/>
          </a:bodyPr>
          <a:lstStyle/>
          <a:p>
            <a:pPr marL="0" indent="342900" algn="just">
              <a:lnSpc>
                <a:spcPct val="150000"/>
              </a:lnSpc>
              <a:spcBef>
                <a:spcPts val="1200"/>
              </a:spcBef>
              <a:buFont typeface="Wingdings 2" pitchFamily="18" charset="2"/>
              <a:buNone/>
            </a:pP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Рассмотрим основные преимущества виртуализации:</a:t>
            </a:r>
          </a:p>
          <a:p>
            <a:pPr marL="0" indent="342900" algn="just">
              <a:lnSpc>
                <a:spcPct val="150000"/>
              </a:lnSpc>
              <a:spcBef>
                <a:spcPts val="1200"/>
              </a:spcBef>
            </a:pPr>
            <a:r>
              <a:rPr lang="ru-RU" altLang="ru-RU" sz="2600" dirty="0" smtClean="0">
                <a:latin typeface="Times New Roman" pitchFamily="18" charset="0"/>
                <a:cs typeface="Times New Roman" pitchFamily="18" charset="0"/>
              </a:rPr>
              <a:t>можно работать с устаревшими программными решениями и операционными системами;</a:t>
            </a:r>
          </a:p>
          <a:p>
            <a:pPr marL="0" indent="342900" algn="just">
              <a:lnSpc>
                <a:spcPct val="150000"/>
              </a:lnSpc>
              <a:spcBef>
                <a:spcPts val="1200"/>
              </a:spcBef>
            </a:pPr>
            <a:r>
              <a:rPr lang="ru-RU" altLang="ru-RU" sz="2600" dirty="0" smtClean="0">
                <a:latin typeface="Times New Roman" pitchFamily="18" charset="0"/>
                <a:cs typeface="Times New Roman" pitchFamily="18" charset="0"/>
              </a:rPr>
              <a:t>возможность создать защищенные пользовательские окружения для работы с сетью;</a:t>
            </a:r>
          </a:p>
          <a:p>
            <a:pPr marL="0" indent="342900" algn="just">
              <a:lnSpc>
                <a:spcPct val="150000"/>
              </a:lnSpc>
              <a:spcBef>
                <a:spcPts val="1200"/>
              </a:spcBef>
            </a:pPr>
            <a:r>
              <a:rPr lang="ru-RU" altLang="ru-RU" sz="2600" dirty="0" smtClean="0">
                <a:latin typeface="Times New Roman" pitchFamily="18" charset="0"/>
                <a:cs typeface="Times New Roman" pitchFamily="18" charset="0"/>
              </a:rPr>
              <a:t>несколько виртуальных машин, развернутых на физических ресурсах одного компьютера, изолированы друг от друга, таким образом, сбой одной из виртуальных машин не повлияет на доступность и работоспособность сервисов и приложений других;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0FD30BD5-D08B-48D0-B38A-1959A451A2E7}"/>
              </a:ext>
            </a:extLst>
          </p:cNvPr>
          <p:cNvSpPr/>
          <p:nvPr/>
        </p:nvSpPr>
        <p:spPr>
          <a:xfrm>
            <a:off x="643704" y="620688"/>
            <a:ext cx="7929618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sz="2400" i="0" dirty="0">
                <a:ln/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Преимущества виртуальных машин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4A87578-1DF6-4875-8717-B25D69E97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92125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 dirty="0"/>
              <a:t/>
            </a:r>
            <a:br>
              <a:rPr lang="ru-RU" dirty="0"/>
            </a:br>
            <a:r>
              <a:rPr lang="ru-RU" sz="2400" dirty="0">
                <a:latin typeface="+mn-lt"/>
              </a:rPr>
              <a:t>Преимущества виртуальных машин</a:t>
            </a:r>
            <a:endParaRPr lang="ru-RU" sz="2400" dirty="0"/>
          </a:p>
        </p:txBody>
      </p:sp>
      <p:sp>
        <p:nvSpPr>
          <p:cNvPr id="27651" name="Объект 2"/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5127625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ru-RU" altLang="ru-RU" sz="2800" dirty="0" smtClean="0">
                <a:latin typeface="Times New Roman" pitchFamily="18" charset="0"/>
                <a:cs typeface="Times New Roman" pitchFamily="18" charset="0"/>
              </a:rPr>
              <a:t>виртуальные машины идеально подходят для процессов обучения и переподготовки;</a:t>
            </a:r>
          </a:p>
          <a:p>
            <a:pPr algn="just">
              <a:lnSpc>
                <a:spcPct val="150000"/>
              </a:lnSpc>
            </a:pPr>
            <a:r>
              <a:rPr lang="ru-RU" altLang="ru-RU" sz="2800" dirty="0" smtClean="0">
                <a:latin typeface="Times New Roman" pitchFamily="18" charset="0"/>
                <a:cs typeface="Times New Roman" pitchFamily="18" charset="0"/>
              </a:rPr>
              <a:t>в рамках одной гостевой операционной системы может быть развернуто несколько виртуальных машин, объединенных в сеть и взаимодействующих между собой;</a:t>
            </a:r>
          </a:p>
          <a:p>
            <a:pPr algn="just">
              <a:lnSpc>
                <a:spcPct val="150000"/>
              </a:lnSpc>
            </a:pPr>
            <a:r>
              <a:rPr lang="ru-RU" altLang="ru-RU" sz="2800" dirty="0" smtClean="0">
                <a:latin typeface="Times New Roman" pitchFamily="18" charset="0"/>
                <a:cs typeface="Times New Roman" pitchFamily="18" charset="0"/>
              </a:rPr>
              <a:t>виртуальные машины могут создавать представления устройств, которых физически нет (эмуляция устройств).</a:t>
            </a:r>
          </a:p>
          <a:p>
            <a:endParaRPr lang="ru-RU" altLang="ru-RU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C1EFF06F-9326-467C-9210-00B0E3B3798F}"/>
              </a:ext>
            </a:extLst>
          </p:cNvPr>
          <p:cNvSpPr/>
          <p:nvPr/>
        </p:nvSpPr>
        <p:spPr>
          <a:xfrm>
            <a:off x="428625" y="634410"/>
            <a:ext cx="8242113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sz="2400" i="0" dirty="0">
                <a:ln/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Недостатки виртуальных машин</a:t>
            </a:r>
          </a:p>
        </p:txBody>
      </p:sp>
      <p:sp>
        <p:nvSpPr>
          <p:cNvPr id="28677" name="Прямоугольник 3"/>
          <p:cNvSpPr>
            <a:spLocks noChangeArrowheads="1"/>
          </p:cNvSpPr>
          <p:nvPr/>
        </p:nvSpPr>
        <p:spPr bwMode="auto">
          <a:xfrm>
            <a:off x="428625" y="1773238"/>
            <a:ext cx="85677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342900" algn="just" eaLnBrk="1" hangingPunct="1"/>
            <a:r>
              <a:rPr lang="ru-RU" altLang="ru-RU" sz="2000" b="0" i="0">
                <a:solidFill>
                  <a:srgbClr val="E5F4E0"/>
                </a:solidFill>
                <a:latin typeface="Arial" charset="0"/>
                <a:cs typeface="Times New Roman" pitchFamily="18" charset="0"/>
              </a:rPr>
              <a:t> </a:t>
            </a:r>
            <a:endParaRPr lang="ru-RU" altLang="ru-RU" sz="2000" b="0">
              <a:latin typeface="Arial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AFEFCA22-1021-4BB4-B9AA-E889C692E493}"/>
              </a:ext>
            </a:extLst>
          </p:cNvPr>
          <p:cNvSpPr/>
          <p:nvPr/>
        </p:nvSpPr>
        <p:spPr>
          <a:xfrm>
            <a:off x="428625" y="1166813"/>
            <a:ext cx="8242300" cy="51101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ru-RU" sz="2000" b="0" i="0" dirty="0">
                <a:cs typeface="Times New Roman" panose="02020603050405020304" pitchFamily="18" charset="0"/>
              </a:rPr>
              <a:t>Несмотря на то, что большая часть недостатков виртуальных машин разрешима, нельзя не упомянуть о них: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0" i="0" dirty="0">
                <a:cs typeface="Times New Roman" panose="02020603050405020304" pitchFamily="18" charset="0"/>
              </a:rPr>
              <a:t>обеспечение единовременной работы нескольких виртуальных машин потребует достаточного количества аппаратных мощностей;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0" i="0" dirty="0">
                <a:cs typeface="Times New Roman" panose="02020603050405020304" pitchFamily="18" charset="0"/>
              </a:rPr>
              <a:t>в зависимости от используемого решения, операционная система виртуальной машины может работать медленнее, чем на "чистом" аналогичном аппаратном обеспечении;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0" i="0" dirty="0">
                <a:cs typeface="Times New Roman" panose="02020603050405020304" pitchFamily="18" charset="0"/>
              </a:rPr>
              <a:t>различные платформы виртуализации не поддерживают виртуализацию всего аппаратного обеспечения и интерфейсов.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51C8D23F-38FD-495C-BCAA-CC5CE9794C21}"/>
              </a:ext>
            </a:extLst>
          </p:cNvPr>
          <p:cNvSpPr/>
          <p:nvPr/>
        </p:nvSpPr>
        <p:spPr>
          <a:xfrm>
            <a:off x="611560" y="908720"/>
            <a:ext cx="8215313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sz="2400" i="0" dirty="0">
                <a:ln/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Заключение</a:t>
            </a:r>
          </a:p>
        </p:txBody>
      </p:sp>
      <p:sp>
        <p:nvSpPr>
          <p:cNvPr id="29701" name="Прямоугольник 2"/>
          <p:cNvSpPr>
            <a:spLocks noChangeArrowheads="1"/>
          </p:cNvSpPr>
          <p:nvPr/>
        </p:nvSpPr>
        <p:spPr bwMode="auto">
          <a:xfrm>
            <a:off x="468313" y="1700213"/>
            <a:ext cx="8215312" cy="512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altLang="ru-RU" b="0" i="0" dirty="0">
                <a:latin typeface="Constantia" pitchFamily="18" charset="0"/>
              </a:rPr>
              <a:t>	</a:t>
            </a:r>
            <a:r>
              <a:rPr lang="ru-RU" altLang="ru-RU" sz="2000" b="0" i="0" dirty="0">
                <a:latin typeface="Constantia" pitchFamily="18" charset="0"/>
              </a:rPr>
              <a:t>В большинстве случаев виртуальные машины используются для тестирование программного обеспечения в разных операционных системах.   Для работы с несколькими ОС понадобится всего один компьютер, что существенно ускоряет работу. </a:t>
            </a:r>
          </a:p>
          <a:p>
            <a:pPr algn="just">
              <a:lnSpc>
                <a:spcPct val="150000"/>
              </a:lnSpc>
            </a:pPr>
            <a:r>
              <a:rPr lang="ru-RU" altLang="ru-RU" sz="2000" b="0" i="0" dirty="0">
                <a:latin typeface="Constantia" pitchFamily="18" charset="0"/>
              </a:rPr>
              <a:t>	На одном компьютере можно запустить одновременно несколько виртуальных машин. Их количество зависит от доступной оперативной памяти и места на </a:t>
            </a:r>
            <a:r>
              <a:rPr lang="ru-RU" altLang="ru-RU" sz="2000" b="0" i="0" dirty="0" err="1">
                <a:latin typeface="Constantia" pitchFamily="18" charset="0"/>
              </a:rPr>
              <a:t>жетском</a:t>
            </a:r>
            <a:r>
              <a:rPr lang="ru-RU" altLang="ru-RU" sz="2000" b="0" i="0" dirty="0">
                <a:latin typeface="Constantia" pitchFamily="18" charset="0"/>
              </a:rPr>
              <a:t> диске, так как виртуальная ОС потребляет точно такой же ресурс памяти, как и обычная инсталлированная на компьютере копия. </a:t>
            </a:r>
          </a:p>
          <a:p>
            <a:pPr algn="just">
              <a:lnSpc>
                <a:spcPct val="150000"/>
              </a:lnSpc>
            </a:pPr>
            <a:r>
              <a:rPr lang="ru-RU" altLang="ru-RU" b="0" i="0" dirty="0">
                <a:latin typeface="Constantia" pitchFamily="18" charset="0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690872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ru-RU" b="1" dirty="0"/>
              <a:t>Выполнение чистой загрузки ОС</a:t>
            </a:r>
          </a:p>
          <a:p>
            <a:pPr algn="just">
              <a:buNone/>
            </a:pPr>
            <a:r>
              <a:rPr lang="ru-RU" dirty="0"/>
              <a:t>		«Чистая» загрузка системы применяется для запуска </a:t>
            </a:r>
            <a:r>
              <a:rPr lang="ru-RU" dirty="0" err="1"/>
              <a:t>Windows</a:t>
            </a:r>
            <a:r>
              <a:rPr lang="ru-RU" dirty="0"/>
              <a:t> с минимальным набором драйверов и программ из автозагрузки. Это помогает устранить конфликты программного обеспечения, возникающие при установке программы или обновления либо при запуске программы в </a:t>
            </a:r>
            <a:r>
              <a:rPr lang="ru-RU" dirty="0" err="1"/>
              <a:t>Windows</a:t>
            </a:r>
            <a:r>
              <a:rPr lang="ru-RU" dirty="0"/>
              <a:t> 10, </a:t>
            </a:r>
            <a:r>
              <a:rPr lang="ru-RU" dirty="0" err="1"/>
              <a:t>Windows</a:t>
            </a:r>
            <a:r>
              <a:rPr lang="ru-RU" dirty="0"/>
              <a:t> 8.1, </a:t>
            </a:r>
            <a:r>
              <a:rPr lang="ru-RU" dirty="0" err="1"/>
              <a:t>Windows</a:t>
            </a:r>
            <a:r>
              <a:rPr lang="ru-RU" dirty="0"/>
              <a:t> 8, </a:t>
            </a:r>
            <a:r>
              <a:rPr lang="ru-RU" dirty="0" err="1"/>
              <a:t>Windows</a:t>
            </a:r>
            <a:r>
              <a:rPr lang="ru-RU" dirty="0"/>
              <a:t> 7 или </a:t>
            </a:r>
            <a:r>
              <a:rPr lang="ru-RU" dirty="0" err="1"/>
              <a:t>Windows</a:t>
            </a:r>
            <a:r>
              <a:rPr lang="ru-RU" dirty="0"/>
              <a:t> </a:t>
            </a:r>
            <a:r>
              <a:rPr lang="ru-RU" dirty="0" err="1"/>
              <a:t>Vista</a:t>
            </a:r>
            <a:r>
              <a:rPr lang="ru-RU" dirty="0"/>
              <a:t>. «Чистая» загрузка также позволяет устранить неполадки или выяснить, какой конфликт является причиной проблемы.</a:t>
            </a:r>
          </a:p>
          <a:p>
            <a:pPr algn="ctr"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Этап: Настройка и тестирование системы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/>
              <a:t>		Во время загрузки </a:t>
            </a:r>
            <a:r>
              <a:rPr lang="ru-RU" dirty="0" err="1"/>
              <a:t>Windows</a:t>
            </a:r>
            <a:r>
              <a:rPr lang="ru-RU" dirty="0"/>
              <a:t> в штатном режиме автоматически запускается несколько приложений и служб, которые потом работают в фоновом режиме. К ним относятся основные системные процессы, антивирусные программы, системные служебные программы и другое ранее установленное ПО. Эти приложения и службы могут быть причиной конфликтов ПО.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Почему возникают конфликты ПО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None/>
            </a:pPr>
            <a:r>
              <a:rPr lang="ru-RU" b="1" dirty="0"/>
              <a:t>		При запуске </a:t>
            </a:r>
            <a:r>
              <a:rPr lang="ru-RU" b="1" dirty="0" err="1"/>
              <a:t>Windows</a:t>
            </a:r>
            <a:r>
              <a:rPr lang="ru-RU" b="1" dirty="0"/>
              <a:t> таким способом:</a:t>
            </a:r>
            <a:endParaRPr lang="ru-RU" dirty="0"/>
          </a:p>
          <a:p>
            <a:pPr fontAlgn="base"/>
            <a:r>
              <a:rPr lang="ru-RU" b="1" dirty="0"/>
              <a:t>не загружаются ненужные службы;</a:t>
            </a:r>
            <a:endParaRPr lang="ru-RU" dirty="0"/>
          </a:p>
          <a:p>
            <a:pPr fontAlgn="base"/>
            <a:r>
              <a:rPr lang="ru-RU" b="1" dirty="0"/>
              <a:t>активируются только компоненты </a:t>
            </a:r>
            <a:r>
              <a:rPr lang="ru-RU" b="1" dirty="0" err="1"/>
              <a:t>Microsoft</a:t>
            </a:r>
            <a:r>
              <a:rPr lang="ru-RU" b="1" dirty="0"/>
              <a:t>;</a:t>
            </a:r>
            <a:endParaRPr lang="ru-RU" dirty="0"/>
          </a:p>
          <a:p>
            <a:pPr fontAlgn="base"/>
            <a:r>
              <a:rPr lang="ru-RU" b="1" dirty="0"/>
              <a:t>игнорируются программы из автозагрузки.</a:t>
            </a:r>
            <a:endParaRPr lang="ru-RU" dirty="0"/>
          </a:p>
          <a:p>
            <a:pPr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System Configuration -  General tab - Selective startup option check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394742"/>
            <a:ext cx="5181600" cy="34632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/>
              <a:t>		</a:t>
            </a:r>
            <a:r>
              <a:rPr lang="ru-RU"/>
              <a:t>Средство </a:t>
            </a:r>
            <a:r>
              <a:rPr lang="ru-RU" dirty="0"/>
              <a:t>проверки системных файлов – это служебная программа в </a:t>
            </a:r>
            <a:r>
              <a:rPr lang="ru-RU" dirty="0" err="1"/>
              <a:t>Windows</a:t>
            </a:r>
            <a:r>
              <a:rPr lang="ru-RU" dirty="0"/>
              <a:t>, позволяющая пользователям проверять системные файлы на отсутствие повреждений и восстанавливать поврежденные системные файлы.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Утилита </a:t>
            </a:r>
            <a:r>
              <a:rPr lang="en-US" dirty="0" err="1"/>
              <a:t>sfc</a:t>
            </a:r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r>
              <a:rPr lang="ru-RU" dirty="0" err="1"/>
              <a:t>Биос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Ребусики</a:t>
            </a:r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371600"/>
            <a:ext cx="5395913" cy="355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r>
              <a:rPr lang="ru-RU" dirty="0"/>
              <a:t>Утилита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Ребусики</a:t>
            </a:r>
            <a:endParaRPr lang="ru-R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3624" y="1981200"/>
            <a:ext cx="4767989" cy="272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r>
              <a:rPr lang="ru-RU" dirty="0"/>
              <a:t>Сканирование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Ребусики</a:t>
            </a:r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752600"/>
            <a:ext cx="7893024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r>
              <a:rPr lang="ru-RU" dirty="0"/>
              <a:t>Целостность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Ребусики</a:t>
            </a:r>
            <a:endParaRPr lang="ru-RU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752600"/>
            <a:ext cx="6127381" cy="303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r>
              <a:rPr lang="ru-RU" dirty="0"/>
              <a:t>Загрузка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Ребусики</a:t>
            </a:r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600200"/>
            <a:ext cx="5529263" cy="2915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r>
              <a:rPr lang="ru-RU" dirty="0"/>
              <a:t>Служба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Ребусики</a:t>
            </a:r>
            <a:endParaRPr lang="ru-RU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750" y="2243138"/>
            <a:ext cx="70485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r>
              <a:rPr lang="ru-RU" dirty="0" err="1"/>
              <a:t>айпи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Ребусики</a:t>
            </a:r>
            <a:endParaRPr lang="ru-RU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47875" y="2419350"/>
            <a:ext cx="5048250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r>
              <a:rPr lang="ru-RU" dirty="0"/>
              <a:t>сетевой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Ребусики</a:t>
            </a:r>
            <a:endParaRPr lang="ru-R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3925" y="2105025"/>
            <a:ext cx="729615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r>
              <a:rPr lang="ru-RU" dirty="0" err="1"/>
              <a:t>маршрутизатор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Ребусики</a:t>
            </a:r>
            <a:endParaRPr lang="ru-RU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138" y="2095500"/>
            <a:ext cx="77057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r>
              <a:rPr lang="ru-RU" dirty="0"/>
              <a:t>Подключение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Ребусики</a:t>
            </a:r>
            <a:endParaRPr lang="ru-RU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257425"/>
            <a:ext cx="7772400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978091"/>
          </a:xfrm>
        </p:spPr>
        <p:txBody>
          <a:bodyPr/>
          <a:lstStyle/>
          <a:p>
            <a:r>
              <a:rPr lang="ru-RU"/>
              <a:t>Драйвера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Ребусики</a:t>
            </a:r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676400"/>
            <a:ext cx="6705600" cy="3043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2141</TotalTime>
  <Words>732</Words>
  <Application>Microsoft Office PowerPoint</Application>
  <PresentationFormat>Экран (4:3)</PresentationFormat>
  <Paragraphs>193</Paragraphs>
  <Slides>33</Slides>
  <Notes>3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4" baseType="lpstr">
      <vt:lpstr>Открытая</vt:lpstr>
      <vt:lpstr>Установка и создание в системе виртуальной машины для исполнения приложений.</vt:lpstr>
      <vt:lpstr>Слайд 2</vt:lpstr>
      <vt:lpstr>Слайд 3</vt:lpstr>
      <vt:lpstr>Слайд 4</vt:lpstr>
      <vt:lpstr>Слайд 5</vt:lpstr>
      <vt:lpstr>Слайд 6</vt:lpstr>
      <vt:lpstr>Слайд 7</vt:lpstr>
      <vt:lpstr>Виртуальные машины и их операционные системы</vt:lpstr>
      <vt:lpstr>Виртуальная машина VirtualBox</vt:lpstr>
      <vt:lpstr>VirtualBox</vt:lpstr>
      <vt:lpstr>Виртуальная машина VMware</vt:lpstr>
      <vt:lpstr>VMware Workstation</vt:lpstr>
      <vt:lpstr>Виртуальная машина Microsoft Virtual PC</vt:lpstr>
      <vt:lpstr>Virtual PC</vt:lpstr>
      <vt:lpstr>Слайд 15</vt:lpstr>
      <vt:lpstr> Преимущества виртуальных машин</vt:lpstr>
      <vt:lpstr>Слайд 17</vt:lpstr>
      <vt:lpstr>Слайд 18</vt:lpstr>
      <vt:lpstr>Этап: Настройка и тестирование системы</vt:lpstr>
      <vt:lpstr>Почему возникают конфликты ПО</vt:lpstr>
      <vt:lpstr>Слайд 21</vt:lpstr>
      <vt:lpstr>Утилита sfc</vt:lpstr>
      <vt:lpstr>Ребусики</vt:lpstr>
      <vt:lpstr>Ребусики</vt:lpstr>
      <vt:lpstr>Ребусики</vt:lpstr>
      <vt:lpstr>Ребусики</vt:lpstr>
      <vt:lpstr>Ребусики</vt:lpstr>
      <vt:lpstr>Ребусики</vt:lpstr>
      <vt:lpstr>Ребусики</vt:lpstr>
      <vt:lpstr>Ребусики</vt:lpstr>
      <vt:lpstr>Ребусики</vt:lpstr>
      <vt:lpstr>Ребусики</vt:lpstr>
      <vt:lpstr>Ребусики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МДК. 04.01 Внедрение и поддержка компьютерных систем</dc:title>
  <dc:creator>Кирилл</dc:creator>
  <cp:lastModifiedBy>Кирилл</cp:lastModifiedBy>
  <cp:revision>78</cp:revision>
  <dcterms:created xsi:type="dcterms:W3CDTF">2018-01-11T05:40:38Z</dcterms:created>
  <dcterms:modified xsi:type="dcterms:W3CDTF">2023-02-09T05:31:53Z</dcterms:modified>
</cp:coreProperties>
</file>