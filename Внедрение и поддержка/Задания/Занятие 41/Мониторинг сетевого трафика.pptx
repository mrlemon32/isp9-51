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68" r:id="rId3"/>
    <p:sldId id="269" r:id="rId4"/>
    <p:sldId id="270" r:id="rId5"/>
    <p:sldId id="271" r:id="rId6"/>
    <p:sldId id="272" r:id="rId7"/>
    <p:sldId id="256" r:id="rId8"/>
    <p:sldId id="257" r:id="rId9"/>
    <p:sldId id="258" r:id="rId10"/>
    <p:sldId id="259" r:id="rId11"/>
    <p:sldId id="260" r:id="rId12"/>
    <p:sldId id="261" r:id="rId13"/>
    <p:sldId id="264" r:id="rId14"/>
    <p:sldId id="262" r:id="rId15"/>
    <p:sldId id="263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6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 smtClean="0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4/15/2019</a:t>
            </a:fld>
            <a:endParaRPr lang="en-US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4/15/2019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4/15/2019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4/15/2019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4/15/2019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4/15/2019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4/15/2019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4/15/2019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 smtClean="0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4/15/2019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4/15/2019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ru-RU" smtClean="0"/>
              <a:t>Образец текста</a:t>
            </a:r>
          </a:p>
          <a:p>
            <a:pPr lvl="1" eaLnBrk="1" latinLnBrk="0" hangingPunct="1"/>
            <a:r>
              <a:rPr lang="ru-RU" smtClean="0"/>
              <a:t>Второй уровень</a:t>
            </a:r>
          </a:p>
          <a:p>
            <a:pPr lvl="2" eaLnBrk="1" latinLnBrk="0" hangingPunct="1"/>
            <a:r>
              <a:rPr lang="ru-RU" smtClean="0"/>
              <a:t>Третий уровень</a:t>
            </a:r>
          </a:p>
          <a:p>
            <a:pPr lvl="3" eaLnBrk="1" latinLnBrk="0" hangingPunct="1"/>
            <a:r>
              <a:rPr lang="ru-RU" smtClean="0"/>
              <a:t>Четвертый уровень</a:t>
            </a:r>
          </a:p>
          <a:p>
            <a:pPr lvl="4" eaLnBrk="1" latinLnBrk="0" hangingPunct="1"/>
            <a:r>
              <a:rPr lang="ru-RU" smtClean="0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7EAF463A-BC7C-46EE-9F1E-7F377CCA4891}" type="datetimeFigureOut">
              <a:rPr lang="en-US" smtClean="0"/>
              <a:pPr/>
              <a:t>4/15/2019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ru-RU" smtClean="0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ru-RU" smtClean="0"/>
              <a:t>Образец текста</a:t>
            </a:r>
          </a:p>
          <a:p>
            <a:pPr lvl="1" eaLnBrk="1" latinLnBrk="0" hangingPunct="1"/>
            <a:r>
              <a:rPr kumimoji="0" lang="ru-RU" smtClean="0"/>
              <a:t>Второй уровень</a:t>
            </a:r>
          </a:p>
          <a:p>
            <a:pPr lvl="2" eaLnBrk="1" latinLnBrk="0" hangingPunct="1"/>
            <a:r>
              <a:rPr kumimoji="0" lang="ru-RU" smtClean="0"/>
              <a:t>Третий уровень</a:t>
            </a:r>
          </a:p>
          <a:p>
            <a:pPr lvl="3" eaLnBrk="1" latinLnBrk="0" hangingPunct="1"/>
            <a:r>
              <a:rPr kumimoji="0" lang="ru-RU" smtClean="0"/>
              <a:t>Четвертый уровень</a:t>
            </a:r>
          </a:p>
          <a:p>
            <a:pPr lvl="4" eaLnBrk="1" latinLnBrk="0" hangingPunct="1"/>
            <a:r>
              <a:rPr kumimoji="0" lang="ru-RU" smtClean="0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4/15/2019</a:t>
            </a:fld>
            <a:endParaRPr lang="en-US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err="1" smtClean="0"/>
              <a:t>Ребусики</a:t>
            </a:r>
            <a:endParaRPr lang="ru-RU" dirty="0"/>
          </a:p>
        </p:txBody>
      </p:sp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2568" y="1826712"/>
            <a:ext cx="8224231" cy="3202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Сетевая ОС</a:t>
            </a:r>
            <a:endParaRPr lang="ru-RU" dirty="0"/>
          </a:p>
        </p:txBody>
      </p:sp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287" y="1905000"/>
            <a:ext cx="8888713" cy="2981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 smtClean="0"/>
              <a:t>Прокси</a:t>
            </a:r>
            <a:endParaRPr lang="ru-RU" dirty="0"/>
          </a:p>
        </p:txBody>
      </p:sp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2514600"/>
            <a:ext cx="9264232" cy="3309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Планирование</a:t>
            </a:r>
            <a:endParaRPr lang="ru-RU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2514600"/>
            <a:ext cx="7910313" cy="2366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Диспетчеризация</a:t>
            </a:r>
            <a:endParaRPr lang="ru-RU" dirty="0"/>
          </a:p>
        </p:txBody>
      </p:sp>
      <p:pic>
        <p:nvPicPr>
          <p:cNvPr id="256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2209800"/>
            <a:ext cx="6265731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1" y="2197344"/>
            <a:ext cx="2590800" cy="2098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Сетевой трафик</a:t>
            </a:r>
            <a:endParaRPr lang="ru-RU" dirty="0"/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28800" y="2133600"/>
            <a:ext cx="5476875" cy="181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3886200"/>
            <a:ext cx="3933134" cy="1533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6" name="Picture 6" descr="ÐÐ°ÑÑÐ¸Ð½ÐºÐ¸ Ð¿Ð¾ Ð·Ð°Ð¿ÑÐ¾ÑÑ ÐºÐ¾Ð¼Ð¿ÑÑÑÐµÑÐ½ÑÐµ ÑÐµÑÐ¸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0"/>
            <a:ext cx="3810000" cy="28575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71600" y="3200400"/>
            <a:ext cx="7772400" cy="1829761"/>
          </a:xfrm>
        </p:spPr>
        <p:txBody>
          <a:bodyPr/>
          <a:lstStyle/>
          <a:p>
            <a:r>
              <a:rPr lang="ru-RU" dirty="0" smtClean="0"/>
              <a:t>Мониторинг сетевого трафика</a:t>
            </a:r>
            <a:endParaRPr lang="ru-RU" dirty="0"/>
          </a:p>
        </p:txBody>
      </p:sp>
      <p:pic>
        <p:nvPicPr>
          <p:cNvPr id="20482" name="Picture 2" descr="ÐÐ°ÑÑÐ¸Ð½ÐºÐ¸ Ð¿Ð¾ Ð·Ð°Ð¿ÑÐ¾ÑÑ ÐºÐ¾Ð¼Ð¿ÑÑÑÐµÑÐ½ÑÐµ ÑÐµÑÐ¸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533400"/>
            <a:ext cx="2381250" cy="1876425"/>
          </a:xfrm>
          <a:prstGeom prst="rect">
            <a:avLst/>
          </a:prstGeom>
          <a:noFill/>
        </p:spPr>
      </p:pic>
      <p:pic>
        <p:nvPicPr>
          <p:cNvPr id="20484" name="Picture 4" descr="ÐÐ°ÑÑÐ¸Ð½ÐºÐ¸ Ð¿Ð¾ Ð·Ð°Ð¿ÑÐ¾ÑÑ ÐºÐ¾Ð¼Ð¿ÑÑÑÐµÑÐ½ÑÐµ ÑÐµÑÐ¸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86500" y="533400"/>
            <a:ext cx="2857500" cy="20764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626291"/>
          </a:xfrm>
        </p:spPr>
        <p:txBody>
          <a:bodyPr/>
          <a:lstStyle/>
          <a:p>
            <a:pPr algn="just">
              <a:buNone/>
            </a:pPr>
            <a:r>
              <a:rPr lang="ru-RU" b="1" dirty="0" smtClean="0"/>
              <a:t>		Мониторинг компьютерной сети </a:t>
            </a:r>
            <a:r>
              <a:rPr lang="ru-RU" dirty="0" smtClean="0"/>
              <a:t>— это непрерывный процесс наблюдения за цифровой сетью с целью своевременного обнаружения в ней неисправностей и ошибок с быстрой и адекватной реакцией на них.</a:t>
            </a:r>
            <a:endParaRPr lang="ru-RU" dirty="0"/>
          </a:p>
        </p:txBody>
      </p:sp>
      <p:pic>
        <p:nvPicPr>
          <p:cNvPr id="19458" name="Picture 2" descr="ÐÐ°ÑÑÐ¸Ð½ÐºÐ¸ Ð¿Ð¾ Ð·Ð°Ð¿ÑÐ¾ÑÑ ÐºÐ¾Ð¼Ð¿ÑÑÑÐµÑÐ½ÑÐµ ÑÐµÑÐ¸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3190875"/>
            <a:ext cx="5867400" cy="3667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ÐÐ°ÑÑÐ¸Ð½ÐºÐ¸ Ð¿Ð¾ Ð·Ð°Ð¿ÑÐ¾ÑÑ ÐºÐ¾Ð¼Ð¿ÑÑÑÐµÑÐ½ÑÐµ ÑÐµÑÐ¸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10200" y="4818592"/>
            <a:ext cx="3124200" cy="2039408"/>
          </a:xfrm>
          <a:prstGeom prst="rect">
            <a:avLst/>
          </a:prstGeom>
          <a:noFill/>
        </p:spPr>
      </p:pic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4995672"/>
          </a:xfrm>
        </p:spPr>
        <p:txBody>
          <a:bodyPr>
            <a:normAutofit fontScale="85000" lnSpcReduction="10000"/>
          </a:bodyPr>
          <a:lstStyle/>
          <a:p>
            <a:pPr algn="just" fontAlgn="base"/>
            <a:r>
              <a:rPr lang="ru-RU" b="1" dirty="0" smtClean="0"/>
              <a:t>Системы управления сетью</a:t>
            </a:r>
            <a:r>
              <a:rPr lang="ru-RU" dirty="0" smtClean="0"/>
              <a:t> – ПО, собирающее информацию о процессах в сети и о работе аппаратной ее части. Осуществляют мониторинг трафика сети. Имеют возможность самостоятельно, в автоматическом режиме реагировать на изменения в работе сетевого оборудования.</a:t>
            </a:r>
          </a:p>
          <a:p>
            <a:pPr algn="just" fontAlgn="base"/>
            <a:r>
              <a:rPr lang="ru-RU" b="1" dirty="0" smtClean="0"/>
              <a:t>Интегрированные системы анализа и управления</a:t>
            </a:r>
            <a:r>
              <a:rPr lang="ru-RU" dirty="0" smtClean="0"/>
              <a:t>. Устанавливаются как в аппаратную, так и программную среду системы. В отличие от систем управления сетью, проводящих мониторинг в комплексе, интегрированные системы, предназначены для контроля над определенными устройствами, отрезками коммуникаций и программами в сети.</a:t>
            </a:r>
          </a:p>
          <a:p>
            <a:pPr algn="just">
              <a:buNone/>
            </a:pP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914400" y="0"/>
            <a:ext cx="8229600" cy="762000"/>
          </a:xfrm>
        </p:spPr>
        <p:txBody>
          <a:bodyPr>
            <a:normAutofit/>
          </a:bodyPr>
          <a:lstStyle/>
          <a:p>
            <a:r>
              <a:rPr lang="ru-RU" dirty="0" smtClean="0"/>
              <a:t>Методы мониторинга сети</a:t>
            </a:r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76200"/>
            <a:ext cx="8229600" cy="5931091"/>
          </a:xfrm>
        </p:spPr>
        <p:txBody>
          <a:bodyPr>
            <a:normAutofit/>
          </a:bodyPr>
          <a:lstStyle/>
          <a:p>
            <a:pPr algn="just" fontAlgn="base"/>
            <a:r>
              <a:rPr lang="ru-RU" b="1" dirty="0" smtClean="0"/>
              <a:t>Анализаторы протоколов</a:t>
            </a:r>
            <a:r>
              <a:rPr lang="ru-RU" dirty="0" smtClean="0"/>
              <a:t>. Системы, задача которых исключительно в мониторинге сетевого трафика. Различаются по объемам пакетов захваченного для анализа трафика и возможностям последующего декодирования, для подачи информации администратору сетей в удобном виде.</a:t>
            </a:r>
          </a:p>
          <a:p>
            <a:pPr algn="just" fontAlgn="base"/>
            <a:r>
              <a:rPr lang="ru-RU" b="1" dirty="0" smtClean="0"/>
              <a:t>Кабельное оборудование</a:t>
            </a:r>
            <a:r>
              <a:rPr lang="ru-RU" dirty="0" smtClean="0"/>
              <a:t> для тестирования и сертификации. Аппаратный элемент мониторинга для получения актуальных данных кабельных сетей.</a:t>
            </a:r>
          </a:p>
          <a:p>
            <a:pPr algn="just"/>
            <a:endParaRPr lang="ru-RU" dirty="0"/>
          </a:p>
        </p:txBody>
      </p:sp>
      <p:pic>
        <p:nvPicPr>
          <p:cNvPr id="5122" name="Picture 2" descr="ÐÐ°ÑÑÐ¸Ð½ÐºÐ¸ Ð¿Ð¾ Ð·Ð°Ð¿ÑÐ¾ÑÑ ÐºÐ¾Ð¼Ð¿ÑÑÑÐµÑÐ½ÑÐµ ÑÐµÑÐ¸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4419600"/>
            <a:ext cx="3143250" cy="20955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228600" y="152400"/>
            <a:ext cx="8458200" cy="5943600"/>
          </a:xfrm>
        </p:spPr>
        <p:txBody>
          <a:bodyPr/>
          <a:lstStyle/>
          <a:p>
            <a:pPr algn="just"/>
            <a:r>
              <a:rPr lang="ru-RU" b="1" dirty="0" smtClean="0"/>
              <a:t>Экспертные системы</a:t>
            </a:r>
            <a:r>
              <a:rPr lang="ru-RU" dirty="0" smtClean="0"/>
              <a:t>. Собрание человеческого опыта о сетевых инцидентах и возможных вариантах их исправления. По сути, интегрированные в мониторинговые системы базы данных. Однако современные экспертные системы все чаще имеют элементы искусственного интеллекта.</a:t>
            </a:r>
          </a:p>
          <a:p>
            <a:pPr algn="just"/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381000" y="838200"/>
            <a:ext cx="8229600" cy="4525963"/>
          </a:xfrm>
        </p:spPr>
        <p:txBody>
          <a:bodyPr>
            <a:normAutofit lnSpcReduction="10000"/>
          </a:bodyPr>
          <a:lstStyle/>
          <a:p>
            <a:pPr algn="just">
              <a:buNone/>
            </a:pPr>
            <a:r>
              <a:rPr lang="ru-RU" dirty="0" smtClean="0"/>
              <a:t>		Анализатор протоколов представляет собой персональный компьютер, оснащенный сетевой картой и соответствующим программным обеспечением.</a:t>
            </a:r>
          </a:p>
          <a:p>
            <a:pPr algn="just">
              <a:buNone/>
            </a:pPr>
            <a:r>
              <a:rPr lang="ru-RU" dirty="0" smtClean="0"/>
              <a:t>		Программное обеспечение анализатора состоит из ядра, поддерживающего работу сетевого адаптера и декодирующего получаемые данные, и дополнительного программного кода, зависящего от типа топологии исследуемой сети.</a:t>
            </a: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pPr algn="ctr"/>
            <a:r>
              <a:rPr lang="ru-RU" dirty="0" smtClean="0"/>
              <a:t>Анализаторы протоколов</a:t>
            </a:r>
            <a:endParaRPr lang="ru-RU" dirty="0"/>
          </a:p>
        </p:txBody>
      </p:sp>
      <p:pic>
        <p:nvPicPr>
          <p:cNvPr id="3074" name="Picture 2" descr="ÐÐ°ÑÑÐ¸Ð½ÐºÐ¸ Ð¿Ð¾ Ð·Ð°Ð¿ÑÐ¾ÑÑ wireshark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4800600"/>
            <a:ext cx="2439365" cy="18288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21506" name="Picture 2" descr="ÐÐ°ÑÑÐ¸Ð½ÐºÐ¸ Ð¿Ð¾ Ð·Ð°Ð¿ÑÐ¾ÑÑ wireshark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85800"/>
            <a:ext cx="9182899" cy="5181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381000" y="609600"/>
            <a:ext cx="8305800" cy="4953000"/>
          </a:xfrm>
        </p:spPr>
        <p:txBody>
          <a:bodyPr>
            <a:normAutofit lnSpcReduction="10000"/>
          </a:bodyPr>
          <a:lstStyle/>
          <a:p>
            <a:pPr algn="just"/>
            <a:r>
              <a:rPr lang="ru-RU" b="1" i="1" dirty="0" smtClean="0"/>
              <a:t>Дружелюбный пользовательский интерфейс. </a:t>
            </a:r>
          </a:p>
          <a:p>
            <a:pPr algn="just"/>
            <a:r>
              <a:rPr lang="ru-RU" b="1" i="1" dirty="0" smtClean="0"/>
              <a:t>Буфер захвата</a:t>
            </a:r>
            <a:r>
              <a:rPr lang="ru-RU" b="1" dirty="0" smtClean="0"/>
              <a:t>. </a:t>
            </a:r>
          </a:p>
          <a:p>
            <a:pPr algn="just"/>
            <a:r>
              <a:rPr lang="ru-RU" b="1" i="1" dirty="0" smtClean="0"/>
              <a:t>Фильтры.</a:t>
            </a:r>
            <a:r>
              <a:rPr lang="ru-RU" i="1" dirty="0" smtClean="0"/>
              <a:t> </a:t>
            </a:r>
            <a:r>
              <a:rPr lang="ru-RU" dirty="0" smtClean="0"/>
              <a:t>Фильтры позволяют управлять процессом захвата данных, и, тем самым, позволяют экономить пространство буфера</a:t>
            </a:r>
          </a:p>
          <a:p>
            <a:pPr algn="just"/>
            <a:r>
              <a:rPr lang="ru-RU" b="1" i="1" dirty="0" smtClean="0"/>
              <a:t>Переключатели</a:t>
            </a:r>
            <a:r>
              <a:rPr lang="ru-RU" b="1" dirty="0" smtClean="0"/>
              <a:t> </a:t>
            </a:r>
            <a:r>
              <a:rPr lang="ru-RU" dirty="0" smtClean="0"/>
              <a:t>- это задаваемые оператором некоторые условия начала и прекращения процесса захвата данных из сети. </a:t>
            </a:r>
          </a:p>
          <a:p>
            <a:pPr algn="just"/>
            <a:r>
              <a:rPr lang="ru-RU" b="1" i="1" dirty="0" smtClean="0"/>
              <a:t>Поиск</a:t>
            </a:r>
            <a:r>
              <a:rPr lang="ru-RU" b="1" dirty="0" smtClean="0"/>
              <a:t>. </a:t>
            </a:r>
            <a:r>
              <a:rPr lang="ru-RU" dirty="0" smtClean="0"/>
              <a:t>Автоматизация просмотра полученных данных</a:t>
            </a:r>
          </a:p>
          <a:p>
            <a:pPr algn="just"/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>
            <a:noAutofit/>
          </a:bodyPr>
          <a:lstStyle/>
          <a:p>
            <a:r>
              <a:rPr lang="ru-RU" sz="2800" dirty="0" smtClean="0"/>
              <a:t>Особенности ПО анализаторов протоколов:</a:t>
            </a:r>
            <a:endParaRPr lang="ru-RU" sz="2800" dirty="0"/>
          </a:p>
        </p:txBody>
      </p:sp>
      <p:pic>
        <p:nvPicPr>
          <p:cNvPr id="2050" name="Picture 2" descr="ÐÐ°ÑÑÐ¸Ð½ÐºÐ¸ Ð¿Ð¾ Ð·Ð°Ð¿ÑÐ¾ÑÑ wireshark logo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4724400"/>
            <a:ext cx="6248400" cy="172807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1481328"/>
            <a:ext cx="8229600" cy="4614672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/>
              <a:t>Захват данных.</a:t>
            </a:r>
          </a:p>
          <a:p>
            <a:r>
              <a:rPr lang="ru-RU" dirty="0" smtClean="0"/>
              <a:t>Просмотр захваченных данных.</a:t>
            </a:r>
          </a:p>
          <a:p>
            <a:r>
              <a:rPr lang="ru-RU" dirty="0" smtClean="0"/>
              <a:t>Анализ данных.</a:t>
            </a:r>
          </a:p>
          <a:p>
            <a:r>
              <a:rPr lang="ru-RU" dirty="0" smtClean="0"/>
              <a:t>Поиск ошибок. (Большинство анализаторов облегчают эту работу, определяя типы ошибок и идентифицируя станцию, от которой пришел пакет с ошибкой.)</a:t>
            </a:r>
          </a:p>
          <a:p>
            <a:r>
              <a:rPr lang="ru-RU" dirty="0" smtClean="0"/>
              <a:t>Исследование производительности. Рассчитывается коэффициент использования пропускной способности сети или среднее время реакции на запрос.</a:t>
            </a:r>
          </a:p>
          <a:p>
            <a:r>
              <a:rPr lang="ru-RU" dirty="0" smtClean="0"/>
              <a:t>Подробное исследование отдельных участков сети. Содержание этого этапа конкретизируется по мере того, как проводится анализ.</a:t>
            </a: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Этапы проведения анализа сетевого трафика:</a:t>
            </a:r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-685800" y="-1371600"/>
            <a:ext cx="11049000" cy="6858000"/>
          </a:xfrm>
        </p:spPr>
        <p:txBody>
          <a:bodyPr>
            <a:noAutofit/>
          </a:bodyPr>
          <a:lstStyle/>
          <a:p>
            <a:pPr algn="ctr">
              <a:buNone/>
            </a:pPr>
            <a:r>
              <a:rPr lang="ru-RU" sz="59500" dirty="0" smtClean="0">
                <a:latin typeface="Times New Roman" pitchFamily="18" charset="0"/>
                <a:cs typeface="Times New Roman" pitchFamily="18" charset="0"/>
              </a:rPr>
              <a:t>41</a:t>
            </a:r>
            <a:endParaRPr lang="ru-RU" sz="49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130</TotalTime>
  <Words>176</Words>
  <Application>Microsoft Office PowerPoint</Application>
  <PresentationFormat>Экран (4:3)</PresentationFormat>
  <Paragraphs>31</Paragraphs>
  <Slides>16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7" baseType="lpstr">
      <vt:lpstr>Открытая</vt:lpstr>
      <vt:lpstr>Ребусики</vt:lpstr>
      <vt:lpstr>Сетевая ОС</vt:lpstr>
      <vt:lpstr>Прокси</vt:lpstr>
      <vt:lpstr>Планирование</vt:lpstr>
      <vt:lpstr>Диспетчеризация</vt:lpstr>
      <vt:lpstr>Сетевой трафик</vt:lpstr>
      <vt:lpstr>Мониторинг сетевого трафика</vt:lpstr>
      <vt:lpstr>Слайд 8</vt:lpstr>
      <vt:lpstr>Методы мониторинга сети</vt:lpstr>
      <vt:lpstr>Слайд 10</vt:lpstr>
      <vt:lpstr>Слайд 11</vt:lpstr>
      <vt:lpstr>Анализаторы протоколов</vt:lpstr>
      <vt:lpstr>Слайд 13</vt:lpstr>
      <vt:lpstr>Особенности ПО анализаторов протоколов:</vt:lpstr>
      <vt:lpstr>Этапы проведения анализа сетевого трафика:</vt:lpstr>
      <vt:lpstr>Слайд 16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Мониторинг сетевого трафика</dc:title>
  <dc:creator>Кирилл</dc:creator>
  <cp:lastModifiedBy>Кирилл</cp:lastModifiedBy>
  <cp:revision>5</cp:revision>
  <dcterms:created xsi:type="dcterms:W3CDTF">2019-04-12T04:58:44Z</dcterms:created>
  <dcterms:modified xsi:type="dcterms:W3CDTF">2019-04-15T08:04:22Z</dcterms:modified>
</cp:coreProperties>
</file>