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A6D75-9766-A56E-5E74-8414C9B23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CFB632-E200-B240-77F4-DD024ECA4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86E14-7085-D761-D883-9334C833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C3DC97-4F59-9235-1C81-89873A6A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68DC66-318D-0346-BB7D-97A6D432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1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92BC5-97A8-3E04-B41B-442C17C2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F86B9-E6AE-B4CC-E9FE-F8B89E89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91C2E-D9AC-3119-3BD3-F43E2D04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6D8EBC-984D-7305-46CD-06C1CF94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C3DD80-A6D3-2E90-CB4F-8952F4A3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60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33C70-CC93-9256-5E74-E58D6F11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80977C-3E3C-0971-141E-0561D3519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64560D-977D-44F0-DC6F-72AC2C4D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0D69A-294D-76CD-344A-8B5FC200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7A68EC-8EE6-71ED-683F-CBF023B4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72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A0102-E8A3-F2B5-D13E-1BA12FCE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6CDBF6-0A54-C398-5A9E-A85ED0B90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2BFA-ED31-5F1F-D689-A7322EC57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AEC70B-ED86-8616-6E1F-160C654D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746311-93FB-DAED-5A66-48DA3A3C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F8E3AD-D80E-B06B-CC4B-214E1E0A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55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13C51-6254-55E6-AF19-588AA82D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62B0FF-4FC1-86C1-FA12-024EDD28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7E1B5-BC76-32AC-8388-F6316B515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65EDC9-1E9E-57C1-DCE1-7211522DD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096461-2487-5D17-AEE3-6AEA467FC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D6966B-3141-828B-5252-6C6FB514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DC3743-47C9-8CD7-F004-11E0DCA9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603A2-446F-14DF-3913-11977BC4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34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DD074-C33A-B935-D5DA-6B85A0A4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5D2527-8896-97D1-BCE4-B3F1DBBA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E62CF8-35F1-AF7C-C75E-323F344C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99CB97-AF4F-FCC3-0457-662EB8FF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57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A5BE5A-596A-894C-97A1-1961FC9E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39FFA6-2EC4-762D-4596-41FB9E01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13EF94-DB25-1FA3-FF96-DA3399E5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81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D610-DE3A-4225-31B2-24B78F0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E0962-358E-E55A-B8CC-CD0656D2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31783B-C1B4-5B11-6C67-6A95699E6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BDA3C8-6F3C-C63B-07C2-90500486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F42ABD-EB3C-CF53-BC25-04011E5A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DD3057-906C-6E72-93DE-915446FD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91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91794-D0A2-E184-A6E4-ACC8785A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84699C-4FD3-BACB-91B4-EF95BD165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5771F7-0094-E6C2-0113-6211C1AAF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E1DECE-571E-4133-AF53-146A802E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01DDF5-50CA-ABB8-B872-375B77D4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A80236-B97E-A6F5-D529-012FC6C3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7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2AB9E-57F9-D7DB-6570-E745147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43BBF3-1661-8C14-7AC5-973CBA3E8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DF1F57-4213-7371-F2A9-FF10FBFF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AECCF-FB62-E525-43F8-94D5CC44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CC0A92-110D-BDF5-CA7D-C8D9E750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55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5D7122-75A2-4DAA-0B8E-A6D04B1BF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598F9A-241E-7F70-C244-2941BCD0F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85D671-5080-39EE-94D8-20A25EE4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0CE1CC-F806-3F62-ACC9-C4D95C52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75ED4-C42C-C179-A9E3-FD05C92A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2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A2CB8-DA91-D857-D61C-96715D2C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FADA41-F13F-E467-AB46-6527C6781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521D17-5243-46E4-7272-40D8BCE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0494BD-866A-FDB4-9DC6-93A110048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9DD05-FDB5-1064-40A3-93691983A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88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титул">
            <a:extLst>
              <a:ext uri="{FF2B5EF4-FFF2-40B4-BE49-F238E27FC236}">
                <a16:creationId xmlns:a16="http://schemas.microsoft.com/office/drawing/2014/main" id="{4A3E707C-86DD-61CD-367C-4ECC810D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85" y="342448"/>
            <a:ext cx="5929630" cy="10877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999E9-09D1-9DD4-D8E7-C5603426D121}"/>
              </a:ext>
            </a:extLst>
          </p:cNvPr>
          <p:cNvSpPr txBox="1"/>
          <p:nvPr/>
        </p:nvSpPr>
        <p:spPr>
          <a:xfrm>
            <a:off x="3046640" y="2763504"/>
            <a:ext cx="6098720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Отчет по практической работе 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десктопных ОС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Дисциплина: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ОССиАСС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DB062-9BB4-0963-4062-399A12327194}"/>
              </a:ext>
            </a:extLst>
          </p:cNvPr>
          <p:cNvSpPr txBox="1"/>
          <p:nvPr/>
        </p:nvSpPr>
        <p:spPr>
          <a:xfrm>
            <a:off x="713014" y="4162536"/>
            <a:ext cx="10765972" cy="235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Выполнили: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группы 2ИСП9-51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r">
              <a:lnSpc>
                <a:spcPct val="10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Новиков Д. А.</a:t>
            </a:r>
          </a:p>
          <a:p>
            <a:pPr marL="342900" indent="-342900" algn="r">
              <a:lnSpc>
                <a:spcPct val="10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Паевский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М. Д.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266001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Москва, 2025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3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EED011-4DAF-5D78-3CDD-436D1644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характеристики операционных систем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167812C-33F1-B704-FFAC-E6F8725BC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627761"/>
              </p:ext>
            </p:extLst>
          </p:nvPr>
        </p:nvGraphicFramePr>
        <p:xfrm>
          <a:off x="838200" y="1690688"/>
          <a:ext cx="10374087" cy="489946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15454">
                  <a:extLst>
                    <a:ext uri="{9D8B030D-6E8A-4147-A177-3AD203B41FA5}">
                      <a16:colId xmlns:a16="http://schemas.microsoft.com/office/drawing/2014/main" val="1788601237"/>
                    </a:ext>
                  </a:extLst>
                </a:gridCol>
                <a:gridCol w="1102992">
                  <a:extLst>
                    <a:ext uri="{9D8B030D-6E8A-4147-A177-3AD203B41FA5}">
                      <a16:colId xmlns:a16="http://schemas.microsoft.com/office/drawing/2014/main" val="2931037844"/>
                    </a:ext>
                  </a:extLst>
                </a:gridCol>
                <a:gridCol w="715454">
                  <a:extLst>
                    <a:ext uri="{9D8B030D-6E8A-4147-A177-3AD203B41FA5}">
                      <a16:colId xmlns:a16="http://schemas.microsoft.com/office/drawing/2014/main" val="3913504435"/>
                    </a:ext>
                  </a:extLst>
                </a:gridCol>
                <a:gridCol w="968846">
                  <a:extLst>
                    <a:ext uri="{9D8B030D-6E8A-4147-A177-3AD203B41FA5}">
                      <a16:colId xmlns:a16="http://schemas.microsoft.com/office/drawing/2014/main" val="444149772"/>
                    </a:ext>
                  </a:extLst>
                </a:gridCol>
                <a:gridCol w="715454">
                  <a:extLst>
                    <a:ext uri="{9D8B030D-6E8A-4147-A177-3AD203B41FA5}">
                      <a16:colId xmlns:a16="http://schemas.microsoft.com/office/drawing/2014/main" val="2126074149"/>
                    </a:ext>
                  </a:extLst>
                </a:gridCol>
                <a:gridCol w="2846911">
                  <a:extLst>
                    <a:ext uri="{9D8B030D-6E8A-4147-A177-3AD203B41FA5}">
                      <a16:colId xmlns:a16="http://schemas.microsoft.com/office/drawing/2014/main" val="2275866866"/>
                    </a:ext>
                  </a:extLst>
                </a:gridCol>
                <a:gridCol w="1729015">
                  <a:extLst>
                    <a:ext uri="{9D8B030D-6E8A-4147-A177-3AD203B41FA5}">
                      <a16:colId xmlns:a16="http://schemas.microsoft.com/office/drawing/2014/main" val="3441418317"/>
                    </a:ext>
                  </a:extLst>
                </a:gridCol>
                <a:gridCol w="1579961">
                  <a:extLst>
                    <a:ext uri="{9D8B030D-6E8A-4147-A177-3AD203B41FA5}">
                      <a16:colId xmlns:a16="http://schemas.microsoft.com/office/drawing/2014/main" val="535965784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ОС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Правообладатель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Дата релиза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Лицензия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Архитектура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Особенности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Область применения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 dirty="0">
                          <a:effectLst/>
                        </a:rPr>
                        <a:t>Качество системы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556874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Microsoft Windows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Microsoft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20 ноября 1985 г.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Проприетарная, </a:t>
                      </a:r>
                      <a:r>
                        <a:rPr lang="en-US" sz="1050" u="none" strike="noStrike">
                          <a:effectLst/>
                        </a:rPr>
                        <a:t>SaaS (Windows 10/11)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Монолитная (гибридное ядро)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1. Широкая совместимость с ПО и железом.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2. Интуитивный графический интерфейс.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3. Доминирование на рынке игр.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4. Интеграция с продуктами Microsoft.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5. Уязвимость к вирусам.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Универсальная система для дома и офиса: игры, офисные задачи, разработка, корпоративный сектор.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 dirty="0">
                          <a:effectLst/>
                        </a:rPr>
                        <a:t>Высокое (с учетом рыночной доли и совместимости, но требует внимания к безопасности)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extLst>
                  <a:ext uri="{0D108BD9-81ED-4DB2-BD59-A6C34878D82A}">
                    <a16:rowId xmlns:a16="http://schemas.microsoft.com/office/drawing/2014/main" val="625212624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macOS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Apple Inc.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24 марта 2001 г.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Проприетарная (бесплатно с устройством Apple)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Гибридное ядро (XNU) на базе Unix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1. Экосистемная интеграция (iPhone, iPad).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2. Высокая стабильность и безопасность.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3. Оптимизация под железо Apple.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4. Элегантный и последовательный UI/UX.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5. Ограниченный выбор железа.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Профессиональный творческий труд (дизайн, видео, музыка), разработка под iOS, академическая среда.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Очень высокое (стабильность, оптимизация, безопасность)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extLst>
                  <a:ext uri="{0D108BD9-81ED-4DB2-BD59-A6C34878D82A}">
                    <a16:rowId xmlns:a16="http://schemas.microsoft.com/office/drawing/2014/main" val="2448990317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Linux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Сообщество, канонизировано </a:t>
                      </a:r>
                      <a:r>
                        <a:rPr lang="en-US" sz="1050" u="none" strike="noStrike">
                          <a:effectLst/>
                        </a:rPr>
                        <a:t>Canonical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20 октября 2004 г.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Открытое ПО (GPL и др.)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Монолитное ядро (</a:t>
                      </a:r>
                      <a:r>
                        <a:rPr lang="en-US" sz="1050" u="none" strike="noStrike">
                          <a:effectLst/>
                        </a:rPr>
                        <a:t>Linux)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1. Высокая степень кастомизации.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2. Стабильность и безопасность.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3. Бесплатность и открытый код.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4. Широкое использование в CLI.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5. Меньше "user-friendly" дистрибутивов.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Серверы, суперкомпьютеры, разработка ПО, IoT, IT-специалисты, энтузиасты.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Высокое (зависит от дистрибутива; высочайшее для серверов и разработки)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extLst>
                  <a:ext uri="{0D108BD9-81ED-4DB2-BD59-A6C34878D82A}">
                    <a16:rowId xmlns:a16="http://schemas.microsoft.com/office/drawing/2014/main" val="3798561959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ChromeOS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Google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15 июня 2011 г.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Проприетарная 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Монолитное ядро (</a:t>
                      </a:r>
                      <a:r>
                        <a:rPr lang="en-US" sz="1050" u="none" strike="noStrike">
                          <a:effectLst/>
                        </a:rPr>
                        <a:t>Linux)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1. Cloud-first (основная работа в браузере).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2. Простота использования и администрирования.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3. Высокая скорость загрузки и работы.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4. Поддержка Android и Linux приложений.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5. Ограниченный оффлайн-функционал.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Образование (школы, университеты), предприятия с "тонкими клиентами", базовые домашние задачи.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Высокое (для своей ниши: простота, безопасность, скорость)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extLst>
                  <a:ext uri="{0D108BD9-81ED-4DB2-BD59-A6C34878D82A}">
                    <a16:rowId xmlns:a16="http://schemas.microsoft.com/office/drawing/2014/main" val="2096705692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FreeBSD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u="none" strike="noStrike">
                          <a:effectLst/>
                        </a:rPr>
                        <a:t>Сообщество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Ноябрь 1993 г.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Открытое ПО (лицензия </a:t>
                      </a:r>
                      <a:r>
                        <a:rPr lang="en-US" sz="1050" u="none" strike="noStrike">
                          <a:effectLst/>
                        </a:rPr>
                        <a:t>BSD)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Монолитное ядро с модулями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1. Высокая производительность и стабильность.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2. Передовая сетевая подсистема.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3. Лицензия BSD (свободное использование в проприетарном ПО).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4. Портовая коллекция для ПО.</a:t>
                      </a:r>
                      <a:br>
                        <a:rPr lang="ru-RU" sz="1050" u="none" strike="noStrike">
                          <a:effectLst/>
                        </a:rPr>
                      </a:br>
                      <a:r>
                        <a:rPr lang="ru-RU" sz="1050" u="none" strike="noStrike">
                          <a:effectLst/>
                        </a:rPr>
                        <a:t>5. Более сложна в настройке, чем Linux.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>
                          <a:effectLst/>
                        </a:rPr>
                        <a:t>Высоконагруженные серверы, сетевое оборудование (например, в продуктах Juniper, NetApp), специализированные рабочие станции.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u="none" strike="noStrike" dirty="0">
                          <a:effectLst/>
                        </a:rPr>
                        <a:t>Очень высокое (в своей нише: надежность и производительность для сетей и хранилищ)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29" marR="4229" marT="4229" marB="0" anchor="b"/>
                </a:tc>
                <a:extLst>
                  <a:ext uri="{0D108BD9-81ED-4DB2-BD59-A6C34878D82A}">
                    <a16:rowId xmlns:a16="http://schemas.microsoft.com/office/drawing/2014/main" val="1012388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42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Windows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Правообладатель: Корпорация Microsoft</a:t>
            </a:r>
          </a:p>
          <a:p>
            <a:pPr marL="0" indent="0">
              <a:buNone/>
            </a:pPr>
            <a:r>
              <a:rPr lang="ru-RU" dirty="0"/>
              <a:t>Философия: Максимальная совместимость и </a:t>
            </a:r>
            <a:br>
              <a:rPr lang="ru-RU" dirty="0"/>
            </a:br>
            <a:r>
              <a:rPr lang="ru-RU" dirty="0"/>
              <a:t>доступность для широкого круга пользователей.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Доминирующая позиция на рынке персональных </a:t>
            </a:r>
            <a:br>
              <a:rPr lang="ru-RU" dirty="0"/>
            </a:br>
            <a:r>
              <a:rPr lang="ru-RU" dirty="0"/>
              <a:t>компьютеров.</a:t>
            </a:r>
          </a:p>
          <a:p>
            <a:r>
              <a:rPr lang="ru-RU" dirty="0"/>
              <a:t>Огромная библиотека совместимого программного обеспечения и игр.</a:t>
            </a:r>
          </a:p>
          <a:p>
            <a:r>
              <a:rPr lang="ru-RU" dirty="0"/>
              <a:t>Интуитивный графический интерфейс.</a:t>
            </a:r>
          </a:p>
          <a:p>
            <a:r>
              <a:rPr lang="ru-RU" dirty="0"/>
              <a:t>Подверженность вирусным атакам, требует антивируса.</a:t>
            </a:r>
          </a:p>
          <a:p>
            <a:pPr marL="0" indent="0">
              <a:buNone/>
            </a:pPr>
            <a:r>
              <a:rPr lang="ru-RU" dirty="0"/>
              <a:t>Область применения: Идеальна для игр, офисной работы, домашнего использования и в малом бизнесе.</a:t>
            </a:r>
          </a:p>
          <a:p>
            <a:pPr marL="0" indent="0">
              <a:buNone/>
            </a:pPr>
            <a:r>
              <a:rPr lang="ru-RU" dirty="0"/>
              <a:t>Оценка качества: Высокое качество с оговоркой на необходимость соблюдения мер безопасности.</a:t>
            </a:r>
          </a:p>
        </p:txBody>
      </p:sp>
      <p:pic>
        <p:nvPicPr>
          <p:cNvPr id="2052" name="Picture 4" descr="Windows 10 - Скачать бесплатно. Операционные системы">
            <a:extLst>
              <a:ext uri="{FF2B5EF4-FFF2-40B4-BE49-F238E27FC236}">
                <a16:creationId xmlns:a16="http://schemas.microsoft.com/office/drawing/2014/main" id="{DC06A992-3F7D-927F-4223-73A1A97E2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753" y="365124"/>
            <a:ext cx="3046853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31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Правообладатель: Apple Inc.</a:t>
            </a:r>
          </a:p>
          <a:p>
            <a:pPr marL="0" indent="0">
              <a:buNone/>
            </a:pPr>
            <a:r>
              <a:rPr lang="ru-RU" dirty="0"/>
              <a:t>Философия: Бесшовная интеграция, </a:t>
            </a:r>
            <a:br>
              <a:rPr lang="ru-RU" dirty="0"/>
            </a:br>
            <a:r>
              <a:rPr lang="ru-RU" dirty="0"/>
              <a:t>безопасность и премиальный пользовательский</a:t>
            </a:r>
            <a:br>
              <a:rPr lang="ru-RU" dirty="0"/>
            </a:br>
            <a:r>
              <a:rPr lang="ru-RU" dirty="0"/>
              <a:t>опыт в закрытой экосистеме.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Глубокая интеграция с другими устройствами Apple.</a:t>
            </a:r>
          </a:p>
          <a:p>
            <a:r>
              <a:rPr lang="ru-RU" dirty="0"/>
              <a:t>Высокая стабильность, безопасность и оптимизация под "железо" Apple.</a:t>
            </a:r>
          </a:p>
          <a:p>
            <a:r>
              <a:rPr lang="ru-RU" dirty="0"/>
              <a:t>Элегантный и последовательный пользовательский интерфейс.</a:t>
            </a:r>
          </a:p>
          <a:p>
            <a:r>
              <a:rPr lang="ru-RU" dirty="0"/>
              <a:t>Закрытая архитектура и высокая стоимость устройств.</a:t>
            </a:r>
          </a:p>
          <a:p>
            <a:pPr marL="0" indent="0">
              <a:buNone/>
            </a:pPr>
            <a:r>
              <a:rPr lang="ru-RU" dirty="0"/>
              <a:t>Область применения: Профессиональная работа с графикой, видео и музыкой; разработка под </a:t>
            </a:r>
            <a:r>
              <a:rPr lang="ru-RU" dirty="0" err="1"/>
              <a:t>iOS</a:t>
            </a:r>
            <a:r>
              <a:rPr lang="ru-RU" dirty="0"/>
              <a:t>; академическая среда.</a:t>
            </a:r>
          </a:p>
          <a:p>
            <a:pPr marL="0" indent="0">
              <a:buNone/>
            </a:pPr>
            <a:r>
              <a:rPr lang="ru-RU" dirty="0"/>
              <a:t>Оценка качества: Очень высокое, благодаря стабильности, оптимизации и безопасности.</a:t>
            </a:r>
          </a:p>
        </p:txBody>
      </p:sp>
      <p:pic>
        <p:nvPicPr>
          <p:cNvPr id="3076" name="Picture 4" descr="Changes to the list of supported Mac OS versions | Smart pattern">
            <a:extLst>
              <a:ext uri="{FF2B5EF4-FFF2-40B4-BE49-F238E27FC236}">
                <a16:creationId xmlns:a16="http://schemas.microsoft.com/office/drawing/2014/main" id="{D641341A-37C5-4B88-1E5A-89A904870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21" y="365125"/>
            <a:ext cx="3169920" cy="316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27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Правообладатель: Сообщество разработчиков, </a:t>
            </a:r>
            <a:br>
              <a:rPr lang="ru-RU" dirty="0"/>
            </a:br>
            <a:r>
              <a:rPr lang="ru-RU" dirty="0"/>
              <a:t>различные компании.</a:t>
            </a:r>
          </a:p>
          <a:p>
            <a:pPr marL="0" indent="0">
              <a:buNone/>
            </a:pPr>
            <a:r>
              <a:rPr lang="ru-RU" dirty="0"/>
              <a:t>Философия: Открытость, свобода пользователя, </a:t>
            </a:r>
            <a:br>
              <a:rPr lang="ru-RU" dirty="0"/>
            </a:br>
            <a:r>
              <a:rPr lang="ru-RU" dirty="0"/>
              <a:t>стабильность и безопасность.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Бесплатность и открытый исходный код.</a:t>
            </a:r>
          </a:p>
          <a:p>
            <a:r>
              <a:rPr lang="ru-RU" dirty="0"/>
              <a:t>Высокая степень кастомизации и безопасность.</a:t>
            </a:r>
          </a:p>
          <a:p>
            <a:r>
              <a:rPr lang="ru-RU" dirty="0"/>
              <a:t>Широкое использование командной строки для тонкой настройки.</a:t>
            </a:r>
          </a:p>
          <a:p>
            <a:r>
              <a:rPr lang="ru-RU" dirty="0"/>
              <a:t>Требует более высокой технической грамотности от пользователя.</a:t>
            </a:r>
          </a:p>
          <a:p>
            <a:pPr marL="0" indent="0">
              <a:buNone/>
            </a:pPr>
            <a:r>
              <a:rPr lang="ru-RU" dirty="0"/>
              <a:t>Область применения: Серверы, суперкомпьютеры, IT-инфраструктура, разработка ПО, энтузиасты и программисты.</a:t>
            </a:r>
          </a:p>
          <a:p>
            <a:pPr marL="0" indent="0">
              <a:buNone/>
            </a:pPr>
            <a:r>
              <a:rPr lang="ru-RU" dirty="0"/>
              <a:t>Оценка качества: Высокое качество в своей нише, но сильно зависит от выбора дистрибутива.</a:t>
            </a:r>
          </a:p>
        </p:txBody>
      </p:sp>
      <p:pic>
        <p:nvPicPr>
          <p:cNvPr id="4098" name="Picture 2" descr="Linux — Википедия">
            <a:extLst>
              <a:ext uri="{FF2B5EF4-FFF2-40B4-BE49-F238E27FC236}">
                <a16:creationId xmlns:a16="http://schemas.microsoft.com/office/drawing/2014/main" id="{5D95B886-AF06-23CA-8E79-DC45EAE6A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040" y="365124"/>
            <a:ext cx="2590800" cy="306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36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ChromeOS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Правообладатель: Google</a:t>
            </a:r>
          </a:p>
          <a:p>
            <a:pPr marL="0" indent="0">
              <a:buNone/>
            </a:pPr>
            <a:r>
              <a:rPr lang="ru-RU" dirty="0"/>
              <a:t>Философия: Работа в облаке — простота</a:t>
            </a:r>
            <a:br>
              <a:rPr lang="ru-RU" dirty="0"/>
            </a:br>
            <a:r>
              <a:rPr lang="ru-RU" dirty="0"/>
              <a:t>и безопасность.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 err="1"/>
              <a:t>Cloud-first</a:t>
            </a:r>
            <a:r>
              <a:rPr lang="ru-RU" dirty="0"/>
              <a:t> (основная работа в браузере)</a:t>
            </a:r>
          </a:p>
          <a:p>
            <a:r>
              <a:rPr lang="ru-RU" dirty="0"/>
              <a:t>Простота использования и администрирования</a:t>
            </a:r>
          </a:p>
          <a:p>
            <a:r>
              <a:rPr lang="ru-RU" dirty="0"/>
              <a:t>Высокая скорость загрузки и работы</a:t>
            </a:r>
          </a:p>
          <a:p>
            <a:r>
              <a:rPr lang="ru-RU" dirty="0"/>
              <a:t>Поддержка </a:t>
            </a:r>
            <a:r>
              <a:rPr lang="ru-RU" dirty="0" err="1"/>
              <a:t>Android</a:t>
            </a:r>
            <a:r>
              <a:rPr lang="ru-RU" dirty="0"/>
              <a:t> и Linux приложений</a:t>
            </a:r>
          </a:p>
          <a:p>
            <a:pPr marL="0" indent="0">
              <a:buNone/>
            </a:pPr>
            <a:r>
              <a:rPr lang="ru-RU" dirty="0"/>
              <a:t>Область применения: Образование, бизнес с "тонкими клиентами"</a:t>
            </a:r>
          </a:p>
          <a:p>
            <a:pPr marL="0" indent="0">
              <a:buNone/>
            </a:pPr>
            <a:r>
              <a:rPr lang="ru-RU" dirty="0"/>
              <a:t>Оценка качества: Высокая, малая функциональность с высокой производительностью</a:t>
            </a:r>
          </a:p>
        </p:txBody>
      </p:sp>
      <p:pic>
        <p:nvPicPr>
          <p:cNvPr id="5122" name="Picture 2" descr="ChromeOS · GitHub">
            <a:extLst>
              <a:ext uri="{FF2B5EF4-FFF2-40B4-BE49-F238E27FC236}">
                <a16:creationId xmlns:a16="http://schemas.microsoft.com/office/drawing/2014/main" id="{EA1AE971-61ED-C524-26C3-5E653D379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925" y="365124"/>
            <a:ext cx="3063875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94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FreeBSD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Правообладатель: Сообщество разработчиков</a:t>
            </a:r>
          </a:p>
          <a:p>
            <a:pPr marL="0" indent="0">
              <a:buNone/>
            </a:pPr>
            <a:r>
              <a:rPr lang="ru-RU" dirty="0"/>
              <a:t>Философия: Стабильность, производительность </a:t>
            </a:r>
            <a:br>
              <a:rPr lang="ru-RU" dirty="0"/>
            </a:br>
            <a:r>
              <a:rPr lang="ru-RU" dirty="0"/>
              <a:t>и свобода лицензии BSD.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Высокая производительность и стабильность</a:t>
            </a:r>
          </a:p>
          <a:p>
            <a:r>
              <a:rPr lang="ru-RU" dirty="0"/>
              <a:t>Передовая сетевая подсистема</a:t>
            </a:r>
          </a:p>
          <a:p>
            <a:r>
              <a:rPr lang="ru-RU" dirty="0"/>
              <a:t>Лицензия BSD (свободное использование)</a:t>
            </a:r>
          </a:p>
          <a:p>
            <a:pPr marL="0" indent="0">
              <a:buNone/>
            </a:pPr>
            <a:r>
              <a:rPr lang="ru-RU" dirty="0"/>
              <a:t>Сложность в настройке для новичков</a:t>
            </a:r>
          </a:p>
          <a:p>
            <a:pPr marL="0" indent="0">
              <a:buNone/>
            </a:pPr>
            <a:r>
              <a:rPr lang="ru-RU" dirty="0"/>
              <a:t>Область применения: Высоконагруженные серверы, сетевое оборудование</a:t>
            </a:r>
          </a:p>
          <a:p>
            <a:pPr marL="0" indent="0">
              <a:buNone/>
            </a:pPr>
            <a:r>
              <a:rPr lang="ru-RU" dirty="0"/>
              <a:t>Оценка качества: Высокая для своей узкой специальности</a:t>
            </a:r>
          </a:p>
        </p:txBody>
      </p:sp>
      <p:pic>
        <p:nvPicPr>
          <p:cNvPr id="6146" name="Picture 2" descr="Freebsd Vector Logo - Download Free SVG Icon | Worldvectorlogo">
            <a:extLst>
              <a:ext uri="{FF2B5EF4-FFF2-40B4-BE49-F238E27FC236}">
                <a16:creationId xmlns:a16="http://schemas.microsoft.com/office/drawing/2014/main" id="{2226BD0E-4128-A8F2-DBDE-B7E68FB41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105" y="365126"/>
            <a:ext cx="3410734" cy="294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49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39B07-2079-5C43-1B21-CC4CD635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152EEC-2173-3CA3-B9D5-127A205B0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Доминирующая сила: Windows сохраняет лидерство благодаря универсальности</a:t>
            </a:r>
          </a:p>
          <a:p>
            <a:pPr marL="0" indent="0">
              <a:buNone/>
            </a:pPr>
            <a:r>
              <a:rPr lang="ru-RU" dirty="0"/>
              <a:t>Нишевые лидеры:</a:t>
            </a:r>
          </a:p>
          <a:p>
            <a:r>
              <a:rPr lang="ru-RU" dirty="0" err="1"/>
              <a:t>macOS</a:t>
            </a:r>
            <a:r>
              <a:rPr lang="ru-RU" dirty="0"/>
              <a:t> — для творческих профессионалов</a:t>
            </a:r>
          </a:p>
          <a:p>
            <a:r>
              <a:rPr lang="ru-RU" dirty="0"/>
              <a:t>Linux/FreeBSD — для IT-инфраструктуры</a:t>
            </a:r>
          </a:p>
          <a:p>
            <a:r>
              <a:rPr lang="ru-RU" dirty="0" err="1"/>
              <a:t>ChromeOS</a:t>
            </a:r>
            <a:r>
              <a:rPr lang="ru-RU" dirty="0"/>
              <a:t> — для образования и облачной работы</a:t>
            </a:r>
          </a:p>
          <a:p>
            <a:pPr marL="0" indent="0">
              <a:buNone/>
            </a:pPr>
            <a:r>
              <a:rPr lang="ru-RU" dirty="0"/>
              <a:t>Ключевой выбор: Между свободой (Linux/FreeBSD), экосистемой (</a:t>
            </a:r>
            <a:r>
              <a:rPr lang="ru-RU" dirty="0" err="1"/>
              <a:t>macOS</a:t>
            </a:r>
            <a:r>
              <a:rPr lang="ru-RU" dirty="0"/>
              <a:t>), универсальностью (Windows) и простотой (</a:t>
            </a:r>
            <a:r>
              <a:rPr lang="ru-RU" dirty="0" err="1"/>
              <a:t>ChromeOS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Рекомендация: Выбор ОС зависит от конкретных задач и технической подготовки</a:t>
            </a:r>
          </a:p>
        </p:txBody>
      </p:sp>
    </p:spTree>
    <p:extLst>
      <p:ext uri="{BB962C8B-B14F-4D97-AF65-F5344CB8AC3E}">
        <p14:creationId xmlns:p14="http://schemas.microsoft.com/office/powerpoint/2010/main" val="40028312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918</Words>
  <Application>Microsoft Office PowerPoint</Application>
  <PresentationFormat>Широкоэкранный</PresentationFormat>
  <Paragraphs>117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Calibri</vt:lpstr>
      <vt:lpstr>Times New Roman</vt:lpstr>
      <vt:lpstr>Тема Office</vt:lpstr>
      <vt:lpstr>Презентация PowerPoint</vt:lpstr>
      <vt:lpstr>Ключевые характеристики операционных систем</vt:lpstr>
      <vt:lpstr>Microsoft Windows</vt:lpstr>
      <vt:lpstr>macOS</vt:lpstr>
      <vt:lpstr>Linux</vt:lpstr>
      <vt:lpstr>ChromeOS </vt:lpstr>
      <vt:lpstr>FreeBSD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Новиков</dc:creator>
  <cp:lastModifiedBy>Дмитрий Новиков</cp:lastModifiedBy>
  <cp:revision>5</cp:revision>
  <dcterms:created xsi:type="dcterms:W3CDTF">2025-11-17T09:03:37Z</dcterms:created>
  <dcterms:modified xsi:type="dcterms:W3CDTF">2025-11-17T11:18:20Z</dcterms:modified>
</cp:coreProperties>
</file>