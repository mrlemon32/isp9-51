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14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A6D75-9766-A56E-5E74-8414C9B23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CFB632-E200-B240-77F4-DD024ECA4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486E14-7085-D761-D883-9334C833F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C3DC97-4F59-9235-1C81-89873A6A2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68DC66-318D-0346-BB7D-97A6D432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11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92BC5-97A8-3E04-B41B-442C17C2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1F86B9-E6AE-B4CC-E9FE-F8B89E898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391C2E-D9AC-3119-3BD3-F43E2D04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6D8EBC-984D-7305-46CD-06C1CF944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C3DD80-A6D3-2E90-CB4F-8952F4A3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607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33C70-CC93-9256-5E74-E58D6F117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80977C-3E3C-0971-141E-0561D3519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64560D-977D-44F0-DC6F-72AC2C4DB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50D69A-294D-76CD-344A-8B5FC2009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7A68EC-8EE6-71ED-683F-CBF023B4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729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3A0102-E8A3-F2B5-D13E-1BA12FCE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6CDBF6-0A54-C398-5A9E-A85ED0B90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EB2BFA-ED31-5F1F-D689-A7322EC57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AEC70B-ED86-8616-6E1F-160C654D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746311-93FB-DAED-5A66-48DA3A3C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F8E3AD-D80E-B06B-CC4B-214E1E0A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55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713C51-6254-55E6-AF19-588AA82DC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62B0FF-4FC1-86C1-FA12-024EDD283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F7E1B5-BC76-32AC-8388-F6316B515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65EDC9-1E9E-57C1-DCE1-7211522DD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096461-2487-5D17-AEE3-6AEA467FC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BD6966B-3141-828B-5252-6C6FB514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DDC3743-47C9-8CD7-F004-11E0DCA9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6603A2-446F-14DF-3913-11977BC4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342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1DD074-C33A-B935-D5DA-6B85A0A47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05D2527-8896-97D1-BCE4-B3F1DBBA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E62CF8-35F1-AF7C-C75E-323F344C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99CB97-AF4F-FCC3-0457-662EB8FF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575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1A5BE5A-596A-894C-97A1-1961FC9E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239FFA6-2EC4-762D-4596-41FB9E01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13EF94-DB25-1FA3-FF96-DA3399E5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81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F6D610-DE3A-4225-31B2-24B78F096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4E0962-358E-E55A-B8CC-CD0656D2F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31783B-C1B4-5B11-6C67-6A95699E6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BDA3C8-6F3C-C63B-07C2-90500486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F42ABD-EB3C-CF53-BC25-04011E5A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DD3057-906C-6E72-93DE-915446FD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91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91794-D0A2-E184-A6E4-ACC8785A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684699C-4FD3-BACB-91B4-EF95BD165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5771F7-0094-E6C2-0113-6211C1AAF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E1DECE-571E-4133-AF53-146A802E3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01DDF5-50CA-ABB8-B872-375B77D4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A80236-B97E-A6F5-D529-012FC6C31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179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2AB9E-57F9-D7DB-6570-E745147C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43BBF3-1661-8C14-7AC5-973CBA3E8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DF1F57-4213-7371-F2A9-FF10FBFF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9AECCF-FB62-E525-43F8-94D5CC44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CC0A92-110D-BDF5-CA7D-C8D9E750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558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5D7122-75A2-4DAA-0B8E-A6D04B1BF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598F9A-241E-7F70-C244-2941BCD0F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85D671-5080-39EE-94D8-20A25EE4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0CE1CC-F806-3F62-ACC9-C4D95C52F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B75ED4-C42C-C179-A9E3-FD05C92A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2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7A2CB8-DA91-D857-D61C-96715D2CD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FADA41-F13F-E467-AB46-6527C6781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521D17-5243-46E4-7272-40D8BCEFD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E123A-1349-4F05-8440-62D9D23CEDFE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0494BD-866A-FDB4-9DC6-93A110048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09DD05-FDB5-1064-40A3-93691983A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B6412-80C2-44D8-A971-FBE8C1BA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88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титул">
            <a:extLst>
              <a:ext uri="{FF2B5EF4-FFF2-40B4-BE49-F238E27FC236}">
                <a16:creationId xmlns:a16="http://schemas.microsoft.com/office/drawing/2014/main" id="{4A3E707C-86DD-61CD-367C-4ECC810DE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185" y="342448"/>
            <a:ext cx="5929630" cy="108775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3999E9-09D1-9DD4-D8E7-C5603426D121}"/>
              </a:ext>
            </a:extLst>
          </p:cNvPr>
          <p:cNvSpPr txBox="1"/>
          <p:nvPr/>
        </p:nvSpPr>
        <p:spPr>
          <a:xfrm>
            <a:off x="3046640" y="2763504"/>
            <a:ext cx="6098720" cy="153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Отчет по практической работе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мобильных ОС</a:t>
            </a: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Дисциплина: 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ОССиАСС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DB062-9BB4-0963-4062-399A12327194}"/>
              </a:ext>
            </a:extLst>
          </p:cNvPr>
          <p:cNvSpPr txBox="1"/>
          <p:nvPr/>
        </p:nvSpPr>
        <p:spPr>
          <a:xfrm>
            <a:off x="713014" y="4162536"/>
            <a:ext cx="10765972" cy="235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809625" algn="r"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Выполнили: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809625" algn="r"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студенты группы 2ИСП9-51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r">
              <a:lnSpc>
                <a:spcPct val="106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Новиков Д. 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r">
              <a:lnSpc>
                <a:spcPct val="106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Паевский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М. Д.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  <a:tabLst>
                <a:tab pos="2660015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Москва, 2025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37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DC56A1-3784-8760-8F7D-A5A07ABE8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характеристики операционных систем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79A4904-D255-E774-9B8E-DD6594867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786436"/>
              </p:ext>
            </p:extLst>
          </p:nvPr>
        </p:nvGraphicFramePr>
        <p:xfrm>
          <a:off x="698166" y="1589250"/>
          <a:ext cx="10797149" cy="5039839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774683">
                  <a:extLst>
                    <a:ext uri="{9D8B030D-6E8A-4147-A177-3AD203B41FA5}">
                      <a16:colId xmlns:a16="http://schemas.microsoft.com/office/drawing/2014/main" val="1018999763"/>
                    </a:ext>
                  </a:extLst>
                </a:gridCol>
                <a:gridCol w="774683">
                  <a:extLst>
                    <a:ext uri="{9D8B030D-6E8A-4147-A177-3AD203B41FA5}">
                      <a16:colId xmlns:a16="http://schemas.microsoft.com/office/drawing/2014/main" val="1542219616"/>
                    </a:ext>
                  </a:extLst>
                </a:gridCol>
                <a:gridCol w="774683">
                  <a:extLst>
                    <a:ext uri="{9D8B030D-6E8A-4147-A177-3AD203B41FA5}">
                      <a16:colId xmlns:a16="http://schemas.microsoft.com/office/drawing/2014/main" val="3563748332"/>
                    </a:ext>
                  </a:extLst>
                </a:gridCol>
                <a:gridCol w="774683">
                  <a:extLst>
                    <a:ext uri="{9D8B030D-6E8A-4147-A177-3AD203B41FA5}">
                      <a16:colId xmlns:a16="http://schemas.microsoft.com/office/drawing/2014/main" val="94126353"/>
                    </a:ext>
                  </a:extLst>
                </a:gridCol>
                <a:gridCol w="774683">
                  <a:extLst>
                    <a:ext uri="{9D8B030D-6E8A-4147-A177-3AD203B41FA5}">
                      <a16:colId xmlns:a16="http://schemas.microsoft.com/office/drawing/2014/main" val="3446727821"/>
                    </a:ext>
                  </a:extLst>
                </a:gridCol>
                <a:gridCol w="3582912">
                  <a:extLst>
                    <a:ext uri="{9D8B030D-6E8A-4147-A177-3AD203B41FA5}">
                      <a16:colId xmlns:a16="http://schemas.microsoft.com/office/drawing/2014/main" val="3719663419"/>
                    </a:ext>
                  </a:extLst>
                </a:gridCol>
                <a:gridCol w="1807595">
                  <a:extLst>
                    <a:ext uri="{9D8B030D-6E8A-4147-A177-3AD203B41FA5}">
                      <a16:colId xmlns:a16="http://schemas.microsoft.com/office/drawing/2014/main" val="2877578332"/>
                    </a:ext>
                  </a:extLst>
                </a:gridCol>
                <a:gridCol w="1533227">
                  <a:extLst>
                    <a:ext uri="{9D8B030D-6E8A-4147-A177-3AD203B41FA5}">
                      <a16:colId xmlns:a16="http://schemas.microsoft.com/office/drawing/2014/main" val="10243422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Операционная система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Правообладатель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Дата релиза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Лицензия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Архитектура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Особенности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effectLst/>
                        </a:rPr>
                        <a:t>Область применения</a:t>
                      </a:r>
                      <a:endParaRPr lang="ru-RU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effectLst/>
                        </a:rPr>
                        <a:t>Качество системы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506798"/>
                  </a:ext>
                </a:extLst>
              </a:tr>
              <a:tr h="9964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Google Android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Google, Open Handset Alliance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23 сентября 2008 г.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Открытое ПО, проприетарные сервисы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Монолитное ядро (</a:t>
                      </a:r>
                      <a:r>
                        <a:rPr lang="en-US" sz="1200" u="none" strike="noStrike">
                          <a:effectLst/>
                        </a:rPr>
                        <a:t>Linux)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1. Открытость и высокая кастомизация.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2. Огромная доля рынка и экосистема приложений.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3. Фрагментация версий и обновлений.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4. Тесная интеграция с сервисами Google.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5. Широкий выбор устройств по цене.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Массовый потребительский рынок, устройства любого ценового сегмента, кастомизация прошивок.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Высокое (универсальность и экосистема), но страдает от фрагментации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3758089839"/>
                  </a:ext>
                </a:extLst>
              </a:tr>
              <a:tr h="9964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Apple iOS / iPadOS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Apple Inc.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29 июня 2007 г.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Проприетарная (бесплатно)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Гибридное ядро (XNU) на базе Unix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1. Закрытая, безопасная экосистема.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2. Высокая оптимизация и плавность работы.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3. Строгий контроль App Store.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4. Долгосрочная поддержка устройств.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5. Ограниченная кастомизация.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Премиальный сегмент рынка, пользователи, ценящие безопасность, удобство и экосистему Apple, творческие профессионалы.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Очень высокое (оптимизация, безопасность, пользовательский опыт)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3231842876"/>
                  </a:ext>
                </a:extLst>
              </a:tr>
              <a:tr h="9964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HarmonyOS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Huawei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2 июня 2019 г.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Проприетарная, открытое ядро (</a:t>
                      </a:r>
                      <a:r>
                        <a:rPr lang="en-US" sz="1200" u="none" strike="noStrike">
                          <a:effectLst/>
                        </a:rPr>
                        <a:t>OpenHarmony)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Микрожарная, мульти-ядро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1. Кроссплатформенность (смартфоны, планшеты, IoT).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2. Собственная экосистема Huawei (HMS).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3. Высокая производительность и отзывчивость.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4. Разработана как замена Android под санкциями.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5. Ограниченная доступность вне Китая.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Рынок Китая, экосистема устройств Huawei, альтернатива Android без сервисов Google.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Высокое (амбициозная архитектура, но ограниченная глобальная экосистема)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3463761995"/>
                  </a:ext>
                </a:extLst>
              </a:tr>
              <a:tr h="9964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KaiOS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KaiOS Technologies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2017 г.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Проприетарная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Монолитное ядро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1. Оптимизация для кнопочных телефонов.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2. Поддержка 4G, GPS, приложений (WhatsApp, YouTube).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3. Низкие требования к железу.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4. Низкая стоимость устройств.</a:t>
                      </a:r>
                      <a:br>
                        <a:rPr lang="ru-RU" sz="1200" u="none" strike="noStrike">
                          <a:effectLst/>
                        </a:rPr>
                      </a:br>
                      <a:r>
                        <a:rPr lang="ru-RU" sz="1200" u="none" strike="noStrike">
                          <a:effectLst/>
                        </a:rPr>
                        <a:t>5. Ограниченный функционал (не полноценная ОС).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>
                          <a:effectLst/>
                        </a:rPr>
                        <a:t>Рынок "умных" кнопочных телефонов, развивающиеся страны, люди, не готовые к смартфонам.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>
                          <a:effectLst/>
                        </a:rPr>
                        <a:t>Высокое (идеально решает задачу "смартфона для всех")</a:t>
                      </a:r>
                      <a:endParaRPr lang="ru-RU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07" marR="5007" marT="5007" marB="0" anchor="b"/>
                </a:tc>
                <a:extLst>
                  <a:ext uri="{0D108BD9-81ED-4DB2-BD59-A6C34878D82A}">
                    <a16:rowId xmlns:a16="http://schemas.microsoft.com/office/drawing/2014/main" val="3950289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02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84443-0000-746D-E9F4-DDBFC42F1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Android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AA1568-B972-4257-B339-F55078579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Правообладатель: Google и Open </a:t>
            </a:r>
            <a:r>
              <a:rPr lang="ru-RU" dirty="0" err="1"/>
              <a:t>Handset</a:t>
            </a:r>
            <a:r>
              <a:rPr lang="ru-RU" dirty="0"/>
              <a:t> Alliance</a:t>
            </a:r>
          </a:p>
          <a:p>
            <a:pPr marL="0" indent="0">
              <a:buNone/>
            </a:pPr>
            <a:r>
              <a:rPr lang="ru-RU" dirty="0"/>
              <a:t>Философия: Открытая платформа для производителей,</a:t>
            </a:r>
            <a:br>
              <a:rPr lang="ru-RU" dirty="0"/>
            </a:br>
            <a:r>
              <a:rPr lang="ru-RU" dirty="0"/>
              <a:t>обеспечивающая выбор и кастомизацию.</a:t>
            </a:r>
          </a:p>
          <a:p>
            <a:pPr marL="0" indent="0">
              <a:buNone/>
            </a:pPr>
            <a:r>
              <a:rPr lang="ru-RU" dirty="0"/>
              <a:t>Ключевые особенности:</a:t>
            </a:r>
          </a:p>
          <a:p>
            <a:r>
              <a:rPr lang="ru-RU" dirty="0"/>
              <a:t>Крупнейшая доля рынка благодаря широкому выбору устройств.</a:t>
            </a:r>
          </a:p>
          <a:p>
            <a:r>
              <a:rPr lang="ru-RU" dirty="0"/>
              <a:t>Высокая степень кастомизации интерфейса и системы.</a:t>
            </a:r>
          </a:p>
          <a:p>
            <a:r>
              <a:rPr lang="ru-RU" dirty="0"/>
              <a:t>Проблема фрагментации версий и несвоевременных обновлений.</a:t>
            </a:r>
          </a:p>
          <a:p>
            <a:r>
              <a:rPr lang="ru-RU" dirty="0"/>
              <a:t>Тесная интеграция с сервисами Google.</a:t>
            </a:r>
          </a:p>
          <a:p>
            <a:pPr marL="0" indent="0">
              <a:buNone/>
            </a:pPr>
            <a:r>
              <a:rPr lang="ru-RU" dirty="0"/>
              <a:t>Область применения: Массовый рынок всех ценовых сегментов, пользователи, ценящие свободу настройки.</a:t>
            </a:r>
          </a:p>
          <a:p>
            <a:pPr marL="0" indent="0">
              <a:buNone/>
            </a:pPr>
            <a:r>
              <a:rPr lang="ru-RU" dirty="0"/>
              <a:t>Оценка качества: Высокое, но страдает от фрагментации и неравномерного качества устройств.</a:t>
            </a:r>
          </a:p>
        </p:txBody>
      </p:sp>
      <p:pic>
        <p:nvPicPr>
          <p:cNvPr id="2050" name="Picture 2" descr="Google Android - CNews">
            <a:extLst>
              <a:ext uri="{FF2B5EF4-FFF2-40B4-BE49-F238E27FC236}">
                <a16:creationId xmlns:a16="http://schemas.microsoft.com/office/drawing/2014/main" id="{009475E5-9D57-DF50-F6C5-565DF406C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100" y="365125"/>
            <a:ext cx="2846614" cy="249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881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8DC8A-5A6F-99B2-B638-A48198AB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Apple iOS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9AA3F9-2212-792A-623C-F6891AD52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35640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Правообладатель: Apple Inc.</a:t>
            </a:r>
          </a:p>
          <a:p>
            <a:pPr marL="0" indent="0">
              <a:buNone/>
            </a:pPr>
            <a:r>
              <a:rPr lang="ru-RU" dirty="0"/>
              <a:t>Философия: Полный контроль над аппаратным и </a:t>
            </a:r>
            <a:br>
              <a:rPr lang="ru-RU" dirty="0"/>
            </a:br>
            <a:r>
              <a:rPr lang="ru-RU" dirty="0"/>
              <a:t>программным обеспечением для обеспечения </a:t>
            </a:r>
            <a:br>
              <a:rPr lang="ru-RU" dirty="0"/>
            </a:br>
            <a:r>
              <a:rPr lang="ru-RU" dirty="0"/>
              <a:t>безопасности, стабильности и бесшовного </a:t>
            </a:r>
            <a:br>
              <a:rPr lang="ru-RU" dirty="0"/>
            </a:br>
            <a:r>
              <a:rPr lang="ru-RU" dirty="0"/>
              <a:t>пользовательского опыта.</a:t>
            </a:r>
          </a:p>
          <a:p>
            <a:pPr marL="0" indent="0">
              <a:buNone/>
            </a:pPr>
            <a:r>
              <a:rPr lang="ru-RU" dirty="0"/>
              <a:t>Ключевые особенности:</a:t>
            </a:r>
          </a:p>
          <a:p>
            <a:r>
              <a:rPr lang="ru-RU" dirty="0"/>
              <a:t>Закрытая, но максимально безопасная и оптимизированная экосистема.</a:t>
            </a:r>
          </a:p>
          <a:p>
            <a:r>
              <a:rPr lang="ru-RU" dirty="0"/>
              <a:t>Долгосрочная поддержка устройств обновлениями.</a:t>
            </a:r>
          </a:p>
          <a:p>
            <a:r>
              <a:rPr lang="ru-RU" dirty="0"/>
              <a:t>Строгий контроль </a:t>
            </a:r>
            <a:r>
              <a:rPr lang="ru-RU" dirty="0" err="1"/>
              <a:t>App</a:t>
            </a:r>
            <a:r>
              <a:rPr lang="ru-RU" dirty="0"/>
              <a:t> Store.</a:t>
            </a:r>
          </a:p>
          <a:p>
            <a:pPr marL="0" indent="0">
              <a:buNone/>
            </a:pPr>
            <a:r>
              <a:rPr lang="ru-RU" dirty="0"/>
              <a:t>Ограниченная кастомизация по сравнению с </a:t>
            </a:r>
            <a:r>
              <a:rPr lang="ru-RU" dirty="0" err="1"/>
              <a:t>Android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Область применения: Премиальный сегмент, пользователи, ценящие удобство, безопасность и интеграцию с другими продуктами Apple.</a:t>
            </a:r>
          </a:p>
          <a:p>
            <a:pPr marL="0" indent="0">
              <a:buNone/>
            </a:pPr>
            <a:r>
              <a:rPr lang="ru-RU" dirty="0"/>
              <a:t>Оценка качества: Очень высокое, эталон отзывчивости, безопасности и поддержки.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D9662F7-3209-D183-A009-1851C2BD4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9457" y="365125"/>
            <a:ext cx="2954383" cy="295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315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8DC8A-5A6F-99B2-B638-A48198AB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HarmonyOS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9AA3F9-2212-792A-623C-F6891AD52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35640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Правообладатель: Huawei</a:t>
            </a:r>
          </a:p>
          <a:p>
            <a:pPr marL="0" indent="0">
              <a:buNone/>
            </a:pPr>
            <a:r>
              <a:rPr lang="ru-RU" dirty="0"/>
              <a:t>Философия: Создание единой экосистемы</a:t>
            </a:r>
            <a:br>
              <a:rPr lang="ru-RU" dirty="0"/>
            </a:br>
            <a:r>
              <a:rPr lang="ru-RU" dirty="0"/>
              <a:t>для всех типов устройств (смартфоны, </a:t>
            </a:r>
            <a:br>
              <a:rPr lang="ru-RU" dirty="0"/>
            </a:br>
            <a:r>
              <a:rPr lang="ru-RU" dirty="0"/>
              <a:t>планшеты, </a:t>
            </a:r>
            <a:r>
              <a:rPr lang="ru-RU" dirty="0" err="1"/>
              <a:t>IoT</a:t>
            </a:r>
            <a:r>
              <a:rPr lang="ru-RU" dirty="0"/>
              <a:t>) в условиях санкций.</a:t>
            </a:r>
          </a:p>
          <a:p>
            <a:pPr marL="0" indent="0">
              <a:buNone/>
            </a:pPr>
            <a:r>
              <a:rPr lang="ru-RU" dirty="0"/>
              <a:t>Ключевые особенности:</a:t>
            </a:r>
          </a:p>
          <a:p>
            <a:r>
              <a:rPr lang="ru-RU" dirty="0"/>
              <a:t>Кроссплатформенность — одна ОС для </a:t>
            </a:r>
            <a:br>
              <a:rPr lang="ru-RU" dirty="0"/>
            </a:br>
            <a:r>
              <a:rPr lang="ru-RU" dirty="0"/>
              <a:t>разных устройств.</a:t>
            </a:r>
          </a:p>
          <a:p>
            <a:r>
              <a:rPr lang="ru-RU" dirty="0"/>
              <a:t>Разработана как замена </a:t>
            </a:r>
            <a:r>
              <a:rPr lang="ru-RU" dirty="0" err="1"/>
              <a:t>Android</a:t>
            </a:r>
            <a:r>
              <a:rPr lang="ru-RU" dirty="0"/>
              <a:t> без сервисов Google.</a:t>
            </a:r>
          </a:p>
          <a:p>
            <a:r>
              <a:rPr lang="ru-RU" dirty="0"/>
              <a:t>Высокая производительность и отзывчивость.</a:t>
            </a:r>
          </a:p>
          <a:p>
            <a:r>
              <a:rPr lang="ru-RU" dirty="0"/>
              <a:t>Ориентация на рынок Китая и экосистему Huawei.</a:t>
            </a:r>
          </a:p>
          <a:p>
            <a:pPr marL="0" indent="0">
              <a:buNone/>
            </a:pPr>
            <a:r>
              <a:rPr lang="ru-RU" dirty="0"/>
              <a:t>Область применения: Рынок Китая, пользователи устройств Huawei, альтернативная экосистема.</a:t>
            </a:r>
          </a:p>
          <a:p>
            <a:pPr marL="0" indent="0">
              <a:buNone/>
            </a:pPr>
            <a:r>
              <a:rPr lang="ru-RU" dirty="0"/>
              <a:t>Оценка качества: Высокое с потенциалом, но ограниченное глобальное присутствие и экосистема.</a:t>
            </a:r>
          </a:p>
        </p:txBody>
      </p:sp>
      <p:pic>
        <p:nvPicPr>
          <p:cNvPr id="4098" name="Picture 2" descr="Harmony OS 2.0 Huawei akan Menyasar Smartphone &amp; Tetap Berbasis Android –  Urbandigital">
            <a:extLst>
              <a:ext uri="{FF2B5EF4-FFF2-40B4-BE49-F238E27FC236}">
                <a16:creationId xmlns:a16="http://schemas.microsoft.com/office/drawing/2014/main" id="{05E348D7-612E-202D-AC0D-9ADECCBCA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5" t="20000" r="24815" b="20000"/>
          <a:stretch/>
        </p:blipFill>
        <p:spPr bwMode="auto">
          <a:xfrm>
            <a:off x="7398214" y="409208"/>
            <a:ext cx="4275625" cy="3395349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105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8DC8A-5A6F-99B2-B638-A48198AB7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KaiOS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9AA3F9-2212-792A-623C-F6891AD52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35640" cy="48021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Правообладатель: </a:t>
            </a:r>
            <a:r>
              <a:rPr lang="ru-RU" dirty="0" err="1"/>
              <a:t>KaiOS</a:t>
            </a:r>
            <a:r>
              <a:rPr lang="ru-RU" dirty="0"/>
              <a:t> Technologies</a:t>
            </a:r>
          </a:p>
          <a:p>
            <a:pPr marL="0" indent="0">
              <a:buNone/>
            </a:pPr>
            <a:r>
              <a:rPr lang="ru-RU" dirty="0"/>
              <a:t>Философия: Доступ к базовым </a:t>
            </a:r>
            <a:r>
              <a:rPr lang="ru-RU" dirty="0" err="1"/>
              <a:t>smart</a:t>
            </a:r>
            <a:r>
              <a:rPr lang="ru-RU" dirty="0"/>
              <a:t>-функциям для всех.</a:t>
            </a:r>
          </a:p>
          <a:p>
            <a:pPr marL="0" indent="0">
              <a:buNone/>
            </a:pPr>
            <a:r>
              <a:rPr lang="ru-RU" dirty="0"/>
              <a:t>Ключевые особенности:</a:t>
            </a:r>
          </a:p>
          <a:p>
            <a:r>
              <a:rPr lang="ru-RU" dirty="0"/>
              <a:t>Оптимизация для кнопочных телефонов</a:t>
            </a:r>
          </a:p>
          <a:p>
            <a:r>
              <a:rPr lang="ru-RU" dirty="0"/>
              <a:t>Поддержка 4G и ключевых приложений</a:t>
            </a:r>
          </a:p>
          <a:p>
            <a:r>
              <a:rPr lang="ru-RU" dirty="0"/>
              <a:t>Низкие требования к железу</a:t>
            </a:r>
          </a:p>
          <a:p>
            <a:r>
              <a:rPr lang="ru-RU" dirty="0"/>
              <a:t>Ограниченный функционал</a:t>
            </a:r>
          </a:p>
          <a:p>
            <a:pPr marL="0" indent="0">
              <a:buNone/>
            </a:pPr>
            <a:r>
              <a:rPr lang="ru-RU" dirty="0"/>
              <a:t>Область применения: Кнопочные телефоны, развивающиеся страны</a:t>
            </a:r>
          </a:p>
          <a:p>
            <a:pPr marL="0" indent="0">
              <a:buNone/>
            </a:pPr>
            <a:r>
              <a:rPr lang="ru-RU" dirty="0"/>
              <a:t>Оценка качества: Высокая, но теряет свою актуальность</a:t>
            </a:r>
          </a:p>
        </p:txBody>
      </p:sp>
      <p:pic>
        <p:nvPicPr>
          <p:cNvPr id="5122" name="Picture 2" descr="KaiOS — Википедия">
            <a:extLst>
              <a:ext uri="{FF2B5EF4-FFF2-40B4-BE49-F238E27FC236}">
                <a16:creationId xmlns:a16="http://schemas.microsoft.com/office/drawing/2014/main" id="{0A14C49C-03F1-23F6-7516-D8339D288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8252"/>
            <a:ext cx="5776822" cy="205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164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F572ED-3659-EB76-B0FE-DB452A363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F9BC8D-90E6-6EB3-C299-9E0DDF992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Дуополия: Миром мобильных ОС правят две силы: открытый и массовый </a:t>
            </a:r>
            <a:r>
              <a:rPr lang="ru-RU" dirty="0" err="1"/>
              <a:t>Android</a:t>
            </a:r>
            <a:r>
              <a:rPr lang="ru-RU" dirty="0"/>
              <a:t> и закрытая, но премиальная </a:t>
            </a:r>
            <a:r>
              <a:rPr lang="ru-RU" dirty="0" err="1"/>
              <a:t>iOS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Основной выбор: Пользователь выбирает между свободой и разнообразием (</a:t>
            </a:r>
            <a:r>
              <a:rPr lang="ru-RU" dirty="0" err="1"/>
              <a:t>Android</a:t>
            </a:r>
            <a:r>
              <a:rPr lang="ru-RU" dirty="0"/>
              <a:t>) и безопасностью и экосистемой (</a:t>
            </a:r>
            <a:r>
              <a:rPr lang="ru-RU" dirty="0" err="1"/>
              <a:t>iOS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/>
              <a:t>Тенденции:</a:t>
            </a:r>
          </a:p>
          <a:p>
            <a:r>
              <a:rPr lang="ru-RU" dirty="0"/>
              <a:t>Стирание граней между </a:t>
            </a:r>
            <a:r>
              <a:rPr lang="ru-RU" dirty="0" err="1"/>
              <a:t>mobile</a:t>
            </a:r>
            <a:r>
              <a:rPr lang="ru-RU" dirty="0"/>
              <a:t> и </a:t>
            </a:r>
            <a:r>
              <a:rPr lang="ru-RU" dirty="0" err="1"/>
              <a:t>desktop</a:t>
            </a:r>
            <a:r>
              <a:rPr lang="ru-RU" dirty="0"/>
              <a:t> (</a:t>
            </a:r>
            <a:r>
              <a:rPr lang="ru-RU" dirty="0" err="1"/>
              <a:t>iPadOS</a:t>
            </a:r>
            <a:r>
              <a:rPr lang="ru-RU" dirty="0"/>
              <a:t>, Samsung </a:t>
            </a:r>
            <a:r>
              <a:rPr lang="ru-RU" dirty="0" err="1"/>
              <a:t>Dex</a:t>
            </a:r>
            <a:r>
              <a:rPr lang="ru-RU" dirty="0"/>
              <a:t>).</a:t>
            </a:r>
          </a:p>
          <a:p>
            <a:r>
              <a:rPr lang="ru-RU" dirty="0"/>
              <a:t>Развитие кроссплатформенных экосистем (</a:t>
            </a:r>
            <a:r>
              <a:rPr lang="ru-RU" dirty="0" err="1"/>
              <a:t>HarmonyOS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/>
              <a:t>Рекомендация: Выбор зависит от предпочтений (открытость </a:t>
            </a:r>
            <a:r>
              <a:rPr lang="ru-RU" dirty="0" err="1"/>
              <a:t>vs</a:t>
            </a:r>
            <a:r>
              <a:rPr lang="ru-RU" dirty="0"/>
              <a:t>. безопасность), бюджета и привязанности к той или иной экосистеме (Google или Apple).</a:t>
            </a:r>
          </a:p>
        </p:txBody>
      </p:sp>
    </p:spTree>
    <p:extLst>
      <p:ext uri="{BB962C8B-B14F-4D97-AF65-F5344CB8AC3E}">
        <p14:creationId xmlns:p14="http://schemas.microsoft.com/office/powerpoint/2010/main" val="3924816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780</Words>
  <Application>Microsoft Office PowerPoint</Application>
  <PresentationFormat>Широкоэкранный</PresentationFormat>
  <Paragraphs>98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Aptos Narrow</vt:lpstr>
      <vt:lpstr>Arial</vt:lpstr>
      <vt:lpstr>Calibri</vt:lpstr>
      <vt:lpstr>Times New Roman</vt:lpstr>
      <vt:lpstr>Тема Office</vt:lpstr>
      <vt:lpstr>Презентация PowerPoint</vt:lpstr>
      <vt:lpstr>Ключевые характеристики операционных систем</vt:lpstr>
      <vt:lpstr>Google Android</vt:lpstr>
      <vt:lpstr>Apple iOS</vt:lpstr>
      <vt:lpstr>HarmonyOS </vt:lpstr>
      <vt:lpstr>KaiOS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Новиков</dc:creator>
  <cp:lastModifiedBy>Дмитрий Новиков</cp:lastModifiedBy>
  <cp:revision>3</cp:revision>
  <dcterms:created xsi:type="dcterms:W3CDTF">2025-11-17T09:03:37Z</dcterms:created>
  <dcterms:modified xsi:type="dcterms:W3CDTF">2025-11-17T09:45:12Z</dcterms:modified>
</cp:coreProperties>
</file>