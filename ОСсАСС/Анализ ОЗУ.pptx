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666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A6D75-9766-A56E-5E74-8414C9B23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CFB632-E200-B240-77F4-DD024ECA4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486E14-7085-D761-D883-9334C833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C3DC97-4F59-9235-1C81-89873A6A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68DC66-318D-0346-BB7D-97A6D432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24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титул">
            <a:extLst>
              <a:ext uri="{FF2B5EF4-FFF2-40B4-BE49-F238E27FC236}">
                <a16:creationId xmlns:a16="http://schemas.microsoft.com/office/drawing/2014/main" id="{4A3E707C-86DD-61CD-367C-4ECC810DE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185" y="342448"/>
            <a:ext cx="5929630" cy="10877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3999E9-09D1-9DD4-D8E7-C5603426D121}"/>
              </a:ext>
            </a:extLst>
          </p:cNvPr>
          <p:cNvSpPr txBox="1"/>
          <p:nvPr/>
        </p:nvSpPr>
        <p:spPr>
          <a:xfrm>
            <a:off x="3046640" y="2763504"/>
            <a:ext cx="6098720" cy="103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Отчет по практической работе №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Дисциплина: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ОССиАСС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DB062-9BB4-0963-4062-399A12327194}"/>
              </a:ext>
            </a:extLst>
          </p:cNvPr>
          <p:cNvSpPr txBox="1"/>
          <p:nvPr/>
        </p:nvSpPr>
        <p:spPr>
          <a:xfrm>
            <a:off x="713014" y="4162536"/>
            <a:ext cx="10765972" cy="2646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809625" algn="r"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Выполнили: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809625" algn="r"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студенты группы 2ИСП9-51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809625" algn="r"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Новиков Д. А.</a:t>
            </a:r>
            <a:b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Паевский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М.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2660015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Москва, 2025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37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Организация памяти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Оперативная память (ОЗУ) включает в себя различные типы, такие как DRAM, SDRAM, DDR, DDR2, DDR3, DDR4 и DDR5, каждый из которых имеет свою организацию и структуру хранения данных.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Основные характеристики оперативной памяти, включая частоту передачи данных и пропускную способность, определяют её производительность.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Форм-факторы модулей ОЗУ, такие как DIMM, SO-DIMM и LRDIMM, влияют на совместимость и применение в различных устройствах.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Частота и пропускная способность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Частота оперативной памяти определяет скорость передачи данных между модулем памяти и процессором.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2909455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Пропускная способность показывает максимальный объём данных, который может быть передан за единицу времени.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374072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Частота и пропускная способность влияют на производительность системы и зависят от типа оперативной памяти (например, DDR3, DDR4, DDR5).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Форм-факторы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Форм-факторы оперативной памяти включают в себя различные модули, такие как DIMM, SO-DIMM и LRDIMM. DIMM является стандартным форм-фактором для настольных компьютеров, в то время как SO-DIMM чаще используется в ноутбуках и компактных системах.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LRDIMM предназначен для серверов и рабочих станций, требующих высокой надёжности и производительности.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Принцип работы каналов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Оперативная память функционирует на основе ячеек или банков памяти, которые хранят данные в двоичном формате.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2909455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зависимости от типа, например, DRAM или DDR4, различаются структура хранения и частота передачи данных.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374072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Каналы оперативной памяти могут быть одноканальными, двухканальными или многоканальными, что влияет на скорость передачи данных и эффективность использования памяти.</a:t>
            </a:r>
            <a:endParaRPr lang="en-US" sz="1400" dirty="0"/>
          </a:p>
        </p:txBody>
      </p:sp>
      <p:pic>
        <p:nvPicPr>
          <p:cNvPr id="1026" name="Picture 2" descr="Многоканальная архитектура памяти — Википедия">
            <a:extLst>
              <a:ext uri="{FF2B5EF4-FFF2-40B4-BE49-F238E27FC236}">
                <a16:creationId xmlns:a16="http://schemas.microsoft.com/office/drawing/2014/main" id="{9B0B5F23-6F93-441C-D5E2-B78473F13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092" y="660616"/>
            <a:ext cx="3767993" cy="5590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Энергопотребление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Оперативная память потребляет разное количество энергии в зависимости от поколения и типа.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Например, современные модули DDR4 и DDR5 демонстрируют значительное снижение энергопотребления по сравнению с более ранними стандартами, такими как DDR3.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Это связано с технологическими усовершенствованиями и оптимизацией работы ячеек памяти.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98764"/>
            <a:ext cx="46800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64" cy="58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Совместимость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Оперативная память различных типов совместима с определёнными материнскими платами и процессорами.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40727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Современные стандарты, такие как DDR4 и DDR5, обеспечивают более высокую совместимость и производительность по сравнению с предыдущими поколениями. Перед выбором оперативной памяти важно убедиться, что её характеристики поддерживаются вашей системой, чтобы избежать возможных проблем и сбоев в работе.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Оценка типов памяти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Оперативная память классифицируется на несколько типов, включая DRAM, SDRAM, DDR, DDR2, DDR3, DDR4 и DDR5, каждый из которых имеет свою организацию и характеристики.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Например, DDR4 отличается более высокой пропускной способностью и энергоэффективностью по сравнению с предыдущими поколениями.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740727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Важно учитывать форм-фактор модулей (DIMM, SO-DIMM и другие) при выборе оперативной памяти, так как они определяют совместимость и применение в различных устройствах.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481606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Таблицы характеристик</a:t>
            </a:r>
            <a:endParaRPr lang="en-US" sz="2200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B0DE20C1-21FF-1C25-8F62-E5AF84708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375976"/>
              </p:ext>
            </p:extLst>
          </p:nvPr>
        </p:nvGraphicFramePr>
        <p:xfrm>
          <a:off x="961292" y="1218745"/>
          <a:ext cx="9683259" cy="4883016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667810">
                  <a:extLst>
                    <a:ext uri="{9D8B030D-6E8A-4147-A177-3AD203B41FA5}">
                      <a16:colId xmlns:a16="http://schemas.microsoft.com/office/drawing/2014/main" val="4102979021"/>
                    </a:ext>
                  </a:extLst>
                </a:gridCol>
                <a:gridCol w="1516488">
                  <a:extLst>
                    <a:ext uri="{9D8B030D-6E8A-4147-A177-3AD203B41FA5}">
                      <a16:colId xmlns:a16="http://schemas.microsoft.com/office/drawing/2014/main" val="1206133290"/>
                    </a:ext>
                  </a:extLst>
                </a:gridCol>
                <a:gridCol w="973892">
                  <a:extLst>
                    <a:ext uri="{9D8B030D-6E8A-4147-A177-3AD203B41FA5}">
                      <a16:colId xmlns:a16="http://schemas.microsoft.com/office/drawing/2014/main" val="2241648993"/>
                    </a:ext>
                  </a:extLst>
                </a:gridCol>
                <a:gridCol w="667810">
                  <a:extLst>
                    <a:ext uri="{9D8B030D-6E8A-4147-A177-3AD203B41FA5}">
                      <a16:colId xmlns:a16="http://schemas.microsoft.com/office/drawing/2014/main" val="2934007322"/>
                    </a:ext>
                  </a:extLst>
                </a:gridCol>
                <a:gridCol w="1391273">
                  <a:extLst>
                    <a:ext uri="{9D8B030D-6E8A-4147-A177-3AD203B41FA5}">
                      <a16:colId xmlns:a16="http://schemas.microsoft.com/office/drawing/2014/main" val="3602927406"/>
                    </a:ext>
                  </a:extLst>
                </a:gridCol>
                <a:gridCol w="667810">
                  <a:extLst>
                    <a:ext uri="{9D8B030D-6E8A-4147-A177-3AD203B41FA5}">
                      <a16:colId xmlns:a16="http://schemas.microsoft.com/office/drawing/2014/main" val="3591755248"/>
                    </a:ext>
                  </a:extLst>
                </a:gridCol>
                <a:gridCol w="1391273">
                  <a:extLst>
                    <a:ext uri="{9D8B030D-6E8A-4147-A177-3AD203B41FA5}">
                      <a16:colId xmlns:a16="http://schemas.microsoft.com/office/drawing/2014/main" val="1935880590"/>
                    </a:ext>
                  </a:extLst>
                </a:gridCol>
                <a:gridCol w="2406903">
                  <a:extLst>
                    <a:ext uri="{9D8B030D-6E8A-4147-A177-3AD203B41FA5}">
                      <a16:colId xmlns:a16="http://schemas.microsoft.com/office/drawing/2014/main" val="2115954223"/>
                    </a:ext>
                  </a:extLst>
                </a:gridCol>
              </a:tblGrid>
              <a:tr h="3891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Тип ОЗУ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Организация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Частота и пропускная способность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Форм-фактор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Принцип работы (канальность)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Энергопотребление (Напряжение, </a:t>
                      </a:r>
                      <a:r>
                        <a:rPr lang="en-US" sz="900" u="none" strike="noStrike">
                          <a:effectLst/>
                        </a:rPr>
                        <a:t>V)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Совместимость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Итоговая оценка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337959"/>
                  </a:ext>
                </a:extLst>
              </a:tr>
              <a:tr h="5660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DRAM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Массив ячеек (</a:t>
                      </a:r>
                      <a:r>
                        <a:rPr lang="ru-RU" sz="900" u="none" strike="noStrike" dirty="0" err="1">
                          <a:effectLst/>
                        </a:rPr>
                        <a:t>конденсатор+транзистор</a:t>
                      </a:r>
                      <a:r>
                        <a:rPr lang="ru-RU" sz="900" u="none" strike="noStrike" dirty="0">
                          <a:effectLst/>
                        </a:rPr>
                        <a:t>). Один банк. Требует постоянной регенерации.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Тактовая частота: ~10-100 МГц. ПС: десятки МБ/с.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DIP, SIPP, SIMM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Одноканальный. Низкая скорость из-за асинхронной работы с шиной.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5.0V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Устаревшая. Используется в очень старых ПК (до 90-х).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Устаревшая. Низкая скорость, высокое энергопотребление. Основа для последующих технологий.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283943"/>
                  </a:ext>
                </a:extLst>
              </a:tr>
              <a:tr h="5660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SDRAM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Синхронизирована с тактовой частотой системной шины. Несколько банков памяти для чередования доступа.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66 - 133 МГц (</a:t>
                      </a:r>
                      <a:r>
                        <a:rPr lang="en-US" sz="900" u="none" strike="noStrike">
                          <a:effectLst/>
                        </a:rPr>
                        <a:t>PC66 - PC133). </a:t>
                      </a:r>
                      <a:r>
                        <a:rPr lang="ru-RU" sz="900" u="none" strike="noStrike">
                          <a:effectLst/>
                        </a:rPr>
                        <a:t>ПС: ~533 МБ/с - 1.06 ГБ/с.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DIMM (168 pin), SO-DIMM (144 pin)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Одноканальный. Данные передаются только по фронту тактового импульса.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3.3V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Устаревшая. Материнские платы для Pentium II/III, AMD Athlon.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Устаревшая. Значительный шаг вперед благодаря синхронизации. Вытеснена DDR.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724594"/>
                  </a:ext>
                </a:extLst>
              </a:tr>
              <a:tr h="5660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DDR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Удвоенная скорость передачи данных. 2n Prefetch (буфер предвыборки 2 бита).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200-400 МГц (DDR-</a:t>
                      </a:r>
                      <a:r>
                        <a:rPr lang="ru-RU" sz="900" u="none" strike="noStrike" dirty="0" err="1">
                          <a:effectLst/>
                        </a:rPr>
                        <a:t>xxx</a:t>
                      </a:r>
                      <a:r>
                        <a:rPr lang="ru-RU" sz="900" u="none" strike="noStrike" dirty="0">
                          <a:effectLst/>
                        </a:rPr>
                        <a:t>). Эффективная: 400-800 МТ/с. ПС: 1.6 - 3.2 ГБ/с.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DIMM (184 pin), SO-DIMM (200 pin)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Одноканальный и двухканальный режимы стали стандартом.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2.5V - 2.6V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Устаревшая. Платы для Pentium 4, AMD Athlon XP/64.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Устаревшая. Революция с удвоением скорости. Хорошая основа для современных стандартов.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930919"/>
                  </a:ext>
                </a:extLst>
              </a:tr>
              <a:tr h="5660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DDR2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Улучшенный буфер предвыборки (4n Prefetch). Увеличенные тайминги (латентность).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400-800 МГц (DDR2-xxx). Эффективная: 800-1600 МТ/с. ПС: 3.2 - 6.4 ГБ/с.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DIMM (240 pin), SO-DIMM (200 pin)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Двухканальный режим — основной для повышения пропускной способности.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1.8V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Устаревшая. Платы для Core 2 Duo, AMD AM2/AM2+.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Устаревшая. Повышение частоты и снижение напряжения. Выше производительность, но выше латентность.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942210"/>
                  </a:ext>
                </a:extLst>
              </a:tr>
              <a:tr h="5660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DDR3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Еще более крупный предвыборчик (8n Prefetch). Улучшенная схема управления.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800-1600 МГц (DDR3-xxx). Эффективная: 1600-3200 МТ/с. ПС: 6.4 - 12.8 ГБ/с.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DIMM (240 pin), SO-DIMM (204 pin)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Двухканальный и трехканальный (в высокопроизводительных системах, напр., LGA1366).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1.5V (1.35V </a:t>
                      </a:r>
                      <a:r>
                        <a:rPr lang="ru-RU" sz="900" u="none" strike="noStrike">
                          <a:effectLst/>
                        </a:rPr>
                        <a:t>для </a:t>
                      </a:r>
                      <a:r>
                        <a:rPr lang="en-US" sz="900" u="none" strike="noStrike">
                          <a:effectLst/>
                        </a:rPr>
                        <a:t>DDR3L)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Устаревающая. Платы для </a:t>
                      </a:r>
                      <a:r>
                        <a:rPr lang="en-US" sz="900" u="none" strike="noStrike" dirty="0">
                          <a:effectLst/>
                        </a:rPr>
                        <a:t>Core </a:t>
                      </a:r>
                      <a:r>
                        <a:rPr lang="en-US" sz="900" u="none" strike="noStrike" dirty="0" err="1">
                          <a:effectLst/>
                        </a:rPr>
                        <a:t>i</a:t>
                      </a:r>
                      <a:r>
                        <a:rPr lang="en-US" sz="900" u="none" strike="noStrike" dirty="0">
                          <a:effectLst/>
                        </a:rPr>
                        <a:t> (1-4 gen), AMD AM3/AM3+, FM1/FM2.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Устаревающая. Значительное снижение энергопотребления и рост частот. Широко распространена.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803853"/>
                  </a:ext>
                </a:extLst>
              </a:tr>
              <a:tr h="5660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DDR4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Банки разделены на группы (Bank Groups) для параллельного доступа. 8n Prefetch.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1600-3200 МГц (DDR4-xxx). Эффективная: 3200-6400 МТ/с. ПС: 12.8 - 25.6 ГБ/с.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DIMM (288 pin), SO-DIMM (260 pin)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Двухканальный, четырехканальный (HEDT/серверы, напр., LGA2066, TRX40).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1.2V (1.05V </a:t>
                      </a:r>
                      <a:r>
                        <a:rPr lang="ru-RU" sz="900" u="none" strike="noStrike">
                          <a:effectLst/>
                        </a:rPr>
                        <a:t>для </a:t>
                      </a:r>
                      <a:r>
                        <a:rPr lang="en-US" sz="900" u="none" strike="noStrike">
                          <a:effectLst/>
                        </a:rPr>
                        <a:t>DDR4L)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Актуальная (предыдущее поколение). Платы для Core i (6-11 </a:t>
                      </a:r>
                      <a:r>
                        <a:rPr lang="ru-RU" sz="900" u="none" strike="noStrike" dirty="0" err="1">
                          <a:effectLst/>
                        </a:rPr>
                        <a:t>gen</a:t>
                      </a:r>
                      <a:r>
                        <a:rPr lang="ru-RU" sz="900" u="none" strike="noStrike" dirty="0">
                          <a:effectLst/>
                        </a:rPr>
                        <a:t>), AMD </a:t>
                      </a:r>
                      <a:r>
                        <a:rPr lang="ru-RU" sz="900" u="none" strike="noStrike" dirty="0" err="1">
                          <a:effectLst/>
                        </a:rPr>
                        <a:t>Ryzen</a:t>
                      </a:r>
                      <a:r>
                        <a:rPr lang="ru-RU" sz="900" u="none" strike="noStrike" dirty="0">
                          <a:effectLst/>
                        </a:rPr>
                        <a:t> (AM4).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Актуальная/Распространенная. Высокая плотность, отличная производительность, низкое энергопотребление.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5194387"/>
                  </a:ext>
                </a:extLst>
              </a:tr>
              <a:tr h="5660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DDR5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Архитектура с двумя независимыми 40-битными каналами на модуль (32 бита данных + 8 ECC). 16n Prefetch.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3200-6400 МГц (DDR5-xxx). Эффективная: 6400-12800+ МТ/с. ПС: 25.6 - 51.2+ ГБ/с.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DIMM (288 pin), SO-DIMM (262 pin)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Двухканальный режим на одном модуле. Поддержка многоканальности на уровне платформы.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1.1V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Современная/Новая. Требует поддержки CPU и чипсета (Intel 12+ gen, AMD Ryzen 7000+).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Передовая. Максимальная скорость, улучшенное управление питанием (PMIC), высокая плотность. Будущее стандарта.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216" marR="3216" marT="321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6743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Выводы по эффективности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результате анализа было выявлено, что современные типы оперативной памяти, такие как DDR4 и DDR5, обладают более высокой скоростью передачи данных и пропускной способностью по сравнению с предыдущими поколениями.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Энергопотребление у новейших модулей значительно ниже, что способствует улучшению энергоэффективности систем.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Также было установлено, что поддержка многоканальной архитектуры и совместимость с современными процессорами делают эти типы памяти предпочтительными для использования в высокопроизводительных компьютерах.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1176</Words>
  <Application>Microsoft Office PowerPoint</Application>
  <PresentationFormat>Широкоэкранный</PresentationFormat>
  <Paragraphs>113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 Narrow</vt:lpstr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Дмитрий Новиков</cp:lastModifiedBy>
  <cp:revision>2</cp:revision>
  <dcterms:created xsi:type="dcterms:W3CDTF">2025-11-18T12:52:31Z</dcterms:created>
  <dcterms:modified xsi:type="dcterms:W3CDTF">2025-11-18T12:56:52Z</dcterms:modified>
</cp:coreProperties>
</file>