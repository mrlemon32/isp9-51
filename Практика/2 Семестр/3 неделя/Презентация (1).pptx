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11F578-8322-47FB-889E-DCC92F566679}" v="261" dt="2024-01-31T13:55:07.0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61E91D-BC6B-4D9E-99E0-443CF880547A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1FF213-C0F9-4074-B074-133A26C970C8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dirty="0">
              <a:latin typeface="Comic Sans MS"/>
            </a:rPr>
            <a:t>Программа — это последовательность команд, которую выполняет компьютер в процессе обработки данных.</a:t>
          </a:r>
          <a:endParaRPr lang="en-US" dirty="0">
            <a:latin typeface="Comic Sans MS"/>
          </a:endParaRPr>
        </a:p>
      </dgm:t>
    </dgm:pt>
    <dgm:pt modelId="{C7808D04-53D3-4D1B-8AAD-23BA2205144B}" type="parTrans" cxnId="{BC86B6F8-D30C-4876-A260-F9123FDD79C1}">
      <dgm:prSet/>
      <dgm:spPr/>
      <dgm:t>
        <a:bodyPr/>
        <a:lstStyle/>
        <a:p>
          <a:endParaRPr lang="en-US"/>
        </a:p>
      </dgm:t>
    </dgm:pt>
    <dgm:pt modelId="{9B337714-9DD0-4C1F-976E-09A971496632}" type="sibTrans" cxnId="{BC86B6F8-D30C-4876-A260-F9123FDD79C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2A146FA-6A72-422C-8C37-63B6D8770437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ru-RU" dirty="0">
              <a:latin typeface="Comic Sans MS"/>
            </a:rPr>
            <a:t>Системное программное обеспечение — это совокупность программ и программных комплексов для обеспечения работы компьютера и сетей ЭВМ. </a:t>
          </a:r>
          <a:endParaRPr lang="en-US" dirty="0">
            <a:latin typeface="Comic Sans MS"/>
          </a:endParaRPr>
        </a:p>
      </dgm:t>
    </dgm:pt>
    <dgm:pt modelId="{F1AA360D-79FB-4677-803B-D2937E69EB4E}" type="parTrans" cxnId="{BCE240E0-E950-46D5-B212-E14C9E059DE1}">
      <dgm:prSet/>
      <dgm:spPr/>
      <dgm:t>
        <a:bodyPr/>
        <a:lstStyle/>
        <a:p>
          <a:endParaRPr lang="en-US"/>
        </a:p>
      </dgm:t>
    </dgm:pt>
    <dgm:pt modelId="{977B2B08-4A44-463F-9B13-5464802489CD}" type="sibTrans" cxnId="{BCE240E0-E950-46D5-B212-E14C9E059DE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767A8C0-B4B4-4543-A26E-31BAE5294668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dirty="0">
              <a:latin typeface="Comic Sans MS"/>
            </a:rPr>
            <a:t>Различают базовое, служебное (сервисное) системное программное обеспечение и операционные системы.</a:t>
          </a:r>
          <a:endParaRPr lang="en-US" dirty="0">
            <a:latin typeface="Comic Sans MS"/>
          </a:endParaRPr>
        </a:p>
      </dgm:t>
    </dgm:pt>
    <dgm:pt modelId="{06E5ACB6-BD8F-4A89-A991-6E3AB1D14356}" type="parTrans" cxnId="{1B247290-825E-4A70-BF1A-28FA8D481299}">
      <dgm:prSet/>
      <dgm:spPr/>
      <dgm:t>
        <a:bodyPr/>
        <a:lstStyle/>
        <a:p>
          <a:endParaRPr lang="en-US"/>
        </a:p>
      </dgm:t>
    </dgm:pt>
    <dgm:pt modelId="{516DFC80-8FC8-4A24-9B15-70C9FD47A032}" type="sibTrans" cxnId="{1B247290-825E-4A70-BF1A-28FA8D481299}">
      <dgm:prSet/>
      <dgm:spPr/>
      <dgm:t>
        <a:bodyPr/>
        <a:lstStyle/>
        <a:p>
          <a:endParaRPr lang="en-US"/>
        </a:p>
      </dgm:t>
    </dgm:pt>
    <dgm:pt modelId="{C6FACE00-5BBA-4FB3-8247-D204C2C585A6}" type="pres">
      <dgm:prSet presAssocID="{3D61E91D-BC6B-4D9E-99E0-443CF880547A}" presName="root" presStyleCnt="0">
        <dgm:presLayoutVars>
          <dgm:dir/>
          <dgm:resizeHandles val="exact"/>
        </dgm:presLayoutVars>
      </dgm:prSet>
      <dgm:spPr/>
    </dgm:pt>
    <dgm:pt modelId="{A3C5D89D-07D6-408D-906C-8E7889B72082}" type="pres">
      <dgm:prSet presAssocID="{3D61E91D-BC6B-4D9E-99E0-443CF880547A}" presName="container" presStyleCnt="0">
        <dgm:presLayoutVars>
          <dgm:dir/>
          <dgm:resizeHandles val="exact"/>
        </dgm:presLayoutVars>
      </dgm:prSet>
      <dgm:spPr/>
    </dgm:pt>
    <dgm:pt modelId="{23E0E2E7-6612-46B4-829C-E16B3690237E}" type="pres">
      <dgm:prSet presAssocID="{4C1FF213-C0F9-4074-B074-133A26C970C8}" presName="compNode" presStyleCnt="0"/>
      <dgm:spPr/>
    </dgm:pt>
    <dgm:pt modelId="{909089E4-2202-4107-AF13-C59F43260F71}" type="pres">
      <dgm:prSet presAssocID="{4C1FF213-C0F9-4074-B074-133A26C970C8}" presName="iconBgRect" presStyleLbl="bgShp" presStyleIdx="0" presStyleCnt="3"/>
      <dgm:spPr/>
    </dgm:pt>
    <dgm:pt modelId="{30A7BC4B-88E2-4F5C-A290-95FE89A9A697}" type="pres">
      <dgm:prSet presAssocID="{4C1FF213-C0F9-4074-B074-133A26C970C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Процессор"/>
        </a:ext>
      </dgm:extLst>
    </dgm:pt>
    <dgm:pt modelId="{B9D4582C-7189-4B01-B77F-172B3B139437}" type="pres">
      <dgm:prSet presAssocID="{4C1FF213-C0F9-4074-B074-133A26C970C8}" presName="spaceRect" presStyleCnt="0"/>
      <dgm:spPr/>
    </dgm:pt>
    <dgm:pt modelId="{61DD51D2-61DD-4223-9C76-2D848B0379A9}" type="pres">
      <dgm:prSet presAssocID="{4C1FF213-C0F9-4074-B074-133A26C970C8}" presName="textRect" presStyleLbl="revTx" presStyleIdx="0" presStyleCnt="3">
        <dgm:presLayoutVars>
          <dgm:chMax val="1"/>
          <dgm:chPref val="1"/>
        </dgm:presLayoutVars>
      </dgm:prSet>
      <dgm:spPr/>
    </dgm:pt>
    <dgm:pt modelId="{FB5B3194-FFF5-48A1-8022-F1E21A9F8996}" type="pres">
      <dgm:prSet presAssocID="{9B337714-9DD0-4C1F-976E-09A971496632}" presName="sibTrans" presStyleLbl="sibTrans2D1" presStyleIdx="0" presStyleCnt="0"/>
      <dgm:spPr/>
    </dgm:pt>
    <dgm:pt modelId="{D9EDD715-AF88-425C-933A-CF115AD35320}" type="pres">
      <dgm:prSet presAssocID="{62A146FA-6A72-422C-8C37-63B6D8770437}" presName="compNode" presStyleCnt="0"/>
      <dgm:spPr/>
    </dgm:pt>
    <dgm:pt modelId="{47041C67-FCF5-4F15-9E7B-18295BF6C3E0}" type="pres">
      <dgm:prSet presAssocID="{62A146FA-6A72-422C-8C37-63B6D8770437}" presName="iconBgRect" presStyleLbl="bgShp" presStyleIdx="1" presStyleCnt="3"/>
      <dgm:spPr/>
    </dgm:pt>
    <dgm:pt modelId="{C985CE8E-AF14-4376-9EAF-2573C50A4195}" type="pres">
      <dgm:prSet presAssocID="{62A146FA-6A72-422C-8C37-63B6D877043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Нет подключения"/>
        </a:ext>
      </dgm:extLst>
    </dgm:pt>
    <dgm:pt modelId="{DCA34C93-6380-423F-B5C1-23FEDE0CDBAB}" type="pres">
      <dgm:prSet presAssocID="{62A146FA-6A72-422C-8C37-63B6D8770437}" presName="spaceRect" presStyleCnt="0"/>
      <dgm:spPr/>
    </dgm:pt>
    <dgm:pt modelId="{D47C8DB6-8E67-495A-9044-B9C5B19BDF18}" type="pres">
      <dgm:prSet presAssocID="{62A146FA-6A72-422C-8C37-63B6D8770437}" presName="textRect" presStyleLbl="revTx" presStyleIdx="1" presStyleCnt="3">
        <dgm:presLayoutVars>
          <dgm:chMax val="1"/>
          <dgm:chPref val="1"/>
        </dgm:presLayoutVars>
      </dgm:prSet>
      <dgm:spPr/>
    </dgm:pt>
    <dgm:pt modelId="{D01CE675-8A99-4F8C-A09C-47ECFA4D3E63}" type="pres">
      <dgm:prSet presAssocID="{977B2B08-4A44-463F-9B13-5464802489CD}" presName="sibTrans" presStyleLbl="sibTrans2D1" presStyleIdx="0" presStyleCnt="0"/>
      <dgm:spPr/>
    </dgm:pt>
    <dgm:pt modelId="{28F40692-86F8-46F4-8FC0-1D1F925C335F}" type="pres">
      <dgm:prSet presAssocID="{A767A8C0-B4B4-4543-A26E-31BAE5294668}" presName="compNode" presStyleCnt="0"/>
      <dgm:spPr/>
    </dgm:pt>
    <dgm:pt modelId="{DC5C9AF5-F226-4AF4-96F0-B2DB1DDA198B}" type="pres">
      <dgm:prSet presAssocID="{A767A8C0-B4B4-4543-A26E-31BAE5294668}" presName="iconBgRect" presStyleLbl="bgShp" presStyleIdx="2" presStyleCnt="3"/>
      <dgm:spPr/>
    </dgm:pt>
    <dgm:pt modelId="{D51EE33B-CF9F-4262-BEDD-34CB688DC255}" type="pres">
      <dgm:prSet presAssocID="{A767A8C0-B4B4-4543-A26E-31BAE529466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Космонавт"/>
        </a:ext>
      </dgm:extLst>
    </dgm:pt>
    <dgm:pt modelId="{940FE438-E344-420F-B6D3-564D8EE70ECD}" type="pres">
      <dgm:prSet presAssocID="{A767A8C0-B4B4-4543-A26E-31BAE5294668}" presName="spaceRect" presStyleCnt="0"/>
      <dgm:spPr/>
    </dgm:pt>
    <dgm:pt modelId="{C7DB24B4-27D8-4764-A3DF-C247E96C6693}" type="pres">
      <dgm:prSet presAssocID="{A767A8C0-B4B4-4543-A26E-31BAE529466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862CE0D-99A5-42CC-8778-C0760240B423}" type="presOf" srcId="{4C1FF213-C0F9-4074-B074-133A26C970C8}" destId="{61DD51D2-61DD-4223-9C76-2D848B0379A9}" srcOrd="0" destOrd="0" presId="urn:microsoft.com/office/officeart/2018/2/layout/IconCircleList"/>
    <dgm:cxn modelId="{19155E28-9B47-478D-B154-385D8FDEAA5D}" type="presOf" srcId="{62A146FA-6A72-422C-8C37-63B6D8770437}" destId="{D47C8DB6-8E67-495A-9044-B9C5B19BDF18}" srcOrd="0" destOrd="0" presId="urn:microsoft.com/office/officeart/2018/2/layout/IconCircleList"/>
    <dgm:cxn modelId="{C777FD4F-FC73-4B1A-9FB4-DB21A66E1FCD}" type="presOf" srcId="{9B337714-9DD0-4C1F-976E-09A971496632}" destId="{FB5B3194-FFF5-48A1-8022-F1E21A9F8996}" srcOrd="0" destOrd="0" presId="urn:microsoft.com/office/officeart/2018/2/layout/IconCircleList"/>
    <dgm:cxn modelId="{E8E6A976-8E00-4E07-B4B7-16E2C27AD0AF}" type="presOf" srcId="{A767A8C0-B4B4-4543-A26E-31BAE5294668}" destId="{C7DB24B4-27D8-4764-A3DF-C247E96C6693}" srcOrd="0" destOrd="0" presId="urn:microsoft.com/office/officeart/2018/2/layout/IconCircleList"/>
    <dgm:cxn modelId="{1B247290-825E-4A70-BF1A-28FA8D481299}" srcId="{3D61E91D-BC6B-4D9E-99E0-443CF880547A}" destId="{A767A8C0-B4B4-4543-A26E-31BAE5294668}" srcOrd="2" destOrd="0" parTransId="{06E5ACB6-BD8F-4A89-A991-6E3AB1D14356}" sibTransId="{516DFC80-8FC8-4A24-9B15-70C9FD47A032}"/>
    <dgm:cxn modelId="{E37D649A-74B2-4E0A-8401-35FBA09436E3}" type="presOf" srcId="{977B2B08-4A44-463F-9B13-5464802489CD}" destId="{D01CE675-8A99-4F8C-A09C-47ECFA4D3E63}" srcOrd="0" destOrd="0" presId="urn:microsoft.com/office/officeart/2018/2/layout/IconCircleList"/>
    <dgm:cxn modelId="{6E8A97DF-93A3-4741-8CF0-E0AE9B165094}" type="presOf" srcId="{3D61E91D-BC6B-4D9E-99E0-443CF880547A}" destId="{C6FACE00-5BBA-4FB3-8247-D204C2C585A6}" srcOrd="0" destOrd="0" presId="urn:microsoft.com/office/officeart/2018/2/layout/IconCircleList"/>
    <dgm:cxn modelId="{BCE240E0-E950-46D5-B212-E14C9E059DE1}" srcId="{3D61E91D-BC6B-4D9E-99E0-443CF880547A}" destId="{62A146FA-6A72-422C-8C37-63B6D8770437}" srcOrd="1" destOrd="0" parTransId="{F1AA360D-79FB-4677-803B-D2937E69EB4E}" sibTransId="{977B2B08-4A44-463F-9B13-5464802489CD}"/>
    <dgm:cxn modelId="{BC86B6F8-D30C-4876-A260-F9123FDD79C1}" srcId="{3D61E91D-BC6B-4D9E-99E0-443CF880547A}" destId="{4C1FF213-C0F9-4074-B074-133A26C970C8}" srcOrd="0" destOrd="0" parTransId="{C7808D04-53D3-4D1B-8AAD-23BA2205144B}" sibTransId="{9B337714-9DD0-4C1F-976E-09A971496632}"/>
    <dgm:cxn modelId="{E2F2CCE9-1D4F-4482-A773-40AECFBF2DCB}" type="presParOf" srcId="{C6FACE00-5BBA-4FB3-8247-D204C2C585A6}" destId="{A3C5D89D-07D6-408D-906C-8E7889B72082}" srcOrd="0" destOrd="0" presId="urn:microsoft.com/office/officeart/2018/2/layout/IconCircleList"/>
    <dgm:cxn modelId="{CAF2BAF9-DFA2-4E6A-BE38-D58C95170C92}" type="presParOf" srcId="{A3C5D89D-07D6-408D-906C-8E7889B72082}" destId="{23E0E2E7-6612-46B4-829C-E16B3690237E}" srcOrd="0" destOrd="0" presId="urn:microsoft.com/office/officeart/2018/2/layout/IconCircleList"/>
    <dgm:cxn modelId="{D46499B0-2626-4B2A-891A-B479DE82601B}" type="presParOf" srcId="{23E0E2E7-6612-46B4-829C-E16B3690237E}" destId="{909089E4-2202-4107-AF13-C59F43260F71}" srcOrd="0" destOrd="0" presId="urn:microsoft.com/office/officeart/2018/2/layout/IconCircleList"/>
    <dgm:cxn modelId="{B8C0DF0A-5633-4365-A130-C9402BBF6F9F}" type="presParOf" srcId="{23E0E2E7-6612-46B4-829C-E16B3690237E}" destId="{30A7BC4B-88E2-4F5C-A290-95FE89A9A697}" srcOrd="1" destOrd="0" presId="urn:microsoft.com/office/officeart/2018/2/layout/IconCircleList"/>
    <dgm:cxn modelId="{EB710EBD-2766-46FE-9092-B198EE30D3A5}" type="presParOf" srcId="{23E0E2E7-6612-46B4-829C-E16B3690237E}" destId="{B9D4582C-7189-4B01-B77F-172B3B139437}" srcOrd="2" destOrd="0" presId="urn:microsoft.com/office/officeart/2018/2/layout/IconCircleList"/>
    <dgm:cxn modelId="{E2BB2800-FD48-4EB5-A344-FA2FBE8E7600}" type="presParOf" srcId="{23E0E2E7-6612-46B4-829C-E16B3690237E}" destId="{61DD51D2-61DD-4223-9C76-2D848B0379A9}" srcOrd="3" destOrd="0" presId="urn:microsoft.com/office/officeart/2018/2/layout/IconCircleList"/>
    <dgm:cxn modelId="{012F1D89-D0A8-4A42-BDB9-5AD4FDCBEF57}" type="presParOf" srcId="{A3C5D89D-07D6-408D-906C-8E7889B72082}" destId="{FB5B3194-FFF5-48A1-8022-F1E21A9F8996}" srcOrd="1" destOrd="0" presId="urn:microsoft.com/office/officeart/2018/2/layout/IconCircleList"/>
    <dgm:cxn modelId="{491CE36C-5E3C-4E74-B0F2-7607E19CB1EA}" type="presParOf" srcId="{A3C5D89D-07D6-408D-906C-8E7889B72082}" destId="{D9EDD715-AF88-425C-933A-CF115AD35320}" srcOrd="2" destOrd="0" presId="urn:microsoft.com/office/officeart/2018/2/layout/IconCircleList"/>
    <dgm:cxn modelId="{AC07E862-1783-4FA0-9E4C-13F0CCCF527F}" type="presParOf" srcId="{D9EDD715-AF88-425C-933A-CF115AD35320}" destId="{47041C67-FCF5-4F15-9E7B-18295BF6C3E0}" srcOrd="0" destOrd="0" presId="urn:microsoft.com/office/officeart/2018/2/layout/IconCircleList"/>
    <dgm:cxn modelId="{EDDFB99E-A998-4668-8E4A-4BD6AB45FE0A}" type="presParOf" srcId="{D9EDD715-AF88-425C-933A-CF115AD35320}" destId="{C985CE8E-AF14-4376-9EAF-2573C50A4195}" srcOrd="1" destOrd="0" presId="urn:microsoft.com/office/officeart/2018/2/layout/IconCircleList"/>
    <dgm:cxn modelId="{B00D4A15-5F01-4FD3-9C93-163138CC9974}" type="presParOf" srcId="{D9EDD715-AF88-425C-933A-CF115AD35320}" destId="{DCA34C93-6380-423F-B5C1-23FEDE0CDBAB}" srcOrd="2" destOrd="0" presId="urn:microsoft.com/office/officeart/2018/2/layout/IconCircleList"/>
    <dgm:cxn modelId="{4C841261-A4DE-496A-8AA2-A166B1DBBE3E}" type="presParOf" srcId="{D9EDD715-AF88-425C-933A-CF115AD35320}" destId="{D47C8DB6-8E67-495A-9044-B9C5B19BDF18}" srcOrd="3" destOrd="0" presId="urn:microsoft.com/office/officeart/2018/2/layout/IconCircleList"/>
    <dgm:cxn modelId="{921AE6D9-A727-4D6C-A806-AA60D50D3D06}" type="presParOf" srcId="{A3C5D89D-07D6-408D-906C-8E7889B72082}" destId="{D01CE675-8A99-4F8C-A09C-47ECFA4D3E63}" srcOrd="3" destOrd="0" presId="urn:microsoft.com/office/officeart/2018/2/layout/IconCircleList"/>
    <dgm:cxn modelId="{38E4F7A8-D9D6-49CC-9FCE-9D7094A5BC7F}" type="presParOf" srcId="{A3C5D89D-07D6-408D-906C-8E7889B72082}" destId="{28F40692-86F8-46F4-8FC0-1D1F925C335F}" srcOrd="4" destOrd="0" presId="urn:microsoft.com/office/officeart/2018/2/layout/IconCircleList"/>
    <dgm:cxn modelId="{4281AD5C-BAA2-420E-859C-E85B1BF4103B}" type="presParOf" srcId="{28F40692-86F8-46F4-8FC0-1D1F925C335F}" destId="{DC5C9AF5-F226-4AF4-96F0-B2DB1DDA198B}" srcOrd="0" destOrd="0" presId="urn:microsoft.com/office/officeart/2018/2/layout/IconCircleList"/>
    <dgm:cxn modelId="{D7590D25-0812-4620-B95C-C80310E44E11}" type="presParOf" srcId="{28F40692-86F8-46F4-8FC0-1D1F925C335F}" destId="{D51EE33B-CF9F-4262-BEDD-34CB688DC255}" srcOrd="1" destOrd="0" presId="urn:microsoft.com/office/officeart/2018/2/layout/IconCircleList"/>
    <dgm:cxn modelId="{F5074390-4A6F-4391-95EA-490D8F41BF29}" type="presParOf" srcId="{28F40692-86F8-46F4-8FC0-1D1F925C335F}" destId="{940FE438-E344-420F-B6D3-564D8EE70ECD}" srcOrd="2" destOrd="0" presId="urn:microsoft.com/office/officeart/2018/2/layout/IconCircleList"/>
    <dgm:cxn modelId="{65F39E11-88B6-41DF-840D-3A596F3866BE}" type="presParOf" srcId="{28F40692-86F8-46F4-8FC0-1D1F925C335F}" destId="{C7DB24B4-27D8-4764-A3DF-C247E96C669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9089E4-2202-4107-AF13-C59F43260F71}">
      <dsp:nvSpPr>
        <dsp:cNvPr id="0" name=""/>
        <dsp:cNvSpPr/>
      </dsp:nvSpPr>
      <dsp:spPr>
        <a:xfrm>
          <a:off x="134983" y="1366346"/>
          <a:ext cx="903394" cy="903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A7BC4B-88E2-4F5C-A290-95FE89A9A697}">
      <dsp:nvSpPr>
        <dsp:cNvPr id="0" name=""/>
        <dsp:cNvSpPr/>
      </dsp:nvSpPr>
      <dsp:spPr>
        <a:xfrm>
          <a:off x="324696" y="1556059"/>
          <a:ext cx="523968" cy="5239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DD51D2-61DD-4223-9C76-2D848B0379A9}">
      <dsp:nvSpPr>
        <dsp:cNvPr id="0" name=""/>
        <dsp:cNvSpPr/>
      </dsp:nvSpPr>
      <dsp:spPr>
        <a:xfrm>
          <a:off x="1231962" y="1366346"/>
          <a:ext cx="2129429" cy="903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latin typeface="Comic Sans MS"/>
            </a:rPr>
            <a:t>Программа — это последовательность команд, которую выполняет компьютер в процессе обработки данных.</a:t>
          </a:r>
          <a:endParaRPr lang="en-US" sz="1100" kern="1200" dirty="0">
            <a:latin typeface="Comic Sans MS"/>
          </a:endParaRPr>
        </a:p>
      </dsp:txBody>
      <dsp:txXfrm>
        <a:off x="1231962" y="1366346"/>
        <a:ext cx="2129429" cy="903394"/>
      </dsp:txXfrm>
    </dsp:sp>
    <dsp:sp modelId="{47041C67-FCF5-4F15-9E7B-18295BF6C3E0}">
      <dsp:nvSpPr>
        <dsp:cNvPr id="0" name=""/>
        <dsp:cNvSpPr/>
      </dsp:nvSpPr>
      <dsp:spPr>
        <a:xfrm>
          <a:off x="3732428" y="1366346"/>
          <a:ext cx="903394" cy="903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85CE8E-AF14-4376-9EAF-2573C50A4195}">
      <dsp:nvSpPr>
        <dsp:cNvPr id="0" name=""/>
        <dsp:cNvSpPr/>
      </dsp:nvSpPr>
      <dsp:spPr>
        <a:xfrm>
          <a:off x="3922141" y="1556059"/>
          <a:ext cx="523968" cy="5239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7C8DB6-8E67-495A-9044-B9C5B19BDF18}">
      <dsp:nvSpPr>
        <dsp:cNvPr id="0" name=""/>
        <dsp:cNvSpPr/>
      </dsp:nvSpPr>
      <dsp:spPr>
        <a:xfrm>
          <a:off x="4829407" y="1366346"/>
          <a:ext cx="2129429" cy="903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latin typeface="Comic Sans MS"/>
            </a:rPr>
            <a:t>Системное программное обеспечение — это совокупность программ и программных комплексов для обеспечения работы компьютера и сетей ЭВМ. </a:t>
          </a:r>
          <a:endParaRPr lang="en-US" sz="1100" kern="1200" dirty="0">
            <a:latin typeface="Comic Sans MS"/>
          </a:endParaRPr>
        </a:p>
      </dsp:txBody>
      <dsp:txXfrm>
        <a:off x="4829407" y="1366346"/>
        <a:ext cx="2129429" cy="903394"/>
      </dsp:txXfrm>
    </dsp:sp>
    <dsp:sp modelId="{DC5C9AF5-F226-4AF4-96F0-B2DB1DDA198B}">
      <dsp:nvSpPr>
        <dsp:cNvPr id="0" name=""/>
        <dsp:cNvSpPr/>
      </dsp:nvSpPr>
      <dsp:spPr>
        <a:xfrm>
          <a:off x="7329873" y="1366346"/>
          <a:ext cx="903394" cy="903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1EE33B-CF9F-4262-BEDD-34CB688DC255}">
      <dsp:nvSpPr>
        <dsp:cNvPr id="0" name=""/>
        <dsp:cNvSpPr/>
      </dsp:nvSpPr>
      <dsp:spPr>
        <a:xfrm>
          <a:off x="7519586" y="1556059"/>
          <a:ext cx="523968" cy="5239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DB24B4-27D8-4764-A3DF-C247E96C6693}">
      <dsp:nvSpPr>
        <dsp:cNvPr id="0" name=""/>
        <dsp:cNvSpPr/>
      </dsp:nvSpPr>
      <dsp:spPr>
        <a:xfrm>
          <a:off x="8426852" y="1366346"/>
          <a:ext cx="2129429" cy="903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latin typeface="Comic Sans MS"/>
            </a:rPr>
            <a:t>Различают базовое, служебное (сервисное) системное программное обеспечение и операционные системы.</a:t>
          </a:r>
          <a:endParaRPr lang="en-US" sz="1100" kern="1200" dirty="0">
            <a:latin typeface="Comic Sans MS"/>
          </a:endParaRPr>
        </a:p>
      </dsp:txBody>
      <dsp:txXfrm>
        <a:off x="8426852" y="1366346"/>
        <a:ext cx="2129429" cy="9033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D4F60-3B00-4DB4-90A4-67F8107A0900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089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69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20BAB-D1DB-4DC1-908A-9B5E73715905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82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2DD5A-C337-4F22-BED0-547AFC68CFD6}" type="datetime1">
              <a:rPr lang="en-US" smtClean="0"/>
              <a:t>1/31/2024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198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DFBF-4DB8-447F-A740-22B1B0F7DDD8}" type="datetime1">
              <a:rPr lang="en-US" smtClean="0"/>
              <a:t>1/31/2024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16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2435-B87A-4434-B86A-1406D5D81959}" type="datetime1">
              <a:rPr lang="en-US" smtClean="0"/>
              <a:t>1/31/2024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220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850E0-9242-469C-9FA7-447D7E43FF29}" type="datetime1">
              <a:rPr lang="en-US" smtClean="0"/>
              <a:t>1/31/2024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65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84C1-634B-4D2F-90E1-C39B48114444}" type="datetime1">
              <a:rPr lang="en-US" smtClean="0"/>
              <a:t>1/31/2024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750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A4FC1-9CCD-4E4B-AB4D-5CAEC19C950B}" type="datetime1">
              <a:rPr lang="en-US" smtClean="0"/>
              <a:t>1/31/2024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77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12018-AE0B-45B3-8833-1C61B747ADFD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493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74D72-DF44-407D-AEE5-0273DD00D922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05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FBA78304-8938-479D-8111-AA943458A814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884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Перо помещено вверху строки подписи">
            <a:extLst>
              <a:ext uri="{FF2B5EF4-FFF2-40B4-BE49-F238E27FC236}">
                <a16:creationId xmlns:a16="http://schemas.microsoft.com/office/drawing/2014/main" id="{BFD70988-FDE1-18EA-5906-36F8F96E45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2" b="15603"/>
          <a:stretch/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  <a:latin typeface="Comic Sans MS"/>
                <a:ea typeface="Calibri Light"/>
                <a:cs typeface="Calibri Light"/>
              </a:rPr>
              <a:t>Знакомство с файловой системой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2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4">
            <a:extLst>
              <a:ext uri="{FF2B5EF4-FFF2-40B4-BE49-F238E27FC236}">
                <a16:creationId xmlns:a16="http://schemas.microsoft.com/office/drawing/2014/main" id="{799A8EBD-049C-48E6-97ED-C9102D78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2289" y="722376"/>
            <a:ext cx="15621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 descr="Изображение выглядит как снимок экрана, технология, в помещении, свет&#10;&#10;Автоматически созданное описание">
            <a:extLst>
              <a:ext uri="{FF2B5EF4-FFF2-40B4-BE49-F238E27FC236}">
                <a16:creationId xmlns:a16="http://schemas.microsoft.com/office/drawing/2014/main" id="{98447A16-604A-DC8A-D900-77F83EADFC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3" b="7579"/>
          <a:stretch/>
        </p:blipFill>
        <p:spPr>
          <a:xfrm>
            <a:off x="154" y="10"/>
            <a:ext cx="5579379" cy="3428990"/>
          </a:xfrm>
          <a:prstGeom prst="rect">
            <a:avLst/>
          </a:prstGeom>
        </p:spPr>
      </p:pic>
      <p:pic>
        <p:nvPicPr>
          <p:cNvPr id="8" name="Рисунок 7" descr="Изображение выглядит как снимок экрана, технология, в помещении, свет&#10;&#10;Автоматически созданное описание">
            <a:extLst>
              <a:ext uri="{FF2B5EF4-FFF2-40B4-BE49-F238E27FC236}">
                <a16:creationId xmlns:a16="http://schemas.microsoft.com/office/drawing/2014/main" id="{3C402CAB-33E7-C03A-063B-5EF4B2C4A7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3" b="7578"/>
          <a:stretch/>
        </p:blipFill>
        <p:spPr>
          <a:xfrm>
            <a:off x="154" y="3429000"/>
            <a:ext cx="5579379" cy="3429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7E8EFA-592B-EAD8-3EAC-4B96B0027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928" y="1056131"/>
            <a:ext cx="5367528" cy="1316736"/>
          </a:xfrm>
        </p:spPr>
        <p:txBody>
          <a:bodyPr>
            <a:normAutofit/>
          </a:bodyPr>
          <a:lstStyle/>
          <a:p>
            <a:r>
              <a:rPr lang="ru-RU" dirty="0">
                <a:latin typeface="Comic Sans MS"/>
              </a:rPr>
              <a:t>Файл и каталог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5D16B5-F0DE-B439-F25D-9F9FB47F5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048" y="2135123"/>
            <a:ext cx="5367528" cy="403935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ru-RU" dirty="0">
                <a:latin typeface="Comic Sans MS"/>
                <a:ea typeface="+mn-lt"/>
                <a:cs typeface="+mn-lt"/>
              </a:rPr>
              <a:t>Данные - это любая информация. Данными можно назвать текст, рисунок, таблицу, видео, звук.</a:t>
            </a:r>
          </a:p>
          <a:p>
            <a:pPr>
              <a:lnSpc>
                <a:spcPct val="100000"/>
              </a:lnSpc>
            </a:pPr>
            <a:r>
              <a:rPr lang="ru-RU" dirty="0">
                <a:latin typeface="Comic Sans MS"/>
                <a:ea typeface="+mn-lt"/>
                <a:cs typeface="+mn-lt"/>
              </a:rPr>
              <a:t>При сохранении определенных данных на диске предполагается, что когда-нибудь они понадобятся снова. Для поиска данных необходимо знать, где они были сохранены, а также имя, по которому к ним обращаться. Для сохранения адреса и имени области диска, где хранятся конкретные данные, было введено понятие файла. </a:t>
            </a:r>
            <a:endParaRPr lang="ru-RU">
              <a:latin typeface="Comic Sans MS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5AA429-704A-2843-4F56-4ADDAF9946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26DE685-1B6F-4D7C-AEF2-C9AD71EC467A}" type="datetime1">
              <a:rPr lang="en-US" smtClean="0"/>
              <a:pPr>
                <a:spcAft>
                  <a:spcPts val="600"/>
                </a:spcAft>
              </a:pPr>
              <a:t>1/31/2024</a:t>
            </a:fld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DB85D7-C3A7-943F-95CF-6D2416406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7E7843D-FF13-4365-9478-9625B70A270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814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Рисунок 9" descr="Изображение выглядит как электроника, компьютер, клавиатура, Электронное устройство&#10;&#10;Автоматически созданное описание">
            <a:extLst>
              <a:ext uri="{FF2B5EF4-FFF2-40B4-BE49-F238E27FC236}">
                <a16:creationId xmlns:a16="http://schemas.microsoft.com/office/drawing/2014/main" id="{CC2D592E-AB91-B8C6-817D-DC78724CF3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10000"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cxnSp>
        <p:nvCxnSpPr>
          <p:cNvPr id="21" name="Straight Connector 16">
            <a:extLst>
              <a:ext uri="{FF2B5EF4-FFF2-40B4-BE49-F238E27FC236}">
                <a16:creationId xmlns:a16="http://schemas.microsoft.com/office/drawing/2014/main" id="{BCE733BF-B95F-4869-AB8F-D90C6F595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D1166D6-1A36-41B0-8A82-37761E6F3D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Объект 8">
            <a:extLst>
              <a:ext uri="{FF2B5EF4-FFF2-40B4-BE49-F238E27FC236}">
                <a16:creationId xmlns:a16="http://schemas.microsoft.com/office/drawing/2014/main" id="{6EB86DD8-FC07-27A4-94C0-E96CCFC35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624" y="1346370"/>
            <a:ext cx="10787275" cy="407478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400" dirty="0">
                <a:solidFill>
                  <a:schemeClr val="bg1"/>
                </a:solidFill>
                <a:latin typeface="Comic Sans MS"/>
                <a:ea typeface="+mn-lt"/>
                <a:cs typeface="+mn-lt"/>
              </a:rPr>
              <a:t>Файл - это именованное место на диске для хранения данных определенного типа.</a:t>
            </a:r>
            <a:endParaRPr lang="ru-RU" sz="2400">
              <a:solidFill>
                <a:schemeClr val="bg1"/>
              </a:solidFill>
              <a:latin typeface="Comic Sans MS"/>
            </a:endParaRPr>
          </a:p>
          <a:p>
            <a:pPr>
              <a:lnSpc>
                <a:spcPct val="100000"/>
              </a:lnSpc>
            </a:pPr>
            <a:endParaRPr lang="ru-RU" sz="2400" dirty="0">
              <a:solidFill>
                <a:schemeClr val="bg1"/>
              </a:solidFill>
              <a:latin typeface="Comic Sans MS"/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2400" dirty="0">
                <a:solidFill>
                  <a:schemeClr val="bg1"/>
                </a:solidFill>
                <a:latin typeface="Comic Sans MS"/>
                <a:ea typeface="+mn-lt"/>
                <a:cs typeface="+mn-lt"/>
              </a:rPr>
              <a:t>Файлов может быть очень много, и они могут находиться в разных местах жесткого диски. Для того чтобы упорядочить и систематизировать файлы, существует особый тип файла - каталог, который представляет собой список ссылок на файлы с данными или другие каталоги. Если в операционной системе (ОС) открыть каталог, то можно увидеть файлы и другие каталоги, которые как бы в нем хранятся. </a:t>
            </a:r>
          </a:p>
          <a:p>
            <a:pPr>
              <a:lnSpc>
                <a:spcPct val="100000"/>
              </a:lnSpc>
            </a:pPr>
            <a:endParaRPr lang="ru-RU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endParaRPr lang="ru-RU">
              <a:solidFill>
                <a:schemeClr val="bg1"/>
              </a:solidFill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54ED7C-9DFA-2BFF-4594-896DB1BFC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26DE685-1B6F-4D7C-AEF2-C9AD71EC467A}" type="datetime1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1/31/2024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6FBB00-F932-EDA6-0809-3A6F77838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7E7843D-FF13-4365-9478-9625B70A2705}" type="slidenum">
              <a:rPr lang="en-US">
                <a:solidFill>
                  <a:schemeClr val="bg1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179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15BE95-1337-20E2-B2EF-5DA486F72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Рисунок 7" descr="Изображение выглядит как Красочность, синий, Цвет электрик, свет&#10;&#10;Автоматически созданное описание">
            <a:extLst>
              <a:ext uri="{FF2B5EF4-FFF2-40B4-BE49-F238E27FC236}">
                <a16:creationId xmlns:a16="http://schemas.microsoft.com/office/drawing/2014/main" id="{5C845418-04E7-A29D-AE98-375C382F84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25" r="26398" b="-1"/>
          <a:stretch/>
        </p:blipFill>
        <p:spPr>
          <a:xfrm>
            <a:off x="7414664" y="10"/>
            <a:ext cx="4777335" cy="68579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1CB2E5-CB87-EECE-0A89-DC691B8C1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786384"/>
            <a:ext cx="6239599" cy="1182624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ru-RU" sz="2800" dirty="0">
                <a:latin typeface="Comic Sans MS"/>
                <a:ea typeface="+mj-lt"/>
                <a:cs typeface="+mj-lt"/>
              </a:rPr>
              <a:t>ОРГАНИЗАЦИЯ ХРАНЕНИЯ ИНФОРМАЦИИ В ПЕРСОНАЛЬНЫХ КОМПЬЮТЕРАХ</a:t>
            </a:r>
            <a:endParaRPr lang="ru-RU" sz="2800" dirty="0">
              <a:latin typeface="Comic Sans MS"/>
            </a:endParaRPr>
          </a:p>
          <a:p>
            <a:pPr>
              <a:lnSpc>
                <a:spcPct val="90000"/>
              </a:lnSpc>
            </a:pPr>
            <a:endParaRPr lang="ru-RU" sz="28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5750D6-47E1-2135-E75C-359ED4A59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992" y="2395728"/>
            <a:ext cx="6239599" cy="393192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Comic Sans MS"/>
                <a:ea typeface="+mn-lt"/>
                <a:cs typeface="+mn-lt"/>
              </a:rPr>
              <a:t>Путь к файлу - это последовательность, состоящая из имен каталогов, начиная от корневого каталога и заканчивая тем, в котором непосредственно хранится файл. Полное имя файла состоит из последовательно записанных имени логического диска, пути к файлу и имени файла. 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B5FB06-49FF-9388-5693-8F914ED4C9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26DE685-1B6F-4D7C-AEF2-C9AD71EC467A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1/31/2024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A3F9F2-A11D-4CBF-4C24-E4AC98434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7E7843D-FF13-4365-9478-9625B70A2705}" type="slidenum">
              <a:rPr lang="en-US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472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15100" y="723900"/>
            <a:ext cx="16002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 descr="Изображение выглядит как текст, снимок экрана, Шрифт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F1616690-5D18-A598-615A-CDF9C5978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313823"/>
            <a:ext cx="4976888" cy="423035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58AD69-0BC5-5E36-23F1-5EA03F05E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7111" y="909638"/>
            <a:ext cx="5014789" cy="1318062"/>
          </a:xfrm>
        </p:spPr>
        <p:txBody>
          <a:bodyPr>
            <a:normAutofit/>
          </a:bodyPr>
          <a:lstStyle/>
          <a:p>
            <a:r>
              <a:rPr lang="ru-RU" dirty="0">
                <a:latin typeface="Comic Sans MS"/>
                <a:ea typeface="+mj-lt"/>
                <a:cs typeface="+mj-lt"/>
              </a:rPr>
              <a:t>ФАЙЛОВАЯ СИСТЕМА</a:t>
            </a:r>
            <a:endParaRPr lang="ru-RU">
              <a:latin typeface="Comic Sans M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39E166-9805-5721-1999-7D5D93A4E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5014" y="2276474"/>
            <a:ext cx="5014790" cy="38850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omic Sans MS"/>
                <a:ea typeface="+mn-lt"/>
                <a:cs typeface="+mn-lt"/>
              </a:rPr>
              <a:t>Работа с файлами на компьютере производится с помощью файловой системы. Файловая система - это часть ОС, назначение которой состоит в том, чтобы предоставить пользователю удобный интерфейс при работе с данными, хранящимися на диске, и обеспечить совместное использование файлов несколькими пользователями процессами.</a:t>
            </a:r>
            <a:endParaRPr lang="ru-RU">
              <a:latin typeface="Comic Sans MS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1A3EDA-0D88-B661-BA10-A5DAEA9BFB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26DE685-1B6F-4D7C-AEF2-C9AD71EC467A}" type="datetime1">
              <a:rPr lang="en-US" smtClean="0"/>
              <a:pPr>
                <a:spcAft>
                  <a:spcPts val="600"/>
                </a:spcAft>
              </a:pPr>
              <a:t>1/31/2024</a:t>
            </a:fld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DCC7AB-350D-C131-495E-49F219CA9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7E7843D-FF13-4365-9478-9625B70A270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04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Рисунок 6" descr="Изображение выглядит как снимок экрана, электроника, схема&#10;&#10;Автоматически созданное описание">
            <a:extLst>
              <a:ext uri="{FF2B5EF4-FFF2-40B4-BE49-F238E27FC236}">
                <a16:creationId xmlns:a16="http://schemas.microsoft.com/office/drawing/2014/main" id="{3E5E0842-7713-C215-9F71-A4BC530D38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5832" b="19168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E0E734-AB5E-C935-B8E4-B6B7CA9B4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7277" cy="1316736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  <a:latin typeface="Comic Sans MS"/>
                <a:ea typeface="+mj-lt"/>
                <a:cs typeface="+mj-lt"/>
              </a:rPr>
              <a:t>ПОЛЬЗОВАТЕЛЬСКИЙ ИНТЕРФЕЙС</a:t>
            </a:r>
            <a:endParaRPr lang="ru-RU">
              <a:solidFill>
                <a:schemeClr val="bg1"/>
              </a:solidFill>
              <a:latin typeface="Comic Sans M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624158-73B3-A429-FC7E-C1EEC0877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10787277" cy="39319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solidFill>
                  <a:schemeClr val="bg1"/>
                </a:solidFill>
                <a:latin typeface="Comic Sans MS"/>
                <a:ea typeface="+mn-lt"/>
                <a:cs typeface="+mn-lt"/>
              </a:rPr>
              <a:t>Пользовательский интерфейс - это совокупность программных и аппаратных средств, обеспечивающих взаимодействие пользователя с компьютером. Основу такого взаимодействия составляют диалоги. </a:t>
            </a:r>
          </a:p>
          <a:p>
            <a:r>
              <a:rPr lang="ru-RU" dirty="0">
                <a:solidFill>
                  <a:schemeClr val="bg1"/>
                </a:solidFill>
                <a:latin typeface="Comic Sans MS"/>
                <a:ea typeface="+mn-lt"/>
                <a:cs typeface="+mn-lt"/>
              </a:rPr>
              <a:t>Пользовательский интерфейс часто понимают только как внешний вид программы. Однако на деле пользователь воспринимает через него всю программу в целом. В действительности пользовательский интерфейс объединяет в себе все элементы и компоненты программы, которые способны оказывать влияние на взаимодействие пользователя с программным обеспечением.</a:t>
            </a:r>
            <a:endParaRPr lang="ru-RU">
              <a:solidFill>
                <a:schemeClr val="bg1"/>
              </a:solidFill>
              <a:latin typeface="Comic Sans MS"/>
            </a:endParaRPr>
          </a:p>
          <a:p>
            <a:endParaRPr lang="ru-RU">
              <a:solidFill>
                <a:schemeClr val="bg1"/>
              </a:solidFill>
              <a:latin typeface="Comic Sans MS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817C73-9A18-1675-F841-4403FF0544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26DE685-1B6F-4D7C-AEF2-C9AD71EC467A}" type="datetime1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1/31/2024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A0798E-8125-4012-89B9-65C47896F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7E7843D-FF13-4365-9478-9625B70A2705}" type="slidenum">
              <a:rPr lang="en-US">
                <a:solidFill>
                  <a:schemeClr val="bg1"/>
                </a:solidFill>
                <a:latin typeface="Comic Sans MS"/>
              </a:rPr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>
              <a:solidFill>
                <a:schemeClr val="bg1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580640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6791D5-B7D0-83B5-DCFC-1AD4BC0A0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omic Sans MS"/>
                <a:ea typeface="+mj-lt"/>
                <a:cs typeface="+mj-lt"/>
              </a:rPr>
              <a:t>КЛАССИФИКАЦИЯ ПРОГРАММНОГО ОБЕСПЕЧЕНИЯ</a:t>
            </a:r>
            <a:endParaRPr lang="ru-RU" dirty="0">
              <a:latin typeface="Comic Sans MS"/>
            </a:endParaRPr>
          </a:p>
        </p:txBody>
      </p:sp>
      <p:graphicFrame>
        <p:nvGraphicFramePr>
          <p:cNvPr id="9" name="Объект 2">
            <a:extLst>
              <a:ext uri="{FF2B5EF4-FFF2-40B4-BE49-F238E27FC236}">
                <a16:creationId xmlns:a16="http://schemas.microsoft.com/office/drawing/2014/main" id="{4AAE5802-ECB3-74DA-4EF0-C4336A791D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8304540"/>
              </p:ext>
            </p:extLst>
          </p:nvPr>
        </p:nvGraphicFramePr>
        <p:xfrm>
          <a:off x="511659" y="2232166"/>
          <a:ext cx="10691265" cy="3636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Дата 3">
            <a:extLst>
              <a:ext uri="{FF2B5EF4-FFF2-40B4-BE49-F238E27FC236}">
                <a16:creationId xmlns:a16="http://schemas.microsoft.com/office/drawing/2014/main" id="{102555E4-23E4-073C-6EDE-C4853DE32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60677B-6BC2-CA06-7092-667485D12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646565-C0AF-5BF8-F7EE-1C19D094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103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Рисунок 6" descr="Изображение выглядит как снимок экрана, текст, компьютер, в помещении&#10;&#10;Автоматически созданное описание">
            <a:extLst>
              <a:ext uri="{FF2B5EF4-FFF2-40B4-BE49-F238E27FC236}">
                <a16:creationId xmlns:a16="http://schemas.microsoft.com/office/drawing/2014/main" id="{0D916A19-542F-63D2-FD97-529C75ECFE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5264" b="19736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10C164-4C16-B48F-35AB-DB1964137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7277" cy="1316736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  <a:latin typeface="Comic Sans MS"/>
                <a:ea typeface="+mj-lt"/>
                <a:cs typeface="+mj-lt"/>
              </a:rPr>
              <a:t>ПРОГРАММНАЯ КОНФИГУРАЦИЯ КОМПЬЮТЕРА</a:t>
            </a:r>
            <a:endParaRPr lang="ru-RU" dirty="0">
              <a:solidFill>
                <a:schemeClr val="bg1"/>
              </a:solidFill>
              <a:latin typeface="Comic Sans MS"/>
            </a:endParaRPr>
          </a:p>
          <a:p>
            <a:endParaRPr lang="ru-RU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B77026-336F-5EF1-25BE-F43C5733C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2511552"/>
            <a:ext cx="10787277" cy="39319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Comic Sans MS"/>
                <a:ea typeface="+mn-lt"/>
                <a:cs typeface="+mn-lt"/>
              </a:rPr>
              <a:t>Совокупность программ, установленных на компьютере, называется его программной конфигурацией. Совокупность оборудования, подключенного к компьютеру, называется его аппаратной конфигурацией. Несмотря на то что по своей архитектуре и функциональному назначению разные компьютеры могут быть весьма близки друг другу, найти два компьютера, имеющих одинаковые аппаратные и программные конфигурации, практически невозможно.</a:t>
            </a:r>
            <a:endParaRPr lang="ru-RU" sz="2400" dirty="0">
              <a:solidFill>
                <a:schemeClr val="bg1"/>
              </a:solidFill>
              <a:latin typeface="Comic Sans MS"/>
            </a:endParaRPr>
          </a:p>
          <a:p>
            <a:endParaRPr lang="ru-RU">
              <a:solidFill>
                <a:schemeClr val="bg1"/>
              </a:solidFill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3349DB-92F9-61F1-5A67-F09CF5B8E8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26DE685-1B6F-4D7C-AEF2-C9AD71EC467A}" type="datetime1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1/31/2024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A1A75C-DC7F-4101-937E-4F234B832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BB6B39-EB34-47DB-8573-F6166569F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7E7843D-FF13-4365-9478-9625B70A2705}" type="slidenum">
              <a:rPr lang="en-US">
                <a:solidFill>
                  <a:schemeClr val="bg1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835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3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5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8DDFAA-6878-200C-2EE2-31CDCFE92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02447"/>
            <a:ext cx="6151083" cy="1316736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ru-RU" sz="2800" dirty="0">
                <a:latin typeface="Comic Sans MS"/>
                <a:ea typeface="+mj-lt"/>
                <a:cs typeface="+mj-lt"/>
              </a:rPr>
              <a:t>ПРИНЦИПЫ ЛИЦЕНЗИРОВАНИЯ И МОДЕЛИ РАСПРОСТРАНЕНИЯ ПРОГРАММНОГО ОБЕСПЕЧЕНИЯ</a:t>
            </a:r>
            <a:endParaRPr lang="ru-RU" sz="2800" dirty="0">
              <a:latin typeface="Comic Sans MS"/>
            </a:endParaRPr>
          </a:p>
          <a:p>
            <a:pPr>
              <a:lnSpc>
                <a:spcPct val="90000"/>
              </a:lnSpc>
            </a:pPr>
            <a:endParaRPr lang="ru-RU" sz="28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3E4565-4123-94ED-4696-C0177690A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608" y="2219183"/>
            <a:ext cx="6151083" cy="373636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1800" dirty="0">
                <a:latin typeface="Comic Sans MS"/>
                <a:ea typeface="+mn-lt"/>
                <a:cs typeface="+mn-lt"/>
              </a:rPr>
              <a:t>Программное обеспечение защищено от несанкционированного копирования законами об авторских правах. Законы об авторских правах предусматривают сохранение за автором (издателем) программного обеспечения нескольких исключительных прав, одно из которых — право на производство копий программного обеспечения.</a:t>
            </a:r>
            <a:endParaRPr lang="ru-RU" sz="1800">
              <a:latin typeface="Comic Sans MS"/>
            </a:endParaRPr>
          </a:p>
          <a:p>
            <a:pPr>
              <a:lnSpc>
                <a:spcPct val="100000"/>
              </a:lnSpc>
            </a:pPr>
            <a:r>
              <a:rPr lang="ru-RU" sz="1800" dirty="0">
                <a:latin typeface="Comic Sans MS"/>
                <a:ea typeface="+mn-lt"/>
                <a:cs typeface="+mn-lt"/>
              </a:rPr>
              <a:t>Лицензия — договор на передачу одним лицом (лицензиаром) другому лицу (лицензиату) права на использование имени, продукции, технологии или услуги.</a:t>
            </a:r>
            <a:endParaRPr lang="ru-RU" sz="1800">
              <a:latin typeface="Comic Sans MS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8B328B-8D68-F576-7060-290295CA1F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26DE685-1B6F-4D7C-AEF2-C9AD71EC467A}" type="datetime1">
              <a:rPr lang="en-US" smtClean="0"/>
              <a:pPr>
                <a:spcAft>
                  <a:spcPts val="600"/>
                </a:spcAft>
              </a:pPr>
              <a:t>1/31/2024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F37E2A-050D-F9F8-E8CA-E79081C6E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57BD89-A2AA-A27C-2E14-5F86476F6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7E7843D-FF13-4365-9478-9625B70A270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/>
          </a:p>
        </p:txBody>
      </p:sp>
      <p:pic>
        <p:nvPicPr>
          <p:cNvPr id="9" name="Рисунок 8" descr="Изображение выглядит как свет, Предметная фотография, весы, в помещении&#10;&#10;Автоматически созданное описание">
            <a:extLst>
              <a:ext uri="{FF2B5EF4-FFF2-40B4-BE49-F238E27FC236}">
                <a16:creationId xmlns:a16="http://schemas.microsoft.com/office/drawing/2014/main" id="{BFE41C18-B11B-4A5D-7CD9-512986CF6D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911" r="26800"/>
          <a:stretch/>
        </p:blipFill>
        <p:spPr>
          <a:xfrm>
            <a:off x="7306236" y="902448"/>
            <a:ext cx="4085664" cy="505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068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3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5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F4A737-160F-39E2-8B2D-A7457A013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6445" y="1518143"/>
            <a:ext cx="6053328" cy="50531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600" dirty="0">
                <a:latin typeface="Comic Sans MS"/>
                <a:ea typeface="+mn-lt"/>
                <a:cs typeface="+mn-lt"/>
              </a:rPr>
              <a:t>В лицензионном соглашении оговариваются все условия эксплуатации программ, в том числе создание копий. На каждой копии программы должны быть те же отметки, что и на оригинале:</a:t>
            </a:r>
            <a:endParaRPr lang="ru-RU" sz="1600">
              <a:latin typeface="Comic Sans MS"/>
            </a:endParaRPr>
          </a:p>
          <a:p>
            <a:pPr>
              <a:lnSpc>
                <a:spcPct val="100000"/>
              </a:lnSpc>
            </a:pPr>
            <a:r>
              <a:rPr lang="ru-RU" sz="1600" dirty="0">
                <a:latin typeface="Comic Sans MS"/>
                <a:ea typeface="+mn-lt"/>
                <a:cs typeface="+mn-lt"/>
              </a:rPr>
              <a:t>и знак авторского права (обычно ©) и название разработчика, год, выпуска программы, прочие ее атрибуты;</a:t>
            </a:r>
            <a:endParaRPr lang="ru-RU" sz="1600">
              <a:latin typeface="Comic Sans MS"/>
            </a:endParaRPr>
          </a:p>
          <a:p>
            <a:pPr>
              <a:lnSpc>
                <a:spcPct val="100000"/>
              </a:lnSpc>
            </a:pPr>
            <a:r>
              <a:rPr lang="ru-RU" sz="1600" dirty="0">
                <a:latin typeface="Comic Sans MS"/>
                <a:ea typeface="+mn-lt"/>
                <a:cs typeface="+mn-lt"/>
              </a:rPr>
              <a:t>и знак патентной защиты или производственного секрета;</a:t>
            </a:r>
            <a:endParaRPr lang="ru-RU" sz="1600">
              <a:latin typeface="Comic Sans MS"/>
            </a:endParaRPr>
          </a:p>
          <a:p>
            <a:pPr>
              <a:lnSpc>
                <a:spcPct val="100000"/>
              </a:lnSpc>
            </a:pPr>
            <a:r>
              <a:rPr lang="ru-RU" sz="1600" dirty="0">
                <a:latin typeface="Comic Sans MS"/>
                <a:ea typeface="+mn-lt"/>
                <a:cs typeface="+mn-lt"/>
              </a:rPr>
              <a:t>и торговые марки, соответствующие использованным в программе другим программным изделиям (обычно — ТМ и название фирмы — разработчика программного продукта);</a:t>
            </a:r>
            <a:endParaRPr lang="ru-RU" sz="1600">
              <a:latin typeface="Comic Sans MS"/>
            </a:endParaRPr>
          </a:p>
          <a:p>
            <a:pPr>
              <a:lnSpc>
                <a:spcPct val="100000"/>
              </a:lnSpc>
            </a:pPr>
            <a:r>
              <a:rPr lang="ru-RU" sz="1600" dirty="0">
                <a:latin typeface="Comic Sans MS"/>
                <a:ea typeface="+mn-lt"/>
                <a:cs typeface="+mn-lt"/>
              </a:rPr>
              <a:t>и символ зарегистрированного права на распространение программного продукта (обычно ®).</a:t>
            </a:r>
            <a:endParaRPr lang="ru-RU" sz="1600">
              <a:latin typeface="Comic Sans MS"/>
            </a:endParaRPr>
          </a:p>
          <a:p>
            <a:pPr>
              <a:lnSpc>
                <a:spcPct val="100000"/>
              </a:lnSpc>
            </a:pPr>
            <a:endParaRPr lang="ru-RU" sz="1600" dirty="0">
              <a:latin typeface="Comic Sans MS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11A651-7E3F-4924-87A1-F2B17DEC07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26DE685-1B6F-4D7C-AEF2-C9AD71EC467A}" type="datetime1">
              <a:rPr lang="en-US" smtClean="0"/>
              <a:pPr>
                <a:spcAft>
                  <a:spcPts val="600"/>
                </a:spcAft>
              </a:pPr>
              <a:t>1/31/2024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3235E7-82F2-8A9D-819E-F5C00B87D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A18E2C-5685-76AB-905D-48AB8F32A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7E7843D-FF13-4365-9478-9625B70A270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7" name="Рисунок 6" descr="Изображение выглядит как снимок экрана, текст, Графика, красный&#10;&#10;Автоматически созданное описание">
            <a:extLst>
              <a:ext uri="{FF2B5EF4-FFF2-40B4-BE49-F238E27FC236}">
                <a16:creationId xmlns:a16="http://schemas.microsoft.com/office/drawing/2014/main" id="{D940EBF0-B8FC-1700-ECFB-E0B0A1BCE4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457" r="26856" b="-1"/>
          <a:stretch/>
        </p:blipFill>
        <p:spPr>
          <a:xfrm>
            <a:off x="790575" y="902448"/>
            <a:ext cx="4104154" cy="505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5803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AnalogousFromLightSeedLeftStep">
      <a:dk1>
        <a:srgbClr val="000000"/>
      </a:dk1>
      <a:lt1>
        <a:srgbClr val="FFFFFF"/>
      </a:lt1>
      <a:dk2>
        <a:srgbClr val="412724"/>
      </a:dk2>
      <a:lt2>
        <a:srgbClr val="E6E2E8"/>
      </a:lt2>
      <a:accent1>
        <a:srgbClr val="8BAA80"/>
      </a:accent1>
      <a:accent2>
        <a:srgbClr val="96A872"/>
      </a:accent2>
      <a:accent3>
        <a:srgbClr val="A6A27D"/>
      </a:accent3>
      <a:accent4>
        <a:srgbClr val="BA9C7F"/>
      </a:accent4>
      <a:accent5>
        <a:srgbClr val="C59793"/>
      </a:accent5>
      <a:accent6>
        <a:srgbClr val="BA7F93"/>
      </a:accent6>
      <a:hlink>
        <a:srgbClr val="9C69AE"/>
      </a:hlink>
      <a:folHlink>
        <a:srgbClr val="7F7F7F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ChronicleVTI</vt:lpstr>
      <vt:lpstr>Знакомство с файловой системой</vt:lpstr>
      <vt:lpstr>Файл и каталог</vt:lpstr>
      <vt:lpstr>Презентация PowerPoint</vt:lpstr>
      <vt:lpstr>ОРГАНИЗАЦИЯ ХРАНЕНИЯ ИНФОРМАЦИИ В ПЕРСОНАЛЬНЫХ КОМПЬЮТЕРАХ </vt:lpstr>
      <vt:lpstr>ФАЙЛОВАЯ СИСТЕМА</vt:lpstr>
      <vt:lpstr>ПОЛЬЗОВАТЕЛЬСКИЙ ИНТЕРФЕЙС</vt:lpstr>
      <vt:lpstr>КЛАССИФИКАЦИЯ ПРОГРАММНОГО ОБЕСПЕЧЕНИЯ</vt:lpstr>
      <vt:lpstr>ПРОГРАММНАЯ КОНФИГУРАЦИЯ КОМПЬЮТЕРА </vt:lpstr>
      <vt:lpstr>ПРИНЦИПЫ ЛИЦЕНЗИРОВАНИЯ И МОДЕЛИ РАСПРОСТРАНЕНИЯ ПРОГРАММНОГО ОБЕСПЕЧЕНИЯ 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/>
  <cp:revision>194</cp:revision>
  <dcterms:created xsi:type="dcterms:W3CDTF">2024-01-31T12:36:21Z</dcterms:created>
  <dcterms:modified xsi:type="dcterms:W3CDTF">2024-01-31T13:55:51Z</dcterms:modified>
</cp:coreProperties>
</file>