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62D0EF-A4D4-4BAE-8A95-6D695F36EFE4}" v="367" dt="2024-01-31T15:19:55.0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31.01.2024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31.01.2024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31.01.2024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31.01.2024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31.01.2024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31.01.2024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31.01.2024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31.01.2024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31.01.2024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31.01.2024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31.01.2024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31.01.2024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Изображение выглядит как синий, Цвет электрик, снимок экрана, линия&#10;&#10;Автоматически созданное описание">
            <a:extLst>
              <a:ext uri="{FF2B5EF4-FFF2-40B4-BE49-F238E27FC236}">
                <a16:creationId xmlns:a16="http://schemas.microsoft.com/office/drawing/2014/main" id="{650FB778-BA24-825A-49D3-8014F0CD7C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l="25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ru-RU" sz="6600" dirty="0">
                <a:solidFill>
                  <a:schemeClr val="bg1"/>
                </a:solidFill>
                <a:latin typeface="Comic Sans MS"/>
                <a:ea typeface="+mj-lt"/>
                <a:cs typeface="+mj-lt"/>
              </a:rPr>
              <a:t>Знакомство с операционными системами</a:t>
            </a:r>
            <a:endParaRPr lang="ru-RU" sz="6600" dirty="0">
              <a:solidFill>
                <a:schemeClr val="bg1"/>
              </a:solidFill>
              <a:latin typeface="Comic Sans MS"/>
            </a:endParaRP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FB0006-2A23-765A-E51B-61F389AEB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ru-RU" sz="3600" dirty="0">
                <a:latin typeface="Comic Sans MS"/>
                <a:ea typeface="+mj-lt"/>
                <a:cs typeface="+mj-lt"/>
              </a:rPr>
              <a:t>Базовое программное обеспечение</a:t>
            </a:r>
          </a:p>
          <a:p>
            <a:endParaRPr lang="ru-RU" sz="3600">
              <a:cs typeface="Calibri Light"/>
            </a:endParaRPr>
          </a:p>
        </p:txBody>
      </p:sp>
      <p:pic>
        <p:nvPicPr>
          <p:cNvPr id="4" name="Рисунок 3" descr="Изображение выглядит как текст, число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A3106F80-0AA9-BC43-B5E7-2FB9A7B9A7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050" b="19979"/>
          <a:stretch/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C203E926-1A9F-5DE1-0DBF-26FC08C86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 dirty="0">
                <a:latin typeface="Comic Sans MS"/>
                <a:ea typeface="+mn-lt"/>
                <a:cs typeface="+mn-lt"/>
              </a:rPr>
              <a:t>BIOS. Базовое программное обеспечение</a:t>
            </a:r>
          </a:p>
          <a:p>
            <a:pPr marL="0" indent="0">
              <a:buNone/>
            </a:pPr>
            <a:r>
              <a:rPr lang="ru-RU" sz="2000" dirty="0">
                <a:latin typeface="Comic Sans MS"/>
                <a:ea typeface="+mn-lt"/>
                <a:cs typeface="+mn-lt"/>
              </a:rPr>
              <a:t>Такое обеспечение отвечает за взаимодействие с базовыми аппаратными средствами. Базовое программное обеспечение является неотъемлемой составляющей системной платы и поэтому может быть отнесено к особой категории компьютерных компонентов, занимающих промежуточное положение между аппаратурой и программным обеспечением.</a:t>
            </a:r>
            <a:endParaRPr lang="ru-RU" sz="2000">
              <a:latin typeface="Comic Sans MS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86480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61E8B0-5031-0BCE-ACCE-FC7CE0C8F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408" y="51049"/>
            <a:ext cx="4618538" cy="1956841"/>
          </a:xfrm>
        </p:spPr>
        <p:txBody>
          <a:bodyPr anchor="b">
            <a:normAutofit/>
          </a:bodyPr>
          <a:lstStyle/>
          <a:p>
            <a:r>
              <a:rPr lang="ru-RU" sz="4000" dirty="0">
                <a:latin typeface="Comic Sans MS"/>
                <a:ea typeface="+mj-lt"/>
                <a:cs typeface="+mj-lt"/>
              </a:rPr>
              <a:t>Операционные системы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535333-D0A6-B628-6CA6-DFC6681C9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116" y="2751519"/>
            <a:ext cx="5113482" cy="393431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ru-RU" sz="2200" dirty="0">
                <a:latin typeface="Comic Sans MS"/>
                <a:ea typeface="+mn-lt"/>
                <a:cs typeface="+mn-lt"/>
              </a:rPr>
              <a:t>Под операционной системой понимают комплекс управляющих и обрабатывающих программ, который, с одной стороны, выступает как интерфейс между аппаратурой компьютера и пользователем с его задачами, а с другой - предназначен для наиболее эффективного использования ресурсов вычислительной системы и организации вычислений.</a:t>
            </a:r>
            <a:endParaRPr lang="ru-RU" sz="2200">
              <a:latin typeface="Comic Sans MS"/>
              <a:cs typeface="Calibri" panose="020F0502020204030204"/>
            </a:endParaRPr>
          </a:p>
        </p:txBody>
      </p:sp>
      <p:pic>
        <p:nvPicPr>
          <p:cNvPr id="4" name="Рисунок 3" descr="Изображение выглядит как текст, Шрифт, Цвет электрик,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B1D57233-8564-4B99-7885-9923AD464F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608" r="20972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833422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16B413-4508-AAB1-CC1D-F35667F72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297" y="365125"/>
            <a:ext cx="5623172" cy="1807305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Comic Sans MS"/>
                <a:ea typeface="+mj-lt"/>
                <a:cs typeface="+mj-lt"/>
              </a:rPr>
              <a:t>Основными целями работы ОС являются:</a:t>
            </a:r>
            <a:endParaRPr lang="ru-RU" dirty="0">
              <a:latin typeface="Comic Sans M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13D13E-CFE1-4009-72E7-9AB2B5430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041" y="2333297"/>
            <a:ext cx="5988523" cy="422803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z="2000" dirty="0">
                <a:latin typeface="Comic Sans MS"/>
                <a:ea typeface="+mn-lt"/>
                <a:cs typeface="+mn-lt"/>
              </a:rPr>
              <a:t>обеспечение удобства, эффективности, безопасности выполнения пользовательских программ.</a:t>
            </a:r>
          </a:p>
          <a:p>
            <a:r>
              <a:rPr lang="ru-RU" sz="2000" dirty="0">
                <a:latin typeface="Comic Sans MS"/>
                <a:ea typeface="+mn-lt"/>
                <a:cs typeface="+mn-lt"/>
              </a:rPr>
              <a:t>обеспечение удобства, эффективности, безопасности использования компьютера</a:t>
            </a:r>
          </a:p>
          <a:p>
            <a:r>
              <a:rPr lang="ru-RU" sz="2000" dirty="0">
                <a:latin typeface="Comic Sans MS"/>
                <a:ea typeface="+mn-lt"/>
                <a:cs typeface="+mn-lt"/>
              </a:rPr>
              <a:t>обеспечение удобства, эффективности, безопасности использования сетевых, дисковых и других внешних устройств, подключенных к компьютеру.</a:t>
            </a:r>
          </a:p>
          <a:p>
            <a:r>
              <a:rPr lang="ru-RU" sz="2000" dirty="0">
                <a:latin typeface="Comic Sans MS"/>
                <a:ea typeface="+mn-lt"/>
                <a:cs typeface="+mn-lt"/>
              </a:rPr>
              <a:t>обеспечение безопасности, надежности и защиты данных.</a:t>
            </a:r>
            <a:endParaRPr lang="ru-RU" sz="2000">
              <a:latin typeface="Calibri" panose="020F0502020204030204"/>
              <a:cs typeface="Calibri"/>
            </a:endParaRPr>
          </a:p>
        </p:txBody>
      </p:sp>
      <p:pic>
        <p:nvPicPr>
          <p:cNvPr id="4" name="Рисунок 3" descr="Изображение выглядит как ноутбук, компьютер, Компьютерное железо, Устройство вывода&#10;&#10;Автоматически созданное описание">
            <a:extLst>
              <a:ext uri="{FF2B5EF4-FFF2-40B4-BE49-F238E27FC236}">
                <a16:creationId xmlns:a16="http://schemas.microsoft.com/office/drawing/2014/main" id="{2B2632D1-9086-E29F-6A8D-64282B89AD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708" r="33168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22992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Изображение выглядит как вода, Электронная техника, схема, технология&#10;&#10;Автоматически созданное описание">
            <a:extLst>
              <a:ext uri="{FF2B5EF4-FFF2-40B4-BE49-F238E27FC236}">
                <a16:creationId xmlns:a16="http://schemas.microsoft.com/office/drawing/2014/main" id="{A70A936D-1008-646E-AE9E-2AA215F872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370" r="12319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4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90286D-69A8-5630-08EB-ABA9743BD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403" y="-187831"/>
            <a:ext cx="11307322" cy="1899912"/>
          </a:xfrm>
        </p:spPr>
        <p:txBody>
          <a:bodyPr>
            <a:normAutofit/>
          </a:bodyPr>
          <a:lstStyle/>
          <a:p>
            <a:r>
              <a:rPr lang="ru-RU" sz="2800" dirty="0">
                <a:latin typeface="Comic Sans MS"/>
                <a:ea typeface="+mj-lt"/>
                <a:cs typeface="+mj-lt"/>
              </a:rPr>
              <a:t>Операционная система выполняет следующие функции:</a:t>
            </a:r>
            <a:endParaRPr lang="ru-RU" sz="2800" dirty="0"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165C30-561E-44D3-1A18-E797859C7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1881" y="2198183"/>
            <a:ext cx="11300578" cy="447104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z="2600" dirty="0">
                <a:latin typeface="Comic Sans MS"/>
                <a:ea typeface="+mn-lt"/>
                <a:cs typeface="+mn-lt"/>
              </a:rPr>
              <a:t>прием от пользователя заданий или команд и их обработка;</a:t>
            </a:r>
            <a:endParaRPr lang="ru-RU" sz="2600">
              <a:latin typeface="Comic Sans MS"/>
              <a:cs typeface="Calibri" panose="020F0502020204030204"/>
            </a:endParaRPr>
          </a:p>
          <a:p>
            <a:r>
              <a:rPr lang="ru-RU" sz="2600" dirty="0">
                <a:latin typeface="Comic Sans MS"/>
                <a:ea typeface="+mn-lt"/>
                <a:cs typeface="+mn-lt"/>
              </a:rPr>
              <a:t>загрузка в оперативную память программ и их исполнение;</a:t>
            </a:r>
            <a:endParaRPr lang="ru-RU" sz="2600">
              <a:latin typeface="Comic Sans MS"/>
            </a:endParaRPr>
          </a:p>
          <a:p>
            <a:r>
              <a:rPr lang="ru-RU" sz="2600" dirty="0">
                <a:latin typeface="Comic Sans MS"/>
                <a:ea typeface="+mn-lt"/>
                <a:cs typeface="+mn-lt"/>
              </a:rPr>
              <a:t>инициация программы;</a:t>
            </a:r>
          </a:p>
          <a:p>
            <a:r>
              <a:rPr lang="ru-RU" sz="2600" dirty="0">
                <a:latin typeface="Comic Sans MS"/>
                <a:ea typeface="+mn-lt"/>
                <a:cs typeface="+mn-lt"/>
              </a:rPr>
              <a:t>прием и исполнение программных запросов на запуск, приостановку, остановку других программ;</a:t>
            </a:r>
            <a:endParaRPr lang="ru-RU" sz="2600">
              <a:latin typeface="Comic Sans MS"/>
              <a:cs typeface="Calibri" panose="020F0502020204030204"/>
            </a:endParaRPr>
          </a:p>
          <a:p>
            <a:r>
              <a:rPr lang="ru-RU" sz="2600" dirty="0">
                <a:latin typeface="Comic Sans MS"/>
                <a:ea typeface="+mn-lt"/>
                <a:cs typeface="+mn-lt"/>
              </a:rPr>
              <a:t>организация взаимодействия между задачами;</a:t>
            </a:r>
            <a:endParaRPr lang="ru-RU" sz="2600">
              <a:latin typeface="Comic Sans MS"/>
            </a:endParaRPr>
          </a:p>
          <a:p>
            <a:r>
              <a:rPr lang="ru-RU" sz="2600" dirty="0">
                <a:latin typeface="Comic Sans MS"/>
                <a:ea typeface="+mn-lt"/>
                <a:cs typeface="+mn-lt"/>
              </a:rPr>
              <a:t>идентификация всех программ и данных;</a:t>
            </a:r>
            <a:endParaRPr lang="ru-RU" sz="2600">
              <a:latin typeface="Comic Sans MS"/>
            </a:endParaRPr>
          </a:p>
          <a:p>
            <a:pPr marL="0" indent="0">
              <a:buNone/>
            </a:pPr>
            <a:endParaRPr lang="ru-RU" sz="8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2090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3426D4-6F56-8015-F9D4-D0BF5DDE8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Изображение выглядит как вода, Электронная техника, схема, технология&#10;&#10;Автоматически созданное описание">
            <a:extLst>
              <a:ext uri="{FF2B5EF4-FFF2-40B4-BE49-F238E27FC236}">
                <a16:creationId xmlns:a16="http://schemas.microsoft.com/office/drawing/2014/main" id="{1C677EDA-5643-BA6D-D0D3-9B0E99BDCC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370" r="12319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913DCD-FE43-7F4F-F9DC-8F5126046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231" y="41444"/>
            <a:ext cx="10801568" cy="969328"/>
          </a:xfrm>
        </p:spPr>
        <p:txBody>
          <a:bodyPr>
            <a:normAutofit/>
          </a:bodyPr>
          <a:lstStyle/>
          <a:p>
            <a:r>
              <a:rPr lang="ru-RU" sz="2800" dirty="0">
                <a:latin typeface="Comic Sans MS"/>
                <a:ea typeface="+mj-lt"/>
                <a:cs typeface="+mj-lt"/>
              </a:rPr>
              <a:t>Операционная система выполняет следующие функции:</a:t>
            </a:r>
            <a:endParaRPr lang="ru-RU" sz="2800" dirty="0"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F94589-4771-F141-36BA-D17F461BC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319" y="1355263"/>
            <a:ext cx="11145480" cy="48217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400" dirty="0">
                <a:latin typeface="Comic Sans MS"/>
                <a:cs typeface="Calibri"/>
              </a:rPr>
              <a:t>обеспечение режима мультипрограммирования;</a:t>
            </a:r>
          </a:p>
          <a:p>
            <a:r>
              <a:rPr lang="ru-RU" sz="2400" dirty="0">
                <a:latin typeface="Comic Sans MS"/>
                <a:cs typeface="Calibri"/>
              </a:rPr>
              <a:t>планирование и диспетчеризация задач;</a:t>
            </a:r>
          </a:p>
          <a:p>
            <a:r>
              <a:rPr lang="ru-RU" sz="2400" dirty="0">
                <a:latin typeface="Comic Sans MS"/>
                <a:cs typeface="Calibri"/>
              </a:rPr>
              <a:t>обеспечение функций по организации и управлению операциями ввода-вывода;</a:t>
            </a:r>
          </a:p>
          <a:p>
            <a:r>
              <a:rPr lang="ru-RU" sz="2400" dirty="0">
                <a:latin typeface="Comic Sans MS"/>
                <a:cs typeface="Calibri"/>
              </a:rPr>
              <a:t>управление памятью, организация виртуальной памяти; обеспечение сохранности данных;</a:t>
            </a:r>
          </a:p>
          <a:p>
            <a:r>
              <a:rPr lang="ru-RU" sz="2400" dirty="0">
                <a:latin typeface="Comic Sans MS"/>
                <a:cs typeface="Calibri"/>
              </a:rPr>
              <a:t>аутентификация, авторизация и другие средства обеспечения безопасности;</a:t>
            </a:r>
          </a:p>
          <a:p>
            <a:r>
              <a:rPr lang="ru-RU" sz="2400" dirty="0">
                <a:latin typeface="Comic Sans MS"/>
                <a:cs typeface="Calibri"/>
              </a:rPr>
              <a:t>предоставление услуг на случай частичного сбоя системы; </a:t>
            </a:r>
          </a:p>
          <a:p>
            <a:r>
              <a:rPr lang="ru-RU" sz="2400" dirty="0">
                <a:latin typeface="Comic Sans MS"/>
                <a:cs typeface="Calibri"/>
              </a:rPr>
              <a:t>параллельное исполнение нескольких задач.</a:t>
            </a:r>
          </a:p>
          <a:p>
            <a:endParaRPr lang="ru-RU" sz="2400" dirty="0">
              <a:latin typeface="Comic Sans MS"/>
              <a:cs typeface="Calibri"/>
            </a:endParaRPr>
          </a:p>
          <a:p>
            <a:pPr marL="0" indent="0">
              <a:buNone/>
            </a:pPr>
            <a:endParaRPr lang="ru-RU" sz="24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55275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E3296-97CC-9130-A2E7-641BBFA7F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289" y="983"/>
            <a:ext cx="5251316" cy="1220633"/>
          </a:xfrm>
        </p:spPr>
        <p:txBody>
          <a:bodyPr>
            <a:normAutofit/>
          </a:bodyPr>
          <a:lstStyle/>
          <a:p>
            <a:r>
              <a:rPr lang="ru-RU">
                <a:latin typeface="Comic Sans MS"/>
                <a:ea typeface="+mj-lt"/>
                <a:cs typeface="+mj-lt"/>
              </a:rPr>
              <a:t>Драйверы</a:t>
            </a:r>
            <a:endParaRPr lang="ru-RU">
              <a:latin typeface="Comic Sans M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CA6427-0DEF-6CFD-5D0F-F57242655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696" y="1025084"/>
            <a:ext cx="5206293" cy="46663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ru-RU" sz="2400" dirty="0">
                <a:ea typeface="+mn-lt"/>
                <a:cs typeface="+mn-lt"/>
              </a:rPr>
              <a:t>Программа, обеспечивающая взаимодействие компьютера с оборудованием и устройствами, называется </a:t>
            </a:r>
            <a:r>
              <a:rPr lang="ru-RU" sz="2400" b="1" dirty="0">
                <a:ea typeface="+mn-lt"/>
                <a:cs typeface="+mn-lt"/>
              </a:rPr>
              <a:t>драйвером</a:t>
            </a:r>
          </a:p>
          <a:p>
            <a:pPr marL="0" indent="0">
              <a:buNone/>
            </a:pPr>
            <a:endParaRPr lang="ru-RU" sz="2400" b="1" dirty="0">
              <a:ea typeface="+mn-lt"/>
              <a:cs typeface="+mn-lt"/>
            </a:endParaRPr>
          </a:p>
          <a:p>
            <a:pPr>
              <a:buNone/>
            </a:pPr>
            <a:r>
              <a:rPr lang="ru-RU" sz="2400" dirty="0">
                <a:ea typeface="+mn-lt"/>
                <a:cs typeface="+mn-lt"/>
              </a:rPr>
              <a:t>Жизненный цикл функционирования</a:t>
            </a:r>
          </a:p>
          <a:p>
            <a:pPr>
              <a:buNone/>
            </a:pPr>
            <a:r>
              <a:rPr lang="ru-RU" sz="2400" dirty="0">
                <a:ea typeface="+mn-lt"/>
                <a:cs typeface="+mn-lt"/>
              </a:rPr>
              <a:t>драйвера устройства можно </a:t>
            </a:r>
            <a:endParaRPr lang="ru-RU">
              <a:ea typeface="+mn-lt"/>
              <a:cs typeface="+mn-lt"/>
            </a:endParaRPr>
          </a:p>
          <a:p>
            <a:pPr>
              <a:buNone/>
            </a:pPr>
            <a:r>
              <a:rPr lang="ru-RU" sz="2400" dirty="0">
                <a:ea typeface="+mn-lt"/>
                <a:cs typeface="+mn-lt"/>
              </a:rPr>
              <a:t>подразделить на три этапа:</a:t>
            </a:r>
            <a:endParaRPr lang="ru-RU">
              <a:cs typeface="Calibri"/>
            </a:endParaRPr>
          </a:p>
          <a:p>
            <a:pPr>
              <a:buNone/>
            </a:pPr>
            <a:endParaRPr lang="ru-RU" sz="2400" dirty="0">
              <a:ea typeface="+mn-lt"/>
              <a:cs typeface="+mn-lt"/>
            </a:endParaRPr>
          </a:p>
          <a:p>
            <a:pPr>
              <a:buNone/>
            </a:pPr>
            <a:r>
              <a:rPr lang="ru-RU" sz="2400" dirty="0">
                <a:ea typeface="+mn-lt"/>
                <a:cs typeface="+mn-lt"/>
              </a:rPr>
              <a:t>• инициализация;</a:t>
            </a:r>
          </a:p>
          <a:p>
            <a:pPr>
              <a:buNone/>
            </a:pPr>
            <a:r>
              <a:rPr lang="ru-RU" sz="2400" dirty="0">
                <a:ea typeface="+mn-lt"/>
                <a:cs typeface="+mn-lt"/>
              </a:rPr>
              <a:t>• выполнение операций по запросам ОС на ввод-вывод данных;</a:t>
            </a:r>
          </a:p>
          <a:p>
            <a:pPr>
              <a:buNone/>
            </a:pPr>
            <a:r>
              <a:rPr lang="ru-RU" sz="2400" dirty="0">
                <a:ea typeface="+mn-lt"/>
                <a:cs typeface="+mn-lt"/>
              </a:rPr>
              <a:t>• остановка и удаление из системы.</a:t>
            </a:r>
          </a:p>
          <a:p>
            <a:pPr marL="0" indent="0">
              <a:buNone/>
            </a:pPr>
            <a:endParaRPr lang="ru-RU" sz="2400" b="1" dirty="0">
              <a:cs typeface="Calibri" panose="020F0502020204030204"/>
            </a:endParaRPr>
          </a:p>
          <a:p>
            <a:pPr marL="0" indent="0">
              <a:buNone/>
            </a:pPr>
            <a:endParaRPr lang="ru-RU" sz="2400" b="1" dirty="0">
              <a:cs typeface="Calibri" panose="020F0502020204030204"/>
            </a:endParaRPr>
          </a:p>
          <a:p>
            <a:pPr marL="0" indent="0">
              <a:buNone/>
            </a:pPr>
            <a:endParaRPr lang="ru-RU" sz="2400" b="1" dirty="0">
              <a:cs typeface="Calibri" panose="020F0502020204030204"/>
            </a:endParaRPr>
          </a:p>
        </p:txBody>
      </p:sp>
      <p:pic>
        <p:nvPicPr>
          <p:cNvPr id="6" name="Picture 4" descr="Ближний план клавиатуры">
            <a:extLst>
              <a:ext uri="{FF2B5EF4-FFF2-40B4-BE49-F238E27FC236}">
                <a16:creationId xmlns:a16="http://schemas.microsoft.com/office/drawing/2014/main" id="{DF0B68A0-2EF7-D932-2C85-E6E439065D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10" r="27796" b="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42705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Изображение выглядит как снимок экрана, текст, компьютер, в помещении&#10;&#10;Автоматически созданное описание">
            <a:extLst>
              <a:ext uri="{FF2B5EF4-FFF2-40B4-BE49-F238E27FC236}">
                <a16:creationId xmlns:a16="http://schemas.microsoft.com/office/drawing/2014/main" id="{864DF60D-EAAD-5F0F-E9F6-80E3DC41E40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5264" b="1973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203854-2BB2-501B-7B03-91B9CB9D4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FFFFFF"/>
                </a:solidFill>
                <a:latin typeface="Comic Sans MS"/>
                <a:ea typeface="+mj-lt"/>
                <a:cs typeface="+mj-lt"/>
              </a:rPr>
              <a:t>Служебное программное обеспечение</a:t>
            </a:r>
            <a:endParaRPr lang="ru-RU" dirty="0">
              <a:solidFill>
                <a:srgbClr val="FFFFFF"/>
              </a:solidFill>
              <a:latin typeface="Comic Sans M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1D1D04-F0E6-D5EC-B36E-5A7797844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ru-RU" dirty="0">
                <a:solidFill>
                  <a:srgbClr val="FFFFFF"/>
                </a:solidFill>
                <a:latin typeface="Comic Sans MS"/>
                <a:ea typeface="+mn-lt"/>
                <a:cs typeface="+mn-lt"/>
              </a:rPr>
              <a:t>Утилиты - это специализированные программы, предназначенные для обслуживания и оптимизации работы системы, программы-помощники, решающие задачи, с которыми сама оперативная система справиться не в состоянии.</a:t>
            </a:r>
          </a:p>
          <a:p>
            <a:r>
              <a:rPr lang="ru-RU" dirty="0">
                <a:solidFill>
                  <a:srgbClr val="FFFFFF"/>
                </a:solidFill>
                <a:latin typeface="Comic Sans MS"/>
                <a:ea typeface="+mn-lt"/>
                <a:cs typeface="+mn-lt"/>
              </a:rPr>
              <a:t>Некоторые утилиты используются для ведения архивов данных, а специальные антивирусные программы обеспечивают защиту системы от компьютерных вирусов. Утилиты - необходимый компонент инструментария программиста любого уровня, в первую очередь прикладного.</a:t>
            </a:r>
            <a:endParaRPr lang="ru-RU" dirty="0">
              <a:solidFill>
                <a:srgbClr val="FFFFFF"/>
              </a:solidFill>
              <a:latin typeface="Comic Sans MS"/>
            </a:endParaRPr>
          </a:p>
          <a:p>
            <a:endParaRPr lang="ru-RU">
              <a:solidFill>
                <a:srgbClr val="FFFFFF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15036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C95398-1957-AF67-9E2B-0D3CFB4FD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874354" cy="1956841"/>
          </a:xfrm>
        </p:spPr>
        <p:txBody>
          <a:bodyPr anchor="b">
            <a:normAutofit/>
          </a:bodyPr>
          <a:lstStyle/>
          <a:p>
            <a:r>
              <a:rPr lang="ru-RU" sz="4200" b="1" dirty="0">
                <a:latin typeface="Comic Sans MS"/>
                <a:cs typeface="Calibri Light"/>
              </a:rPr>
              <a:t>ВИДЫ АНТИВИРУСНЫХ ПРОГРАММ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CC1878-E69B-A5A0-D4CA-1AFDD68F5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390" y="3277501"/>
            <a:ext cx="4243589" cy="358365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600" dirty="0">
                <a:latin typeface="Comic Sans MS"/>
                <a:ea typeface="+mn-lt"/>
                <a:cs typeface="+mn-lt"/>
              </a:rPr>
              <a:t>Программы-детекторы </a:t>
            </a:r>
          </a:p>
          <a:p>
            <a:r>
              <a:rPr lang="ru-RU" sz="2600" dirty="0">
                <a:latin typeface="Comic Sans MS"/>
                <a:ea typeface="+mn-lt"/>
                <a:cs typeface="+mn-lt"/>
              </a:rPr>
              <a:t>Программы-доктора</a:t>
            </a:r>
          </a:p>
          <a:p>
            <a:r>
              <a:rPr lang="ru-RU" sz="2600" dirty="0">
                <a:latin typeface="Comic Sans MS"/>
                <a:ea typeface="+mn-lt"/>
                <a:cs typeface="+mn-lt"/>
              </a:rPr>
              <a:t>Программы-ревизоры </a:t>
            </a:r>
          </a:p>
          <a:p>
            <a:r>
              <a:rPr lang="ru-RU" sz="2600" dirty="0">
                <a:latin typeface="Comic Sans MS"/>
                <a:ea typeface="+mn-lt"/>
                <a:cs typeface="+mn-lt"/>
              </a:rPr>
              <a:t>Доктора-ревизоры </a:t>
            </a:r>
            <a:endParaRPr lang="ru-RU" sz="2400" dirty="0">
              <a:latin typeface="Comic Sans MS"/>
              <a:cs typeface="Calibri"/>
            </a:endParaRPr>
          </a:p>
        </p:txBody>
      </p:sp>
      <p:pic>
        <p:nvPicPr>
          <p:cNvPr id="4" name="Рисунок 3" descr="Изображение выглядит как Красочность, круг, свет, Неон&#10;&#10;Автоматически созданное описание">
            <a:extLst>
              <a:ext uri="{FF2B5EF4-FFF2-40B4-BE49-F238E27FC236}">
                <a16:creationId xmlns:a16="http://schemas.microsoft.com/office/drawing/2014/main" id="{BE17F96D-D37E-4C31-2B0F-68E00A80F9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707" r="15340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01896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D92C44-AD6C-BA41-CD61-FF2D8BEF6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319" y="338151"/>
            <a:ext cx="6573054" cy="1807305"/>
          </a:xfrm>
        </p:spPr>
        <p:txBody>
          <a:bodyPr>
            <a:normAutofit/>
          </a:bodyPr>
          <a:lstStyle/>
          <a:p>
            <a:r>
              <a:rPr lang="ru-RU" sz="3100" dirty="0">
                <a:latin typeface="Comic Sans MS"/>
                <a:ea typeface="+mj-lt"/>
                <a:cs typeface="+mj-lt"/>
              </a:rPr>
              <a:t>Основные задачи антивирусного программного обеспечения</a:t>
            </a:r>
            <a:endParaRPr lang="ru-RU" sz="3100" dirty="0">
              <a:latin typeface="Comic Sans MS"/>
            </a:endParaRPr>
          </a:p>
          <a:p>
            <a:endParaRPr lang="ru-RU" sz="3100">
              <a:cs typeface="Calibri Light"/>
            </a:endParaRPr>
          </a:p>
        </p:txBody>
      </p:sp>
      <p:pic>
        <p:nvPicPr>
          <p:cNvPr id="4" name="Рисунок 3" descr="Изображение выглядит как снимок экрана, пространство, Красочность&#10;&#10;Автоматически созданное описание">
            <a:extLst>
              <a:ext uri="{FF2B5EF4-FFF2-40B4-BE49-F238E27FC236}">
                <a16:creationId xmlns:a16="http://schemas.microsoft.com/office/drawing/2014/main" id="{79C1309F-4E7C-957F-4EFC-76A09A5684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637" r="20829" b="-1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0CF12DE1-F7B3-8755-ABDD-DD63EA25C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4514" y="2029846"/>
            <a:ext cx="4840010" cy="38436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 dirty="0">
                <a:latin typeface="Comic Sans MS"/>
                <a:ea typeface="+mn-lt"/>
                <a:cs typeface="+mn-lt"/>
              </a:rPr>
              <a:t>защита компьютера от заражения его вирусными программами;</a:t>
            </a:r>
            <a:endParaRPr lang="ru-RU" sz="2000" dirty="0">
              <a:latin typeface="Comic Sans MS"/>
              <a:cs typeface="Calibri" panose="020F0502020204030204"/>
            </a:endParaRPr>
          </a:p>
          <a:p>
            <a:r>
              <a:rPr lang="ru-RU" sz="2000" dirty="0">
                <a:latin typeface="Comic Sans MS"/>
                <a:ea typeface="+mn-lt"/>
                <a:cs typeface="+mn-lt"/>
              </a:rPr>
              <a:t> обнаружение вирусов, уже проникших на компьютер;</a:t>
            </a:r>
            <a:endParaRPr lang="ru-RU" sz="2000" dirty="0">
              <a:latin typeface="Comic Sans MS"/>
            </a:endParaRPr>
          </a:p>
          <a:p>
            <a:r>
              <a:rPr lang="ru-RU" sz="2000" dirty="0">
                <a:latin typeface="Comic Sans MS"/>
                <a:ea typeface="+mn-lt"/>
                <a:cs typeface="+mn-lt"/>
              </a:rPr>
              <a:t> лечение компьютера от вирусов и по возможности без нанесения вреда функциональности других установленных программ на компьютере;</a:t>
            </a:r>
            <a:endParaRPr lang="ru-RU" sz="2000" dirty="0">
              <a:latin typeface="Comic Sans MS"/>
            </a:endParaRPr>
          </a:p>
          <a:p>
            <a:r>
              <a:rPr lang="ru-RU" sz="2000" dirty="0">
                <a:latin typeface="Comic Sans MS"/>
                <a:ea typeface="+mn-lt"/>
                <a:cs typeface="+mn-lt"/>
              </a:rPr>
              <a:t> минимизация последствий от действий вирусов</a:t>
            </a:r>
          </a:p>
        </p:txBody>
      </p:sp>
    </p:spTree>
    <p:extLst>
      <p:ext uri="{BB962C8B-B14F-4D97-AF65-F5344CB8AC3E}">
        <p14:creationId xmlns:p14="http://schemas.microsoft.com/office/powerpoint/2010/main" val="34500358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Знакомство с операционными системами</vt:lpstr>
      <vt:lpstr>Базовое программное обеспечение </vt:lpstr>
      <vt:lpstr>Операционные системы</vt:lpstr>
      <vt:lpstr>Основными целями работы ОС являются:</vt:lpstr>
      <vt:lpstr>Операционная система выполняет следующие функции:</vt:lpstr>
      <vt:lpstr>Операционная система выполняет следующие функции:</vt:lpstr>
      <vt:lpstr>Драйверы</vt:lpstr>
      <vt:lpstr>Служебное программное обеспечение</vt:lpstr>
      <vt:lpstr>ВИДЫ АНТИВИРУСНЫХ ПРОГРАММ</vt:lpstr>
      <vt:lpstr>Основные задачи антивирусного программного обеспечения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/>
  <cp:lastModifiedBy/>
  <cp:revision>203</cp:revision>
  <dcterms:created xsi:type="dcterms:W3CDTF">2024-01-31T13:58:01Z</dcterms:created>
  <dcterms:modified xsi:type="dcterms:W3CDTF">2024-01-31T15:19:59Z</dcterms:modified>
</cp:coreProperties>
</file>