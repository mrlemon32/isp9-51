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+GG+VCJtHrHkkWOKQuWknLpOm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845726" y="52175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ru-RU">
                <a:solidFill>
                  <a:schemeClr val="lt1"/>
                </a:solidFill>
              </a:rPr>
              <a:t>Лекция №7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155229" y="4864570"/>
            <a:ext cx="7162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ru-RU">
                <a:solidFill>
                  <a:schemeClr val="lt1"/>
                </a:solidFill>
              </a:rPr>
              <a:t>Основы операционной системы LINUX Ubuntu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Операционная система UNIX и Linux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ОС UNIX создавалась как многозадачная система для мини-компьютеров в 70-е годы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Linux  - свободно распространяемая версия UNIX</a:t>
            </a:r>
            <a:endParaRPr>
              <a:solidFill>
                <a:srgbClr val="FFFFFF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Разработчик Linux - Линус Торвальдс (Финляндия), но потом в нее вносили и вносят изменения многие программисты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Ubuntu (человечность – на языке зулу) – это «Linux для простых людей»</a:t>
            </a:r>
            <a:endParaRPr/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7" name="Google Shape;9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Файловая система Linux (стр. 1)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В отличие от Windows нет имен дисков A:,C: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В пути к файлу пишется / вместо \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В имени файла строчные и прописные буквы различаются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Linux может работать с файловыми системами FAT32 и NTFS, поэтому в Linux видны Windows-файлы (но не наоборот!)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У Linux есть и свои файловые системы (Ext2 Ext3)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5" name="Google Shape;10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Файловая система Linux (стр. 2)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В Ext2 и Ext3 – данные, программы, каталоги и устройства являются файлами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Файлы подразделяются на 4 типа: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–"/>
            </a:pPr>
            <a:r>
              <a:rPr lang="ru-RU">
                <a:solidFill>
                  <a:srgbClr val="FFFFFF"/>
                </a:solidFill>
              </a:rPr>
              <a:t>Обычные файлы :</a:t>
            </a:r>
            <a:endParaRPr/>
          </a:p>
          <a:p>
            <a:pPr indent="-228600" lvl="2" marL="11430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исполняемые файлы (типа com  и exe в Windows)</a:t>
            </a:r>
            <a:endParaRPr>
              <a:solidFill>
                <a:srgbClr val="FFFFFF"/>
              </a:solidFill>
            </a:endParaRPr>
          </a:p>
          <a:p>
            <a:pPr indent="-228600" lvl="2" marL="11430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ASCII-файлы (простой текст и конфиг.файлы)</a:t>
            </a:r>
            <a:endParaRPr/>
          </a:p>
          <a:p>
            <a:pPr indent="-228600" lvl="2" marL="11430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Файлы данных (созданные прикладными программами)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–"/>
            </a:pPr>
            <a:r>
              <a:rPr lang="ru-RU">
                <a:solidFill>
                  <a:srgbClr val="FFFFFF"/>
                </a:solidFill>
              </a:rPr>
              <a:t>Каталоги – </a:t>
            </a:r>
            <a:endParaRPr/>
          </a:p>
          <a:p>
            <a:pPr indent="-228600" lvl="2" marL="11430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Собственно каталоги (организуются в иерархическое дерево, начиная с корня, обозначаемого /)</a:t>
            </a:r>
            <a:endParaRPr/>
          </a:p>
          <a:p>
            <a:pPr indent="-228600" lvl="2" marL="114300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Любые накопители (жесткие диски и лог.диски, CD ROM и др.)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–"/>
            </a:pPr>
            <a:r>
              <a:rPr lang="ru-RU">
                <a:solidFill>
                  <a:srgbClr val="FFFFFF"/>
                </a:solidFill>
              </a:rPr>
              <a:t>Файлы устройств (такого в Windows нет;  это все физические устройства, в т.ч. порты ввода-вывода, звуковые и др.)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–"/>
            </a:pPr>
            <a:r>
              <a:rPr lang="ru-RU">
                <a:solidFill>
                  <a:srgbClr val="FFFFFF"/>
                </a:solidFill>
              </a:rPr>
              <a:t>Ссылки  (аналог ярлыков в Windows). </a:t>
            </a:r>
            <a:endParaRPr/>
          </a:p>
          <a:p>
            <a:pPr indent="-342931" lvl="1" marL="342900" rtl="0" algn="l">
              <a:spcBef>
                <a:spcPts val="38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ru-RU" sz="3100">
                <a:solidFill>
                  <a:srgbClr val="FFFFFF"/>
                </a:solidFill>
              </a:rPr>
              <a:t>Файлы в Ext2 и Ext3  состоят из двух частей: </a:t>
            </a:r>
            <a:endParaRPr/>
          </a:p>
          <a:p>
            <a:pPr indent="-342931" lvl="2" marL="742950" rtl="0" algn="l">
              <a:spcBef>
                <a:spcPts val="337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b="1" lang="ru-RU" sz="2700">
                <a:solidFill>
                  <a:srgbClr val="FFFFFF"/>
                </a:solidFill>
              </a:rPr>
              <a:t>inode</a:t>
            </a:r>
            <a:r>
              <a:rPr lang="ru-RU" sz="2700">
                <a:solidFill>
                  <a:srgbClr val="FFFFFF"/>
                </a:solidFill>
              </a:rPr>
              <a:t> – 16-ричная запись о размере файла, формате, правах доступа и др.</a:t>
            </a:r>
            <a:endParaRPr/>
          </a:p>
          <a:p>
            <a:pPr indent="-342931" lvl="2" marL="742950" rtl="0" algn="l">
              <a:spcBef>
                <a:spcPts val="337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 sz="2700">
                <a:solidFill>
                  <a:srgbClr val="FFFFFF"/>
                </a:solidFill>
              </a:rPr>
              <a:t>Имя файла, связанное с </a:t>
            </a:r>
            <a:r>
              <a:rPr b="1" lang="ru-RU" sz="2700">
                <a:solidFill>
                  <a:srgbClr val="FFFFFF"/>
                </a:solidFill>
              </a:rPr>
              <a:t>inode  </a:t>
            </a:r>
            <a:r>
              <a:rPr lang="ru-RU" sz="2700">
                <a:solidFill>
                  <a:srgbClr val="FFFFFF"/>
                </a:solidFill>
              </a:rPr>
              <a:t>посредством прямой жесткой ссылки</a:t>
            </a:r>
            <a:endParaRPr/>
          </a:p>
          <a:p>
            <a:pPr indent="-174625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3" name="Google Shape;1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Следствия такой файловой системы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Имя файла (и расширение) не играет в Linux такой важной роли как в Windows (там, если сменить расширение, то содержимое файла будет недоступно). Здесь расширения может не быть или быть их несколько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С  одним и тем же </a:t>
            </a:r>
            <a:r>
              <a:rPr b="1" lang="ru-RU">
                <a:solidFill>
                  <a:srgbClr val="FFFFFF"/>
                </a:solidFill>
              </a:rPr>
              <a:t>inode</a:t>
            </a:r>
            <a:r>
              <a:rPr lang="ru-RU">
                <a:solidFill>
                  <a:srgbClr val="FFFFFF"/>
                </a:solidFill>
              </a:rPr>
              <a:t> может быть несколько ссылок (один и тот же физический файл может иметь разные имена)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Удаление файла – иначе, чем в Windows. В Linux файл (т.е. Inode) удаляется автоматически, когда становится недоступным для системы. После перезагрузки системы удаленные файлы никак не восстановить.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Примечание: В графической оболочке GNOME есть аналог мусорной корзины Windows, так что оттуда все же можно восстановить файлы.</a:t>
            </a:r>
            <a:endParaRPr/>
          </a:p>
        </p:txBody>
      </p:sp>
      <p:sp>
        <p:nvSpPr>
          <p:cNvPr id="120" name="Google Shape;1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1" name="Google Shape;12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Каталоги в Linux (стр.1)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Каталог – просто отдельный файл особого вида (в нем содержаться только ссылки на другие файлы и каталоги)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В Linux только один корневой каталог, обозначаемый /, поэтому пользователь всегда работает с единым деревом каталогов (даже если данные на разных носителях)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Чтобы подключить файловые системы на разных устройствах в состав одного дерева, используют процедуру </a:t>
            </a:r>
            <a:r>
              <a:rPr i="1" lang="ru-RU">
                <a:solidFill>
                  <a:srgbClr val="FFFFFF"/>
                </a:solidFill>
              </a:rPr>
              <a:t>монтирования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Полный путь к файлу всегда начинается от корневого каталога и состоит из перечисления вершин; названия вершин разделяются символом /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9" name="Google Shape;12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Каталоги в Linux (стр.2)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ru-RU">
                <a:solidFill>
                  <a:srgbClr val="FFFFFF"/>
                </a:solidFill>
              </a:rPr>
              <a:t>После установки Linux в корневом каталоге присутствуют подкаталоги с такими стандартными именами: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ru-RU">
                <a:solidFill>
                  <a:srgbClr val="FFFFFF"/>
                </a:solidFill>
              </a:rPr>
              <a:t>/bin – каталог для исполняемых или бинарных файлов общего назначения. Здесь помещаются оболочки командной строки, общие команды управления файлами, команды архивации и т.д.)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ru-RU">
                <a:solidFill>
                  <a:srgbClr val="FFFFFF"/>
                </a:solidFill>
              </a:rPr>
              <a:t>/boot – содержит файл образа ядра для загрузки системы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ru-RU">
                <a:solidFill>
                  <a:srgbClr val="FFFFFF"/>
                </a:solidFill>
              </a:rPr>
              <a:t>/dev – каталог для файлов-устройств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ru-RU">
                <a:solidFill>
                  <a:srgbClr val="FFFFFF"/>
                </a:solidFill>
              </a:rPr>
              <a:t>/etc – каталог для конфигурационных файлов общего назначения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ru-RU">
                <a:solidFill>
                  <a:srgbClr val="FFFFFF"/>
                </a:solidFill>
              </a:rPr>
              <a:t>/home – содержит домашние папки пользователей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ru-RU">
                <a:solidFill>
                  <a:srgbClr val="FFFFFF"/>
                </a:solidFill>
              </a:rPr>
              <a:t>/usr – каталог для прикладных пользовательских программ</a:t>
            </a:r>
            <a:endParaRPr/>
          </a:p>
        </p:txBody>
      </p:sp>
      <p:sp>
        <p:nvSpPr>
          <p:cNvPr id="136" name="Google Shape;13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7" name="Google Shape;13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ru-RU">
                <a:solidFill>
                  <a:schemeClr val="lt1"/>
                </a:solidFill>
              </a:rPr>
              <a:t>Дерево</a:t>
            </a:r>
            <a:r>
              <a:rPr lang="ru-RU"/>
              <a:t> </a:t>
            </a:r>
            <a:r>
              <a:rPr lang="ru-RU">
                <a:solidFill>
                  <a:schemeClr val="lt1"/>
                </a:solidFill>
              </a:rPr>
              <a:t>каталогов</a:t>
            </a:r>
            <a:r>
              <a:rPr lang="ru-RU"/>
              <a:t> </a:t>
            </a:r>
            <a:r>
              <a:rPr lang="ru-RU">
                <a:solidFill>
                  <a:schemeClr val="lt1"/>
                </a:solidFill>
              </a:rPr>
              <a:t>Linux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144" name="Google Shape;14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45" name="Google Shape;145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1336872"/>
            <a:ext cx="7344816" cy="5153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Запуск Ubuntu Linux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После установки Ubuntu Linux  (это, как правило, делается на виртуальной машине VirtualBox) становится возможным ее загрузить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После ее загрузки, как правило, загружается графическая оболочка  GNOME и имеет вид (см. след слайд)</a:t>
            </a:r>
            <a:endParaRPr/>
          </a:p>
        </p:txBody>
      </p:sp>
      <p:sp>
        <p:nvSpPr>
          <p:cNvPr id="152" name="Google Shape;1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3" name="Google Shape;15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ru-RU">
                <a:solidFill>
                  <a:schemeClr val="lt1"/>
                </a:solidFill>
              </a:rPr>
              <a:t>Рабочий стол GNOME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Снимок.png" id="159" name="Google Shape;15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280" y="1268801"/>
            <a:ext cx="8053275" cy="536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161" name="Google Shape;16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ru-RU">
                <a:solidFill>
                  <a:schemeClr val="lt1"/>
                </a:solidFill>
              </a:rPr>
              <a:t>Обозреватель файлов Nautilus</a:t>
            </a:r>
            <a:br>
              <a:rPr lang="ru-RU">
                <a:solidFill>
                  <a:schemeClr val="lt1"/>
                </a:solidFill>
              </a:rPr>
            </a:br>
            <a:r>
              <a:rPr lang="ru-RU">
                <a:solidFill>
                  <a:schemeClr val="lt1"/>
                </a:solidFill>
              </a:rPr>
              <a:t>(Переход/Домашняя папка)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Снимок-1.png" id="167" name="Google Shape;167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062" y="1600200"/>
            <a:ext cx="7727948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169" name="Google Shape;16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1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Режим Терминал</a:t>
            </a:r>
            <a:br>
              <a:rPr lang="ru-RU">
                <a:solidFill>
                  <a:srgbClr val="FFFFFF"/>
                </a:solidFill>
              </a:rPr>
            </a:br>
            <a:endParaRPr sz="4000">
              <a:solidFill>
                <a:srgbClr val="FFFFFF"/>
              </a:solidFill>
            </a:endParaRPr>
          </a:p>
        </p:txBody>
      </p:sp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В Linux имеется аналог командной строки --  Терминал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Для его запуска следует дать команду Приложения/Стандартные/Терминал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>
                <a:solidFill>
                  <a:srgbClr val="FFFFFF"/>
                </a:solidFill>
              </a:rPr>
              <a:t>Возникнет черное окно, где и следует вводить команды (см. след. Слайд)</a:t>
            </a:r>
            <a:endParaRPr/>
          </a:p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Окно Терминала </a:t>
            </a:r>
            <a:br>
              <a:rPr lang="ru-RU">
                <a:solidFill>
                  <a:srgbClr val="FFFFFF"/>
                </a:solidFill>
              </a:rPr>
            </a:br>
            <a:r>
              <a:rPr lang="ru-RU">
                <a:solidFill>
                  <a:srgbClr val="FFFFFF"/>
                </a:solidFill>
              </a:rPr>
              <a:t>(выполнены команды dir  ls )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Снимок-2.png" id="183" name="Google Shape;18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461" y="1600200"/>
            <a:ext cx="6470848" cy="485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185" name="Google Shape;18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Основные команды Терминала </a:t>
            </a:r>
            <a:br>
              <a:rPr lang="ru-RU">
                <a:solidFill>
                  <a:srgbClr val="FFFFFF"/>
                </a:solidFill>
              </a:rPr>
            </a:br>
            <a:r>
              <a:rPr lang="ru-RU" sz="3600">
                <a:solidFill>
                  <a:srgbClr val="FFFFFF"/>
                </a:solidFill>
              </a:rPr>
              <a:t>(по работе с файлами), стр. 1</a:t>
            </a:r>
            <a:endParaRPr/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dir</a:t>
            </a:r>
            <a:r>
              <a:rPr lang="ru-RU">
                <a:solidFill>
                  <a:srgbClr val="FFFFFF"/>
                </a:solidFill>
              </a:rPr>
              <a:t> – вывод списка файлов и каталогов (по умолчанию – из папки </a:t>
            </a:r>
            <a:r>
              <a:rPr i="1" lang="ru-RU">
                <a:solidFill>
                  <a:srgbClr val="FFFFFF"/>
                </a:solidFill>
              </a:rPr>
              <a:t>/home/имя пользователя)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ls</a:t>
            </a:r>
            <a:r>
              <a:rPr lang="ru-RU">
                <a:solidFill>
                  <a:srgbClr val="FFFFFF"/>
                </a:solidFill>
              </a:rPr>
              <a:t>  - аналогичная команда           (например, </a:t>
            </a:r>
            <a:r>
              <a:rPr b="1" lang="ru-RU">
                <a:solidFill>
                  <a:srgbClr val="FFFFFF"/>
                </a:solidFill>
              </a:rPr>
              <a:t>ls</a:t>
            </a:r>
            <a:r>
              <a:rPr lang="ru-RU">
                <a:solidFill>
                  <a:srgbClr val="FFFFFF"/>
                </a:solidFill>
              </a:rPr>
              <a:t> /</a:t>
            </a:r>
            <a:r>
              <a:rPr i="1" lang="ru-RU">
                <a:solidFill>
                  <a:srgbClr val="FFFFFF"/>
                </a:solidFill>
              </a:rPr>
              <a:t>имя каталога </a:t>
            </a:r>
            <a:r>
              <a:rPr lang="ru-RU">
                <a:solidFill>
                  <a:srgbClr val="FFFFFF"/>
                </a:solidFill>
              </a:rPr>
              <a:t>– список файлов указанного каталога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tree</a:t>
            </a:r>
            <a:r>
              <a:rPr lang="ru-RU">
                <a:solidFill>
                  <a:srgbClr val="FFFFFF"/>
                </a:solidFill>
              </a:rPr>
              <a:t> – вывод графически дерева каталогов заданного пути</a:t>
            </a:r>
            <a:endParaRPr/>
          </a:p>
        </p:txBody>
      </p:sp>
      <p:sp>
        <p:nvSpPr>
          <p:cNvPr id="192" name="Google Shape;19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193" name="Google Shape;19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Основные команды Терминала </a:t>
            </a:r>
            <a:br>
              <a:rPr lang="ru-RU">
                <a:solidFill>
                  <a:srgbClr val="FFFFFF"/>
                </a:solidFill>
              </a:rPr>
            </a:br>
            <a:r>
              <a:rPr lang="ru-RU" sz="3600">
                <a:solidFill>
                  <a:srgbClr val="FFFFFF"/>
                </a:solidFill>
              </a:rPr>
              <a:t>(по работе с файлами), стр. 2</a:t>
            </a:r>
            <a:endParaRPr/>
          </a:p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cd</a:t>
            </a:r>
            <a:r>
              <a:rPr lang="ru-RU">
                <a:solidFill>
                  <a:srgbClr val="FFFFFF"/>
                </a:solidFill>
              </a:rPr>
              <a:t> – переход в другой каталог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mkdir</a:t>
            </a:r>
            <a:r>
              <a:rPr lang="ru-RU">
                <a:solidFill>
                  <a:srgbClr val="FFFFFF"/>
                </a:solidFill>
              </a:rPr>
              <a:t> – создание каталога в текущем каталоге (если </a:t>
            </a:r>
            <a:r>
              <a:rPr b="1" lang="ru-RU">
                <a:solidFill>
                  <a:srgbClr val="FFFFFF"/>
                </a:solidFill>
              </a:rPr>
              <a:t>mkdi</a:t>
            </a:r>
            <a:r>
              <a:rPr lang="ru-RU">
                <a:solidFill>
                  <a:srgbClr val="FFFFFF"/>
                </a:solidFill>
              </a:rPr>
              <a:t>r </a:t>
            </a:r>
            <a:r>
              <a:rPr i="1" lang="ru-RU">
                <a:solidFill>
                  <a:srgbClr val="FFFFFF"/>
                </a:solidFill>
              </a:rPr>
              <a:t>путь</a:t>
            </a:r>
            <a:r>
              <a:rPr lang="ru-RU">
                <a:solidFill>
                  <a:srgbClr val="FFFFFF"/>
                </a:solidFill>
              </a:rPr>
              <a:t> – то, по указанному пути)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cat&gt; </a:t>
            </a:r>
            <a:r>
              <a:rPr i="1" lang="ru-RU">
                <a:solidFill>
                  <a:srgbClr val="FFFFFF"/>
                </a:solidFill>
              </a:rPr>
              <a:t>имя файла </a:t>
            </a:r>
            <a:r>
              <a:rPr lang="ru-RU">
                <a:solidFill>
                  <a:srgbClr val="FFFFFF"/>
                </a:solidFill>
              </a:rPr>
              <a:t>– открытие </a:t>
            </a:r>
            <a:r>
              <a:rPr i="1" lang="ru-RU">
                <a:solidFill>
                  <a:srgbClr val="FFFFFF"/>
                </a:solidFill>
              </a:rPr>
              <a:t>файла</a:t>
            </a:r>
            <a:r>
              <a:rPr lang="ru-RU">
                <a:solidFill>
                  <a:srgbClr val="FFFFFF"/>
                </a:solidFill>
              </a:rPr>
              <a:t> для ввода в него строк с экрана (для завершения нажать </a:t>
            </a:r>
            <a:r>
              <a:rPr b="1" lang="ru-RU">
                <a:solidFill>
                  <a:srgbClr val="FFFFFF"/>
                </a:solidFill>
              </a:rPr>
              <a:t>Ctrl-D</a:t>
            </a:r>
            <a:r>
              <a:rPr lang="ru-RU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cat</a:t>
            </a:r>
            <a:r>
              <a:rPr lang="ru-RU">
                <a:solidFill>
                  <a:srgbClr val="FFFFFF"/>
                </a:solidFill>
              </a:rPr>
              <a:t> </a:t>
            </a:r>
            <a:r>
              <a:rPr i="1" lang="ru-RU">
                <a:solidFill>
                  <a:srgbClr val="FFFFFF"/>
                </a:solidFill>
              </a:rPr>
              <a:t>имя файла </a:t>
            </a:r>
            <a:r>
              <a:rPr lang="ru-RU">
                <a:solidFill>
                  <a:srgbClr val="FFFFFF"/>
                </a:solidFill>
              </a:rPr>
              <a:t>– просмотр </a:t>
            </a:r>
            <a:r>
              <a:rPr i="1" lang="ru-RU">
                <a:solidFill>
                  <a:srgbClr val="FFFFFF"/>
                </a:solidFill>
              </a:rPr>
              <a:t>файла</a:t>
            </a:r>
            <a:r>
              <a:rPr lang="ru-RU">
                <a:solidFill>
                  <a:srgbClr val="FFFFFF"/>
                </a:solidFill>
              </a:rPr>
              <a:t> на экране</a:t>
            </a:r>
            <a:endParaRPr/>
          </a:p>
        </p:txBody>
      </p:sp>
      <p:sp>
        <p:nvSpPr>
          <p:cNvPr id="200" name="Google Shape;20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01" name="Google Shape;20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Основные команды Терминала </a:t>
            </a:r>
            <a:br>
              <a:rPr lang="ru-RU">
                <a:solidFill>
                  <a:srgbClr val="FFFFFF"/>
                </a:solidFill>
              </a:rPr>
            </a:br>
            <a:r>
              <a:rPr lang="ru-RU" sz="3600">
                <a:solidFill>
                  <a:srgbClr val="FFFFFF"/>
                </a:solidFill>
              </a:rPr>
              <a:t>(по работе с файлами), стр. 3</a:t>
            </a:r>
            <a:endParaRPr/>
          </a:p>
        </p:txBody>
      </p:sp>
      <p:sp>
        <p:nvSpPr>
          <p:cNvPr id="207" name="Google Shape;20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cp</a:t>
            </a:r>
            <a:r>
              <a:rPr lang="ru-RU">
                <a:solidFill>
                  <a:srgbClr val="FFFFFF"/>
                </a:solidFill>
              </a:rPr>
              <a:t> – копирование файла (</a:t>
            </a:r>
            <a:r>
              <a:rPr b="1" lang="ru-RU">
                <a:solidFill>
                  <a:srgbClr val="FFFFFF"/>
                </a:solidFill>
              </a:rPr>
              <a:t>cp</a:t>
            </a:r>
            <a:r>
              <a:rPr lang="ru-RU">
                <a:solidFill>
                  <a:srgbClr val="FFFFFF"/>
                </a:solidFill>
              </a:rPr>
              <a:t> </a:t>
            </a:r>
            <a:r>
              <a:rPr i="1" lang="ru-RU">
                <a:solidFill>
                  <a:srgbClr val="FFFFFF"/>
                </a:solidFill>
              </a:rPr>
              <a:t>имя исходного имя конечного</a:t>
            </a:r>
            <a:r>
              <a:rPr lang="ru-RU">
                <a:solidFill>
                  <a:srgbClr val="FFFFFF"/>
                </a:solidFill>
              </a:rPr>
              <a:t>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сp </a:t>
            </a:r>
            <a:r>
              <a:rPr lang="ru-RU">
                <a:solidFill>
                  <a:srgbClr val="FFFFFF"/>
                </a:solidFill>
              </a:rPr>
              <a:t>… /-la – копирование каталогов (т.е. доп.ключ /-la 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mv</a:t>
            </a:r>
            <a:r>
              <a:rPr lang="ru-RU">
                <a:solidFill>
                  <a:srgbClr val="FFFFFF"/>
                </a:solidFill>
              </a:rPr>
              <a:t> – перемещение файлов и каталогов   (</a:t>
            </a:r>
            <a:r>
              <a:rPr b="1" lang="ru-RU">
                <a:solidFill>
                  <a:srgbClr val="FFFFFF"/>
                </a:solidFill>
              </a:rPr>
              <a:t>mv</a:t>
            </a:r>
            <a:r>
              <a:rPr lang="ru-RU">
                <a:solidFill>
                  <a:srgbClr val="FFFFFF"/>
                </a:solidFill>
              </a:rPr>
              <a:t> </a:t>
            </a:r>
            <a:r>
              <a:rPr i="1" lang="ru-RU">
                <a:solidFill>
                  <a:srgbClr val="FFFFFF"/>
                </a:solidFill>
              </a:rPr>
              <a:t>имя исходного имя конечного</a:t>
            </a:r>
            <a:r>
              <a:rPr lang="ru-RU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rm</a:t>
            </a:r>
            <a:r>
              <a:rPr lang="ru-RU">
                <a:solidFill>
                  <a:srgbClr val="FFFFFF"/>
                </a:solidFill>
              </a:rPr>
              <a:t> – удаление файла (с указанием имени)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ru-RU">
                <a:solidFill>
                  <a:srgbClr val="FFFFFF"/>
                </a:solidFill>
              </a:rPr>
              <a:t>rmdir</a:t>
            </a:r>
            <a:r>
              <a:rPr lang="ru-RU">
                <a:solidFill>
                  <a:srgbClr val="FFFFFF"/>
                </a:solidFill>
              </a:rPr>
              <a:t> – удаление каталога (с указанием имени) </a:t>
            </a:r>
            <a:endParaRPr/>
          </a:p>
        </p:txBody>
      </p:sp>
      <p:sp>
        <p:nvSpPr>
          <p:cNvPr id="208" name="Google Shape;20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09" name="Google Shape;20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Задание</a:t>
            </a:r>
            <a:endParaRPr/>
          </a:p>
        </p:txBody>
      </p:sp>
      <p:sp>
        <p:nvSpPr>
          <p:cNvPr id="215" name="Google Shape;215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Создать каталог STUDN (командой </a:t>
            </a:r>
            <a:r>
              <a:rPr b="1" lang="ru-RU">
                <a:solidFill>
                  <a:srgbClr val="FFFFFF"/>
                </a:solidFill>
              </a:rPr>
              <a:t>mkdir</a:t>
            </a:r>
            <a:r>
              <a:rPr lang="ru-RU">
                <a:solidFill>
                  <a:srgbClr val="FFFFFF"/>
                </a:solidFill>
              </a:rPr>
              <a:t>)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Войти в каталог STUDN (командой </a:t>
            </a:r>
            <a:r>
              <a:rPr b="1" lang="ru-RU">
                <a:solidFill>
                  <a:srgbClr val="FFFFFF"/>
                </a:solidFill>
              </a:rPr>
              <a:t>cd</a:t>
            </a:r>
            <a:r>
              <a:rPr lang="ru-RU">
                <a:solidFill>
                  <a:srgbClr val="FFFFFF"/>
                </a:solidFill>
              </a:rPr>
              <a:t> )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Внутри STUDN создать каталог DEF</a:t>
            </a:r>
            <a:endParaRPr>
              <a:solidFill>
                <a:srgbClr val="FFFFFF"/>
              </a:solidFill>
            </a:endParaRPr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В DEF создать файлы </a:t>
            </a:r>
            <a:r>
              <a:rPr b="1" lang="ru-RU">
                <a:solidFill>
                  <a:srgbClr val="FFFFFF"/>
                </a:solidFill>
              </a:rPr>
              <a:t>text1.txt  fio.txt </a:t>
            </a:r>
            <a:r>
              <a:rPr lang="ru-RU">
                <a:solidFill>
                  <a:srgbClr val="FFFFFF"/>
                </a:solidFill>
              </a:rPr>
              <a:t>(командой </a:t>
            </a:r>
            <a:r>
              <a:rPr b="1" lang="ru-RU">
                <a:solidFill>
                  <a:srgbClr val="FFFFFF"/>
                </a:solidFill>
              </a:rPr>
              <a:t>cat&gt; </a:t>
            </a:r>
            <a:r>
              <a:rPr lang="ru-RU">
                <a:solidFill>
                  <a:srgbClr val="FFFFFF"/>
                </a:solidFill>
              </a:rPr>
              <a:t>и завершая </a:t>
            </a:r>
            <a:r>
              <a:rPr b="1" lang="ru-RU">
                <a:solidFill>
                  <a:srgbClr val="FFFFFF"/>
                </a:solidFill>
              </a:rPr>
              <a:t>Ctlr-D</a:t>
            </a:r>
            <a:r>
              <a:rPr lang="ru-RU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Просмотреть эти файлы (командой </a:t>
            </a:r>
            <a:r>
              <a:rPr b="1" lang="ru-RU">
                <a:solidFill>
                  <a:srgbClr val="FFFFFF"/>
                </a:solidFill>
              </a:rPr>
              <a:t>cat</a:t>
            </a:r>
            <a:r>
              <a:rPr lang="ru-RU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Создать  каталоги DEF1 и DEF2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Скопировать </a:t>
            </a:r>
            <a:r>
              <a:rPr b="1" lang="ru-RU">
                <a:solidFill>
                  <a:srgbClr val="FFFFFF"/>
                </a:solidFill>
              </a:rPr>
              <a:t>fio.txt</a:t>
            </a:r>
            <a:r>
              <a:rPr lang="ru-RU">
                <a:solidFill>
                  <a:srgbClr val="FFFFFF"/>
                </a:solidFill>
              </a:rPr>
              <a:t> в папку DEF1 (командой </a:t>
            </a:r>
            <a:r>
              <a:rPr b="1" lang="ru-RU">
                <a:solidFill>
                  <a:srgbClr val="FFFFFF"/>
                </a:solidFill>
              </a:rPr>
              <a:t>cp имя файла каталог</a:t>
            </a:r>
            <a:r>
              <a:rPr lang="ru-RU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Переместить </a:t>
            </a:r>
            <a:r>
              <a:rPr b="1" lang="ru-RU">
                <a:solidFill>
                  <a:srgbClr val="FFFFFF"/>
                </a:solidFill>
              </a:rPr>
              <a:t>text1.txt</a:t>
            </a:r>
            <a:r>
              <a:rPr lang="ru-RU">
                <a:solidFill>
                  <a:srgbClr val="FFFFFF"/>
                </a:solidFill>
              </a:rPr>
              <a:t>  в каталог DEF2 (командой </a:t>
            </a:r>
            <a:r>
              <a:rPr b="1" lang="ru-RU">
                <a:solidFill>
                  <a:srgbClr val="FFFFFF"/>
                </a:solidFill>
              </a:rPr>
              <a:t>mv</a:t>
            </a:r>
            <a:r>
              <a:rPr lang="ru-RU">
                <a:solidFill>
                  <a:srgbClr val="FFFFFF"/>
                </a:solidFill>
              </a:rPr>
              <a:t>)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rgbClr val="FFFFFF"/>
              </a:buClr>
              <a:buSzPct val="100000"/>
              <a:buChar char="•"/>
            </a:pPr>
            <a:r>
              <a:rPr lang="ru-RU">
                <a:solidFill>
                  <a:srgbClr val="FFFFFF"/>
                </a:solidFill>
              </a:rPr>
              <a:t>Удалить файл </a:t>
            </a:r>
            <a:r>
              <a:rPr b="1" lang="ru-RU">
                <a:solidFill>
                  <a:srgbClr val="FFFFFF"/>
                </a:solidFill>
              </a:rPr>
              <a:t>fio.txt</a:t>
            </a:r>
            <a:r>
              <a:rPr lang="ru-RU">
                <a:solidFill>
                  <a:srgbClr val="FFFFFF"/>
                </a:solidFill>
              </a:rPr>
              <a:t> в каталоге DEF1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6" name="Google Shape;21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17" name="Google Shape;21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2222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Оглавление в Nautilus</a:t>
            </a:r>
            <a:br>
              <a:rPr lang="ru-RU">
                <a:solidFill>
                  <a:srgbClr val="FFFFFF"/>
                </a:solidFill>
              </a:rPr>
            </a:br>
            <a:r>
              <a:rPr lang="ru-RU" sz="3600">
                <a:solidFill>
                  <a:srgbClr val="FFFFFF"/>
                </a:solidFill>
              </a:rPr>
              <a:t> (после создания STUDN)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descr="Снимок-3.png" id="223" name="Google Shape;223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747" y="1600200"/>
            <a:ext cx="6918505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25" name="Google Shape;22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Создание STUDN и DEF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Снимок-4.png" id="231" name="Google Shape;231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354" y="1328280"/>
            <a:ext cx="7972078" cy="519706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33" name="Google Shape;23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Создание файлов text1.txt и fio.txt и их просмотр на экране 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Снимок-5.png" id="239" name="Google Shape;23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1401414"/>
            <a:ext cx="7560840" cy="49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41" name="Google Shape;24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Просмотр оглавления в Nautilus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Снимок-6.png" id="247" name="Google Shape;247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85" y="1844824"/>
            <a:ext cx="8458026" cy="4104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49" name="Google Shape;24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Создание DEF1 и DEF2 и копирование fio.txt в DEF1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Снимок-7.png" id="255" name="Google Shape;255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2050" y="1412776"/>
            <a:ext cx="6766880" cy="482453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57" name="Google Shape;2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Перемещение text1.txt в DEF2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Снимок-8.png" id="263" name="Google Shape;263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969" y="1484784"/>
            <a:ext cx="7854345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sp>
        <p:nvSpPr>
          <p:cNvPr id="265" name="Google Shape;265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/>
          <p:nvPr>
            <p:ph type="title"/>
          </p:nvPr>
        </p:nvSpPr>
        <p:spPr>
          <a:xfrm>
            <a:off x="391348" y="864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Удаление файла</a:t>
            </a:r>
            <a:endParaRPr/>
          </a:p>
        </p:txBody>
      </p:sp>
      <p:sp>
        <p:nvSpPr>
          <p:cNvPr id="271" name="Google Shape;2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2" name="Google Shape;2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 24</a:t>
            </a:r>
            <a:endParaRPr/>
          </a:p>
        </p:txBody>
      </p:sp>
      <p:pic>
        <p:nvPicPr>
          <p:cNvPr descr="Снимок-11.png" id="273" name="Google Shape;27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268761"/>
            <a:ext cx="8443507" cy="513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2012-10-19T07:42:50Z</dcterms:created>
  <dc:creator>кс</dc:creator>
</cp:coreProperties>
</file>