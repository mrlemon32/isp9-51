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47" d="100"/>
          <a:sy n="47" d="100"/>
        </p:scale>
        <p:origin x="77" y="14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4A6D75-9766-A56E-5E74-8414C9B23CE9}"/>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ECFB632-E200-B240-77F4-DD024ECA4B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0486E14-7085-D761-D883-9334C833FD45}"/>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5" name="Нижний колонтитул 4">
            <a:extLst>
              <a:ext uri="{FF2B5EF4-FFF2-40B4-BE49-F238E27FC236}">
                <a16:creationId xmlns:a16="http://schemas.microsoft.com/office/drawing/2014/main" id="{24C3DC97-4F59-9235-1C81-89873A6A242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268DC66-318D-0346-BB7D-97A6D432AF20}"/>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2279113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292BC5-97A8-3E04-B41B-442C17C2339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61F86B9-E6AE-B4CC-E9FE-F8B89E89813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5391C2E-D9AC-3119-3BD3-F43E2D04A3D9}"/>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5" name="Нижний колонтитул 4">
            <a:extLst>
              <a:ext uri="{FF2B5EF4-FFF2-40B4-BE49-F238E27FC236}">
                <a16:creationId xmlns:a16="http://schemas.microsoft.com/office/drawing/2014/main" id="{206D8EBC-984D-7305-46CD-06C1CF944CE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DC3DD80-A6D3-2E90-CB4F-8952F4A3985C}"/>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2125607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333C70-CC93-9256-5E74-E58D6F1179F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080977C-3E3C-0971-141E-0561D35192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164560D-977D-44F0-DC6F-72AC2C4DB8AE}"/>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5" name="Нижний колонтитул 4">
            <a:extLst>
              <a:ext uri="{FF2B5EF4-FFF2-40B4-BE49-F238E27FC236}">
                <a16:creationId xmlns:a16="http://schemas.microsoft.com/office/drawing/2014/main" id="{8350D69A-294D-76CD-344A-8B5FC2009D7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67A68EC-8EE6-71ED-683F-CBF023B48E84}"/>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3436729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3A0102-E8A3-F2B5-D13E-1BA12FCE2D3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96CDBF6-0A54-C398-5A9E-A85ED0B90A7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D6EB2BFA-ED31-5F1F-D689-A7322EC5785D}"/>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14AEC70B-ED86-8616-6E1F-160C654D99B8}"/>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6" name="Нижний колонтитул 5">
            <a:extLst>
              <a:ext uri="{FF2B5EF4-FFF2-40B4-BE49-F238E27FC236}">
                <a16:creationId xmlns:a16="http://schemas.microsoft.com/office/drawing/2014/main" id="{E4746311-93FB-DAED-5A66-48DA3A3C51F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BF8E3AD-D80E-B06B-CC4B-214E1E0A8133}"/>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291255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713C51-6254-55E6-AF19-588AA82DCF9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4662B0FF-4FC1-86C1-FA12-024EDD2830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EF7E1B5-BC76-32AC-8388-F6316B515EB9}"/>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D65EDC9-1E9E-57C1-DCE1-7211522DD0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3096461-2487-5D17-AEE3-6AEA467FCA0C}"/>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BD6966B-3141-828B-5252-6C6FB5141E99}"/>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8" name="Нижний колонтитул 7">
            <a:extLst>
              <a:ext uri="{FF2B5EF4-FFF2-40B4-BE49-F238E27FC236}">
                <a16:creationId xmlns:a16="http://schemas.microsoft.com/office/drawing/2014/main" id="{7DDC3743-47C9-8CD7-F004-11E0DCA980F6}"/>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A26603A2-446F-14DF-3913-11977BC4F100}"/>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560342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1DD074-C33A-B935-D5DA-6B85A0A47624}"/>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05D2527-8896-97D1-BCE4-B3F1DBBAF091}"/>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4" name="Нижний колонтитул 3">
            <a:extLst>
              <a:ext uri="{FF2B5EF4-FFF2-40B4-BE49-F238E27FC236}">
                <a16:creationId xmlns:a16="http://schemas.microsoft.com/office/drawing/2014/main" id="{88E62CF8-35F1-AF7C-C75E-323F344CB12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C99CB97-AF4F-FCC3-0457-662EB8FF9B0A}"/>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3910575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61A5BE5A-596A-894C-97A1-1961FC9E148A}"/>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3" name="Нижний колонтитул 2">
            <a:extLst>
              <a:ext uri="{FF2B5EF4-FFF2-40B4-BE49-F238E27FC236}">
                <a16:creationId xmlns:a16="http://schemas.microsoft.com/office/drawing/2014/main" id="{6239FFA6-2EC4-762D-4596-41FB9E0112D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413EF94-DB25-1FA3-FF96-DA3399E52543}"/>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4005811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F6D610-DE3A-4225-31B2-24B78F09605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24E0962-358E-E55A-B8CC-CD0656D2F9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631783B-C1B4-5B11-6C67-6A95699E69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9BDA3C8-6F3C-C63B-07C2-90500486E34E}"/>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6" name="Нижний колонтитул 5">
            <a:extLst>
              <a:ext uri="{FF2B5EF4-FFF2-40B4-BE49-F238E27FC236}">
                <a16:creationId xmlns:a16="http://schemas.microsoft.com/office/drawing/2014/main" id="{3DF42ABD-EB3C-CF53-BC25-04011E5A425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EDD3057-906C-6E72-93DE-915446FDC289}"/>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2145911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491794-D0A2-E184-A6E4-ACC8785A9C6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8684699C-4FD3-BACB-91B4-EF95BD165F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75771F7-0094-E6C2-0113-6211C1AA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3E1DECE-571E-4133-AF53-146A802E35AD}"/>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6" name="Нижний колонтитул 5">
            <a:extLst>
              <a:ext uri="{FF2B5EF4-FFF2-40B4-BE49-F238E27FC236}">
                <a16:creationId xmlns:a16="http://schemas.microsoft.com/office/drawing/2014/main" id="{F201DDF5-50CA-ABB8-B872-375B77D4D35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1A80236-B97E-A6F5-D529-012FC6C31F4F}"/>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3647179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C2AB9E-57F9-D7DB-6570-E745147C0A1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4743BBF3-1661-8C14-7AC5-973CBA3E898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DF1F57-4213-7371-F2A9-FF10FBFF0A41}"/>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5" name="Нижний колонтитул 4">
            <a:extLst>
              <a:ext uri="{FF2B5EF4-FFF2-40B4-BE49-F238E27FC236}">
                <a16:creationId xmlns:a16="http://schemas.microsoft.com/office/drawing/2014/main" id="{949AECCF-FB62-E525-43F8-94D5CC44F9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0CC0A92-110D-BDF5-CA7D-C8D9E75000D3}"/>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4036558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05D7122-75A2-4DAA-0B8E-A6D04B1BF60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BE598F9A-241E-7F70-C244-2941BCD0F3C9}"/>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F85D671-5080-39EE-94D8-20A25EE4FEE2}"/>
              </a:ext>
            </a:extLst>
          </p:cNvPr>
          <p:cNvSpPr>
            <a:spLocks noGrp="1"/>
          </p:cNvSpPr>
          <p:nvPr>
            <p:ph type="dt" sz="half" idx="10"/>
          </p:nvPr>
        </p:nvSpPr>
        <p:spPr/>
        <p:txBody>
          <a:bodyPr/>
          <a:lstStyle/>
          <a:p>
            <a:fld id="{8EFE123A-1349-4F05-8440-62D9D23CEDFE}" type="datetimeFigureOut">
              <a:rPr lang="ru-RU" smtClean="0"/>
              <a:t>23.01.2026</a:t>
            </a:fld>
            <a:endParaRPr lang="ru-RU"/>
          </a:p>
        </p:txBody>
      </p:sp>
      <p:sp>
        <p:nvSpPr>
          <p:cNvPr id="5" name="Нижний колонтитул 4">
            <a:extLst>
              <a:ext uri="{FF2B5EF4-FFF2-40B4-BE49-F238E27FC236}">
                <a16:creationId xmlns:a16="http://schemas.microsoft.com/office/drawing/2014/main" id="{7F0CE1CC-F806-3F62-ACC9-C4D95C52FD6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5B75ED4-C42C-C179-A9E3-FD05C92A9914}"/>
              </a:ext>
            </a:extLst>
          </p:cNvPr>
          <p:cNvSpPr>
            <a:spLocks noGrp="1"/>
          </p:cNvSpPr>
          <p:nvPr>
            <p:ph type="sldNum" sz="quarter" idx="12"/>
          </p:nvPr>
        </p:nvSpPr>
        <p:spPr/>
        <p:txBody>
          <a:bodyPr/>
          <a:lstStyle/>
          <a:p>
            <a:fld id="{CE8B6412-80C2-44D8-A971-FBE8C1BAC3EE}" type="slidenum">
              <a:rPr lang="ru-RU" smtClean="0"/>
              <a:t>‹#›</a:t>
            </a:fld>
            <a:endParaRPr lang="ru-RU"/>
          </a:p>
        </p:txBody>
      </p:sp>
    </p:spTree>
    <p:extLst>
      <p:ext uri="{BB962C8B-B14F-4D97-AF65-F5344CB8AC3E}">
        <p14:creationId xmlns:p14="http://schemas.microsoft.com/office/powerpoint/2010/main" val="352224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7A2CB8-DA91-D857-D61C-96715D2CDA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0FADA41-F13F-E467-AB46-6527C67818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7521D17-5243-46E4-7272-40D8BCEFD3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FE123A-1349-4F05-8440-62D9D23CEDFE}" type="datetimeFigureOut">
              <a:rPr lang="ru-RU" smtClean="0"/>
              <a:t>23.01.2026</a:t>
            </a:fld>
            <a:endParaRPr lang="ru-RU"/>
          </a:p>
        </p:txBody>
      </p:sp>
      <p:sp>
        <p:nvSpPr>
          <p:cNvPr id="5" name="Нижний колонтитул 4">
            <a:extLst>
              <a:ext uri="{FF2B5EF4-FFF2-40B4-BE49-F238E27FC236}">
                <a16:creationId xmlns:a16="http://schemas.microsoft.com/office/drawing/2014/main" id="{C00494BD-866A-FDB4-9DC6-93A110048E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C409DD05-FDB5-1064-40A3-93691983A6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8B6412-80C2-44D8-A971-FBE8C1BAC3EE}" type="slidenum">
              <a:rPr lang="ru-RU" smtClean="0"/>
              <a:t>‹#›</a:t>
            </a:fld>
            <a:endParaRPr lang="ru-RU"/>
          </a:p>
        </p:txBody>
      </p:sp>
    </p:spTree>
    <p:extLst>
      <p:ext uri="{BB962C8B-B14F-4D97-AF65-F5344CB8AC3E}">
        <p14:creationId xmlns:p14="http://schemas.microsoft.com/office/powerpoint/2010/main" val="2669887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титул">
            <a:extLst>
              <a:ext uri="{FF2B5EF4-FFF2-40B4-BE49-F238E27FC236}">
                <a16:creationId xmlns:a16="http://schemas.microsoft.com/office/drawing/2014/main" id="{4A3E707C-86DD-61CD-367C-4ECC810DEA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31185" y="342448"/>
            <a:ext cx="5929630" cy="1087755"/>
          </a:xfrm>
          <a:prstGeom prst="rect">
            <a:avLst/>
          </a:prstGeom>
          <a:noFill/>
          <a:ln>
            <a:noFill/>
          </a:ln>
        </p:spPr>
      </p:pic>
      <p:sp>
        <p:nvSpPr>
          <p:cNvPr id="8" name="TextBox 7">
            <a:extLst>
              <a:ext uri="{FF2B5EF4-FFF2-40B4-BE49-F238E27FC236}">
                <a16:creationId xmlns:a16="http://schemas.microsoft.com/office/drawing/2014/main" id="{453999E9-09D1-9DD4-D8E7-C5603426D121}"/>
              </a:ext>
            </a:extLst>
          </p:cNvPr>
          <p:cNvSpPr txBox="1"/>
          <p:nvPr/>
        </p:nvSpPr>
        <p:spPr>
          <a:xfrm>
            <a:off x="3046640" y="2763504"/>
            <a:ext cx="6098720" cy="1037079"/>
          </a:xfrm>
          <a:prstGeom prst="rect">
            <a:avLst/>
          </a:prstGeom>
          <a:noFill/>
        </p:spPr>
        <p:txBody>
          <a:bodyPr wrap="square">
            <a:spAutoFit/>
          </a:bodyPr>
          <a:lstStyle/>
          <a:p>
            <a:pPr>
              <a:lnSpc>
                <a:spcPct val="106000"/>
              </a:lnSpc>
              <a:spcAft>
                <a:spcPts val="800"/>
              </a:spcAft>
            </a:pPr>
            <a:r>
              <a:rPr lang="ru-RU"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ru-RU" sz="1800" b="1" dirty="0">
                <a:effectLst/>
                <a:latin typeface="Times New Roman" panose="02020603050405020304" pitchFamily="18" charset="0"/>
                <a:ea typeface="Calibri" panose="020F0502020204030204" pitchFamily="34" charset="0"/>
                <a:cs typeface="Times New Roman" panose="02020603050405020304" pitchFamily="18" charset="0"/>
              </a:rPr>
              <a:t>Отчет по </a:t>
            </a:r>
            <a:r>
              <a:rPr lang="ru-RU" b="1" dirty="0">
                <a:latin typeface="Times New Roman" panose="02020603050405020304" pitchFamily="18" charset="0"/>
                <a:ea typeface="Calibri" panose="020F0502020204030204" pitchFamily="34" charset="0"/>
                <a:cs typeface="Times New Roman" panose="02020603050405020304" pitchFamily="18" charset="0"/>
              </a:rPr>
              <a:t>практике</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r>
              <a:rPr lang="ru-RU" sz="1400" dirty="0">
                <a:effectLst/>
                <a:latin typeface="Times New Roman" panose="02020603050405020304" pitchFamily="18" charset="0"/>
                <a:ea typeface="Calibri" panose="020F0502020204030204" pitchFamily="34" charset="0"/>
                <a:cs typeface="Times New Roman" panose="02020603050405020304" pitchFamily="18" charset="0"/>
              </a:rPr>
              <a:t>Дисциплина: 1С</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F8DB062-9BB4-0963-4062-399A12327194}"/>
              </a:ext>
            </a:extLst>
          </p:cNvPr>
          <p:cNvSpPr txBox="1"/>
          <p:nvPr/>
        </p:nvSpPr>
        <p:spPr>
          <a:xfrm>
            <a:off x="713014" y="4162536"/>
            <a:ext cx="10765972" cy="2250424"/>
          </a:xfrm>
          <a:prstGeom prst="rect">
            <a:avLst/>
          </a:prstGeom>
          <a:noFill/>
        </p:spPr>
        <p:txBody>
          <a:bodyPr wrap="square">
            <a:spAutoFit/>
          </a:bodyPr>
          <a:lstStyle/>
          <a:p>
            <a:pPr indent="-809625" algn="r">
              <a:lnSpc>
                <a:spcPct val="106000"/>
              </a:lnSpc>
              <a:spcAft>
                <a:spcPts val="800"/>
              </a:spcAf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Выполнили:</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indent="-809625" algn="r">
              <a:lnSpc>
                <a:spcPct val="106000"/>
              </a:lnSpc>
              <a:spcAft>
                <a:spcPts val="800"/>
              </a:spcAft>
            </a:pPr>
            <a:r>
              <a:rPr lang="ru-RU"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студенты группы 2ИСП9-51</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indent="-809625" algn="r">
              <a:lnSpc>
                <a:spcPct val="106000"/>
              </a:lnSpc>
              <a:spcAft>
                <a:spcPts val="800"/>
              </a:spcAft>
              <a:buAutoNum type="arabicPeriod"/>
            </a:pPr>
            <a:r>
              <a:rPr lang="ru-RU"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Новиков Д. А.</a:t>
            </a:r>
            <a:br>
              <a:rPr lang="ru-RU"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ru-RU"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 </a:t>
            </a:r>
            <a:r>
              <a:rPr lang="ru-RU"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Паевский</a:t>
            </a:r>
            <a:r>
              <a:rPr lang="ru-RU"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М. Д.</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tabLst>
                <a:tab pos="2660015"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Москва, 2025</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337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484093" y="204788"/>
            <a:ext cx="11051415" cy="1614866"/>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Создание новой информационной базы</a:t>
            </a:r>
          </a:p>
          <a:p>
            <a:pPr>
              <a:lnSpc>
                <a:spcPct val="106000"/>
              </a:lnSpc>
              <a:spcAft>
                <a:spcPts val="800"/>
              </a:spcAft>
            </a:pPr>
            <a:r>
              <a:rPr lang="ru-RU" sz="2000" dirty="0">
                <a:latin typeface="Times New Roman" panose="02020603050405020304" pitchFamily="18" charset="0"/>
                <a:ea typeface="Calibri" panose="020F0502020204030204" pitchFamily="34" charset="0"/>
                <a:cs typeface="Times New Roman" panose="02020603050405020304" pitchFamily="18" charset="0"/>
              </a:rPr>
              <a:t>Мы создали новую информационную базу, используя программу </a:t>
            </a:r>
            <a:r>
              <a:rPr lang="en-US" sz="2000" dirty="0">
                <a:latin typeface="Times New Roman" panose="02020603050405020304" pitchFamily="18" charset="0"/>
                <a:ea typeface="Calibri" panose="020F0502020204030204" pitchFamily="34" charset="0"/>
                <a:cs typeface="Times New Roman" panose="02020603050405020304" pitchFamily="18" charset="0"/>
              </a:rPr>
              <a:t>“1C </a:t>
            </a:r>
            <a:r>
              <a:rPr lang="ru-RU" sz="2000" dirty="0">
                <a:latin typeface="Times New Roman" panose="02020603050405020304" pitchFamily="18" charset="0"/>
                <a:ea typeface="Calibri" panose="020F0502020204030204" pitchFamily="34" charset="0"/>
                <a:cs typeface="Times New Roman" panose="02020603050405020304" pitchFamily="18" charset="0"/>
              </a:rPr>
              <a:t>Предприятие (учебная версия)</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ru-RU" sz="2000" dirty="0">
                <a:latin typeface="Times New Roman" panose="02020603050405020304" pitchFamily="18" charset="0"/>
                <a:ea typeface="Calibri" panose="020F0502020204030204" pitchFamily="34" charset="0"/>
                <a:cs typeface="Times New Roman" panose="02020603050405020304" pitchFamily="18" charset="0"/>
              </a:rPr>
              <a:t>. Наша база данных называется </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ru-RU" sz="2000" dirty="0">
                <a:latin typeface="Times New Roman" panose="02020603050405020304" pitchFamily="18" charset="0"/>
                <a:ea typeface="Calibri" panose="020F0502020204030204" pitchFamily="34" charset="0"/>
                <a:cs typeface="Times New Roman" panose="02020603050405020304" pitchFamily="18" charset="0"/>
              </a:rPr>
              <a:t>Ремонт бытовой техники</a:t>
            </a:r>
            <a:r>
              <a:rPr lang="en-US" sz="2000" dirty="0">
                <a:latin typeface="Times New Roman" panose="02020603050405020304" pitchFamily="18" charset="0"/>
                <a:ea typeface="Calibri" panose="020F0502020204030204" pitchFamily="34" charset="0"/>
                <a:cs typeface="Times New Roman" panose="02020603050405020304" pitchFamily="18" charset="0"/>
              </a:rPr>
              <a:t>”</a:t>
            </a:r>
            <a:r>
              <a:rPr lang="ru-RU" sz="2000" dirty="0">
                <a:latin typeface="Times New Roman" panose="02020603050405020304" pitchFamily="18" charset="0"/>
                <a:ea typeface="Calibri" panose="020F0502020204030204" pitchFamily="34" charset="0"/>
                <a:cs typeface="Times New Roman" panose="02020603050405020304" pitchFamily="18" charset="0"/>
              </a:rPr>
              <a:t>. Компания имеет несколько отделов со своими сотрудниками, которые ремонтируют бытовую технику.</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Рисунок 4">
            <a:extLst>
              <a:ext uri="{FF2B5EF4-FFF2-40B4-BE49-F238E27FC236}">
                <a16:creationId xmlns:a16="http://schemas.microsoft.com/office/drawing/2014/main" id="{44C05AC0-1992-4806-488B-A2AC48D09B6A}"/>
              </a:ext>
            </a:extLst>
          </p:cNvPr>
          <p:cNvPicPr>
            <a:picLocks noChangeAspect="1"/>
          </p:cNvPicPr>
          <p:nvPr/>
        </p:nvPicPr>
        <p:blipFill>
          <a:blip r:embed="rId2"/>
          <a:stretch>
            <a:fillRect/>
          </a:stretch>
        </p:blipFill>
        <p:spPr>
          <a:xfrm>
            <a:off x="7208025" y="2194629"/>
            <a:ext cx="3995948" cy="4049826"/>
          </a:xfrm>
          <a:prstGeom prst="rect">
            <a:avLst/>
          </a:prstGeom>
          <a:ln w="3175">
            <a:solidFill>
              <a:schemeClr val="tx1"/>
            </a:solidFill>
          </a:ln>
        </p:spPr>
      </p:pic>
      <p:pic>
        <p:nvPicPr>
          <p:cNvPr id="6" name="Рисунок 5">
            <a:extLst>
              <a:ext uri="{FF2B5EF4-FFF2-40B4-BE49-F238E27FC236}">
                <a16:creationId xmlns:a16="http://schemas.microsoft.com/office/drawing/2014/main" id="{049A4A80-3F54-C336-0F17-36451E447999}"/>
              </a:ext>
            </a:extLst>
          </p:cNvPr>
          <p:cNvPicPr>
            <a:picLocks noChangeAspect="1"/>
          </p:cNvPicPr>
          <p:nvPr/>
        </p:nvPicPr>
        <p:blipFill>
          <a:blip r:embed="rId3"/>
          <a:stretch>
            <a:fillRect/>
          </a:stretch>
        </p:blipFill>
        <p:spPr>
          <a:xfrm>
            <a:off x="747703" y="2297723"/>
            <a:ext cx="4597620" cy="3694686"/>
          </a:xfrm>
          <a:prstGeom prst="rect">
            <a:avLst/>
          </a:prstGeom>
          <a:ln w="3175">
            <a:solidFill>
              <a:schemeClr val="tx1"/>
            </a:solidFill>
          </a:ln>
        </p:spPr>
      </p:pic>
    </p:spTree>
    <p:extLst>
      <p:ext uri="{BB962C8B-B14F-4D97-AF65-F5344CB8AC3E}">
        <p14:creationId xmlns:p14="http://schemas.microsoft.com/office/powerpoint/2010/main" val="248972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1219563" y="207534"/>
            <a:ext cx="6098720" cy="1288623"/>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Настройка свойств конфигурации</a:t>
            </a:r>
          </a:p>
          <a:p>
            <a:pPr>
              <a:lnSpc>
                <a:spcPct val="106000"/>
              </a:lnSpc>
              <a:spcAft>
                <a:spcPts val="800"/>
              </a:spcAft>
            </a:pP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Мы установили константные данные, такие как название конфигурации, разработчики и т д.</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Рисунок 1">
            <a:extLst>
              <a:ext uri="{FF2B5EF4-FFF2-40B4-BE49-F238E27FC236}">
                <a16:creationId xmlns:a16="http://schemas.microsoft.com/office/drawing/2014/main" id="{AC033C9A-6F96-3C64-4809-CAD16F27A272}"/>
              </a:ext>
            </a:extLst>
          </p:cNvPr>
          <p:cNvPicPr>
            <a:picLocks noChangeAspect="1"/>
          </p:cNvPicPr>
          <p:nvPr/>
        </p:nvPicPr>
        <p:blipFill>
          <a:blip r:embed="rId2"/>
          <a:stretch>
            <a:fillRect/>
          </a:stretch>
        </p:blipFill>
        <p:spPr>
          <a:xfrm>
            <a:off x="1274885" y="1854859"/>
            <a:ext cx="4495800" cy="4648835"/>
          </a:xfrm>
          <a:prstGeom prst="rect">
            <a:avLst/>
          </a:prstGeom>
        </p:spPr>
      </p:pic>
      <p:pic>
        <p:nvPicPr>
          <p:cNvPr id="3" name="Рисунок 2">
            <a:extLst>
              <a:ext uri="{FF2B5EF4-FFF2-40B4-BE49-F238E27FC236}">
                <a16:creationId xmlns:a16="http://schemas.microsoft.com/office/drawing/2014/main" id="{3E2BEF40-4820-C48D-CDA7-61C51724F22B}"/>
              </a:ext>
            </a:extLst>
          </p:cNvPr>
          <p:cNvPicPr>
            <a:picLocks noChangeAspect="1"/>
          </p:cNvPicPr>
          <p:nvPr/>
        </p:nvPicPr>
        <p:blipFill>
          <a:blip r:embed="rId3"/>
          <a:stretch>
            <a:fillRect/>
          </a:stretch>
        </p:blipFill>
        <p:spPr>
          <a:xfrm>
            <a:off x="8278550" y="1496157"/>
            <a:ext cx="3596564" cy="5054429"/>
          </a:xfrm>
          <a:prstGeom prst="rect">
            <a:avLst/>
          </a:prstGeom>
        </p:spPr>
      </p:pic>
    </p:spTree>
    <p:extLst>
      <p:ext uri="{BB962C8B-B14F-4D97-AF65-F5344CB8AC3E}">
        <p14:creationId xmlns:p14="http://schemas.microsoft.com/office/powerpoint/2010/main" val="621238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1131277" y="680933"/>
            <a:ext cx="4552000" cy="2711576"/>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Создание справочников</a:t>
            </a:r>
          </a:p>
          <a:p>
            <a:pPr>
              <a:lnSpc>
                <a:spcPct val="107000"/>
              </a:lnSpc>
              <a:spcAft>
                <a:spcPts val="800"/>
              </a:spcAf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Справочники — это прикладные объекты конфигурации. Они позволяют хранить в информационной базе данные, имеющие одинаковую структуру и списочный характер. </a:t>
            </a:r>
            <a:r>
              <a:rPr lang="ru-RU" dirty="0">
                <a:latin typeface="Times New Roman" panose="02020603050405020304" pitchFamily="18" charset="0"/>
                <a:ea typeface="Calibri" panose="020F0502020204030204" pitchFamily="34" charset="0"/>
                <a:cs typeface="Times New Roman" panose="02020603050405020304" pitchFamily="18" charset="0"/>
              </a:rPr>
              <a:t>В этом разделе мы создали 2 справочника </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ru-RU" dirty="0">
                <a:latin typeface="Times New Roman" panose="02020603050405020304" pitchFamily="18" charset="0"/>
                <a:ea typeface="Calibri" panose="020F0502020204030204" pitchFamily="34" charset="0"/>
                <a:cs typeface="Times New Roman" panose="02020603050405020304" pitchFamily="18" charset="0"/>
              </a:rPr>
              <a:t>Услуги</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ru-RU" dirty="0">
                <a:latin typeface="Times New Roman" panose="02020603050405020304" pitchFamily="18" charset="0"/>
                <a:ea typeface="Calibri" panose="020F0502020204030204" pitchFamily="34" charset="0"/>
                <a:cs typeface="Times New Roman" panose="02020603050405020304" pitchFamily="18" charset="0"/>
              </a:rPr>
              <a:t> и </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ru-RU" dirty="0">
                <a:latin typeface="Times New Roman" panose="02020603050405020304" pitchFamily="18" charset="0"/>
                <a:ea typeface="Calibri" panose="020F0502020204030204" pitchFamily="34" charset="0"/>
                <a:cs typeface="Times New Roman" panose="02020603050405020304" pitchFamily="18" charset="0"/>
              </a:rPr>
              <a:t>Отделения</a:t>
            </a:r>
            <a:r>
              <a:rPr lang="en-US" dirty="0">
                <a:latin typeface="Times New Roman" panose="02020603050405020304" pitchFamily="18" charset="0"/>
                <a:ea typeface="Calibri" panose="020F0502020204030204" pitchFamily="34" charset="0"/>
                <a:cs typeface="Times New Roman" panose="02020603050405020304" pitchFamily="18" charset="0"/>
              </a:rPr>
              <a:t>”</a:t>
            </a:r>
            <a:r>
              <a:rPr lang="ru-RU" dirty="0">
                <a:latin typeface="Times New Roman" panose="02020603050405020304" pitchFamily="18" charset="0"/>
                <a:ea typeface="Calibri" panose="020F0502020204030204" pitchFamily="34" charset="0"/>
                <a:cs typeface="Times New Roman" panose="02020603050405020304" pitchFamily="18" charset="0"/>
              </a:rPr>
              <a:t>, чуток их настроив и добавив им реквизиты.</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Рисунок 7">
            <a:extLst>
              <a:ext uri="{FF2B5EF4-FFF2-40B4-BE49-F238E27FC236}">
                <a16:creationId xmlns:a16="http://schemas.microsoft.com/office/drawing/2014/main" id="{3DA20281-E603-55C2-1904-1D42FE5F1879}"/>
              </a:ext>
            </a:extLst>
          </p:cNvPr>
          <p:cNvPicPr>
            <a:picLocks noChangeAspect="1"/>
          </p:cNvPicPr>
          <p:nvPr/>
        </p:nvPicPr>
        <p:blipFill>
          <a:blip r:embed="rId2"/>
          <a:stretch>
            <a:fillRect/>
          </a:stretch>
        </p:blipFill>
        <p:spPr>
          <a:xfrm>
            <a:off x="1933462" y="4432378"/>
            <a:ext cx="1619476" cy="619211"/>
          </a:xfrm>
          <a:prstGeom prst="rect">
            <a:avLst/>
          </a:prstGeom>
        </p:spPr>
      </p:pic>
      <p:pic>
        <p:nvPicPr>
          <p:cNvPr id="10" name="Рисунок 9">
            <a:extLst>
              <a:ext uri="{FF2B5EF4-FFF2-40B4-BE49-F238E27FC236}">
                <a16:creationId xmlns:a16="http://schemas.microsoft.com/office/drawing/2014/main" id="{BBE35BA3-1876-2922-1457-9AE560C8E8A2}"/>
              </a:ext>
            </a:extLst>
          </p:cNvPr>
          <p:cNvPicPr>
            <a:picLocks noChangeAspect="1"/>
          </p:cNvPicPr>
          <p:nvPr/>
        </p:nvPicPr>
        <p:blipFill>
          <a:blip r:embed="rId3"/>
          <a:stretch>
            <a:fillRect/>
          </a:stretch>
        </p:blipFill>
        <p:spPr>
          <a:xfrm>
            <a:off x="1933462" y="5252635"/>
            <a:ext cx="1819529" cy="514422"/>
          </a:xfrm>
          <a:prstGeom prst="rect">
            <a:avLst/>
          </a:prstGeom>
        </p:spPr>
      </p:pic>
      <p:pic>
        <p:nvPicPr>
          <p:cNvPr id="11" name="Рисунок 10">
            <a:extLst>
              <a:ext uri="{FF2B5EF4-FFF2-40B4-BE49-F238E27FC236}">
                <a16:creationId xmlns:a16="http://schemas.microsoft.com/office/drawing/2014/main" id="{4B6E0012-D93A-75DF-B916-E7F02F487292}"/>
              </a:ext>
            </a:extLst>
          </p:cNvPr>
          <p:cNvPicPr>
            <a:picLocks noChangeAspect="1"/>
          </p:cNvPicPr>
          <p:nvPr/>
        </p:nvPicPr>
        <p:blipFill>
          <a:blip r:embed="rId4"/>
          <a:stretch>
            <a:fillRect/>
          </a:stretch>
        </p:blipFill>
        <p:spPr>
          <a:xfrm>
            <a:off x="6982606" y="502260"/>
            <a:ext cx="4791710" cy="2066925"/>
          </a:xfrm>
          <a:prstGeom prst="rect">
            <a:avLst/>
          </a:prstGeom>
        </p:spPr>
      </p:pic>
      <p:pic>
        <p:nvPicPr>
          <p:cNvPr id="12" name="Рисунок 11">
            <a:extLst>
              <a:ext uri="{FF2B5EF4-FFF2-40B4-BE49-F238E27FC236}">
                <a16:creationId xmlns:a16="http://schemas.microsoft.com/office/drawing/2014/main" id="{7BAB08F4-6437-B419-D577-CD8C636DFA67}"/>
              </a:ext>
            </a:extLst>
          </p:cNvPr>
          <p:cNvPicPr>
            <a:picLocks noChangeAspect="1"/>
          </p:cNvPicPr>
          <p:nvPr/>
        </p:nvPicPr>
        <p:blipFill>
          <a:blip r:embed="rId5"/>
          <a:srcRect l="38356" t="27087" r="38061" b="37358"/>
          <a:stretch/>
        </p:blipFill>
        <p:spPr>
          <a:xfrm>
            <a:off x="6982606" y="3006968"/>
            <a:ext cx="3962400" cy="2238179"/>
          </a:xfrm>
          <a:prstGeom prst="rect">
            <a:avLst/>
          </a:prstGeom>
        </p:spPr>
      </p:pic>
    </p:spTree>
    <p:extLst>
      <p:ext uri="{BB962C8B-B14F-4D97-AF65-F5344CB8AC3E}">
        <p14:creationId xmlns:p14="http://schemas.microsoft.com/office/powerpoint/2010/main" val="140554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955794" y="352687"/>
            <a:ext cx="7259124" cy="2123145"/>
          </a:xfrm>
          <a:prstGeom prst="rect">
            <a:avLst/>
          </a:prstGeom>
          <a:noFill/>
        </p:spPr>
        <p:txBody>
          <a:bodyPr wrap="square">
            <a:spAutoFit/>
          </a:bodyPr>
          <a:lstStyle/>
          <a:p>
            <a:pPr algn="ctr">
              <a:lnSpc>
                <a:spcPct val="107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Объект конфигурации «Регистр сведений»</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 случае, когда мы хотим фиксировать в наших объектах периодически изменяемые данные и нам необходимо отслеживать\хранить историю изменения значений, необходимо использовать объект конфигурации «Регистр сведений». </a:t>
            </a:r>
            <a:r>
              <a:rPr lang="ru-RU" sz="1800" dirty="0">
                <a:effectLst/>
                <a:latin typeface="Times New Roman" panose="02020603050405020304" pitchFamily="18" charset="0"/>
                <a:ea typeface="Calibri" panose="020F0502020204030204" pitchFamily="34" charset="0"/>
              </a:rPr>
              <a:t>Мы создали регистр сведений для хранения цен </a:t>
            </a:r>
            <a:r>
              <a:rPr lang="en-US" sz="1800" dirty="0">
                <a:effectLst/>
                <a:latin typeface="Times New Roman" panose="02020603050405020304" pitchFamily="18" charset="0"/>
                <a:ea typeface="Calibri" panose="020F0502020204030204" pitchFamily="34" charset="0"/>
              </a:rPr>
              <a:t>“</a:t>
            </a:r>
            <a:r>
              <a:rPr lang="ru-RU" sz="1800" dirty="0">
                <a:effectLst/>
                <a:latin typeface="Times New Roman" panose="02020603050405020304" pitchFamily="18" charset="0"/>
                <a:ea typeface="Calibri" panose="020F0502020204030204" pitchFamily="34" charset="0"/>
              </a:rPr>
              <a:t>Услуги</a:t>
            </a:r>
            <a:r>
              <a:rPr lang="en-US" sz="1800" dirty="0">
                <a:effectLst/>
                <a:latin typeface="Times New Roman" panose="02020603050405020304" pitchFamily="18" charset="0"/>
                <a:ea typeface="Calibri" panose="020F0502020204030204" pitchFamily="34" charset="0"/>
              </a:rPr>
              <a:t>”</a:t>
            </a:r>
            <a:r>
              <a:rPr lang="ru-RU" sz="1800" dirty="0">
                <a:effectLst/>
                <a:latin typeface="Times New Roman" panose="02020603050405020304" pitchFamily="18" charset="0"/>
                <a:ea typeface="Calibri" panose="020F0502020204030204" pitchFamily="34" charset="0"/>
              </a:rPr>
              <a:t>, настроив их.</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Рисунок 4">
            <a:extLst>
              <a:ext uri="{FF2B5EF4-FFF2-40B4-BE49-F238E27FC236}">
                <a16:creationId xmlns:a16="http://schemas.microsoft.com/office/drawing/2014/main" id="{75D380F9-AF5C-79AB-38CD-C551731B2977}"/>
              </a:ext>
            </a:extLst>
          </p:cNvPr>
          <p:cNvPicPr>
            <a:picLocks noChangeAspect="1"/>
          </p:cNvPicPr>
          <p:nvPr/>
        </p:nvPicPr>
        <p:blipFill>
          <a:blip r:embed="rId2"/>
          <a:stretch>
            <a:fillRect/>
          </a:stretch>
        </p:blipFill>
        <p:spPr>
          <a:xfrm>
            <a:off x="7596556" y="3245460"/>
            <a:ext cx="3381375" cy="2828925"/>
          </a:xfrm>
          <a:prstGeom prst="rect">
            <a:avLst/>
          </a:prstGeom>
        </p:spPr>
      </p:pic>
      <p:pic>
        <p:nvPicPr>
          <p:cNvPr id="6" name="Рисунок 5">
            <a:extLst>
              <a:ext uri="{FF2B5EF4-FFF2-40B4-BE49-F238E27FC236}">
                <a16:creationId xmlns:a16="http://schemas.microsoft.com/office/drawing/2014/main" id="{415245C7-BFE7-AC18-66AB-66343C9824E5}"/>
              </a:ext>
            </a:extLst>
          </p:cNvPr>
          <p:cNvPicPr>
            <a:picLocks noChangeAspect="1"/>
          </p:cNvPicPr>
          <p:nvPr/>
        </p:nvPicPr>
        <p:blipFill>
          <a:blip r:embed="rId3"/>
          <a:stretch>
            <a:fillRect/>
          </a:stretch>
        </p:blipFill>
        <p:spPr>
          <a:xfrm>
            <a:off x="720651" y="3293452"/>
            <a:ext cx="5182235" cy="2990850"/>
          </a:xfrm>
          <a:prstGeom prst="rect">
            <a:avLst/>
          </a:prstGeom>
        </p:spPr>
      </p:pic>
      <p:pic>
        <p:nvPicPr>
          <p:cNvPr id="8" name="Рисунок 7">
            <a:extLst>
              <a:ext uri="{FF2B5EF4-FFF2-40B4-BE49-F238E27FC236}">
                <a16:creationId xmlns:a16="http://schemas.microsoft.com/office/drawing/2014/main" id="{0B87B02A-9C35-E33B-2D83-4643F99602D0}"/>
              </a:ext>
            </a:extLst>
          </p:cNvPr>
          <p:cNvPicPr>
            <a:picLocks noChangeAspect="1"/>
          </p:cNvPicPr>
          <p:nvPr/>
        </p:nvPicPr>
        <p:blipFill>
          <a:blip r:embed="rId4"/>
          <a:stretch>
            <a:fillRect/>
          </a:stretch>
        </p:blipFill>
        <p:spPr>
          <a:xfrm>
            <a:off x="8214918" y="1133778"/>
            <a:ext cx="1667108" cy="885949"/>
          </a:xfrm>
          <a:prstGeom prst="rect">
            <a:avLst/>
          </a:prstGeom>
        </p:spPr>
      </p:pic>
    </p:spTree>
    <p:extLst>
      <p:ext uri="{BB962C8B-B14F-4D97-AF65-F5344CB8AC3E}">
        <p14:creationId xmlns:p14="http://schemas.microsoft.com/office/powerpoint/2010/main" val="2901099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795642" y="4407842"/>
            <a:ext cx="8029234" cy="2450158"/>
          </a:xfrm>
          <a:prstGeom prst="rect">
            <a:avLst/>
          </a:prstGeom>
          <a:noFill/>
        </p:spPr>
        <p:txBody>
          <a:bodyPr wrap="square">
            <a:spAutoFit/>
          </a:bodyPr>
          <a:lstStyle/>
          <a:p>
            <a:pPr>
              <a:lnSpc>
                <a:spcPct val="107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Продолжение заполнения справочников</a:t>
            </a:r>
            <a:br>
              <a:rPr lang="ru-RU" sz="2800" b="1" dirty="0">
                <a:effectLst/>
                <a:latin typeface="Times New Roman" panose="02020603050405020304" pitchFamily="18" charset="0"/>
                <a:ea typeface="Calibri" panose="020F0502020204030204" pitchFamily="34" charset="0"/>
                <a:cs typeface="Times New Roman" panose="02020603050405020304" pitchFamily="18" charset="0"/>
              </a:rPr>
            </a:br>
            <a:r>
              <a:rPr lang="ru-RU" sz="1800" dirty="0">
                <a:effectLst/>
                <a:latin typeface="Times New Roman" panose="02020603050405020304" pitchFamily="18" charset="0"/>
                <a:ea typeface="Calibri" panose="020F0502020204030204" pitchFamily="34" charset="0"/>
              </a:rPr>
              <a:t>Создадим справочник для хранения сотрудников, но сперва создадим справочник для фиксации должностей сотрудников, во избежание </a:t>
            </a:r>
            <a:r>
              <a:rPr lang="ru-RU" sz="1800" dirty="0" err="1">
                <a:effectLst/>
                <a:latin typeface="Times New Roman" panose="02020603050405020304" pitchFamily="18" charset="0"/>
                <a:ea typeface="Calibri" panose="020F0502020204030204" pitchFamily="34" charset="0"/>
              </a:rPr>
              <a:t>разнонаписания</a:t>
            </a:r>
            <a:r>
              <a:rPr lang="ru-RU" sz="1800" dirty="0">
                <a:effectLst/>
                <a:latin typeface="Times New Roman" panose="02020603050405020304" pitchFamily="18" charset="0"/>
                <a:ea typeface="Calibri" panose="020F0502020204030204" pitchFamily="34" charset="0"/>
              </a:rPr>
              <a:t>.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Для справочника «Должности» нам достаточно стандартных атрибутов</a:t>
            </a:r>
            <a:r>
              <a:rPr lang="ru-RU" dirty="0">
                <a:latin typeface="Calibri" panose="020F0502020204030204" pitchFamily="34" charset="0"/>
                <a:ea typeface="Calibri" panose="020F0502020204030204" pitchFamily="34" charset="0"/>
                <a:cs typeface="Times New Roman" panose="02020603050405020304" pitchFamily="18" charset="0"/>
              </a:rPr>
              <a:t>.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 качестве наименования для элемента справочника «Сотрудники» будем передавать ФИО.</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Рисунок 4">
            <a:extLst>
              <a:ext uri="{FF2B5EF4-FFF2-40B4-BE49-F238E27FC236}">
                <a16:creationId xmlns:a16="http://schemas.microsoft.com/office/drawing/2014/main" id="{34B3AA69-9704-B0A5-99C4-A3B3EBECDCB8}"/>
              </a:ext>
            </a:extLst>
          </p:cNvPr>
          <p:cNvPicPr>
            <a:picLocks noChangeAspect="1"/>
          </p:cNvPicPr>
          <p:nvPr/>
        </p:nvPicPr>
        <p:blipFill>
          <a:blip r:embed="rId2"/>
          <a:stretch>
            <a:fillRect/>
          </a:stretch>
        </p:blipFill>
        <p:spPr>
          <a:xfrm>
            <a:off x="1291317" y="869497"/>
            <a:ext cx="4057650" cy="3028950"/>
          </a:xfrm>
          <a:prstGeom prst="rect">
            <a:avLst/>
          </a:prstGeom>
        </p:spPr>
      </p:pic>
      <p:pic>
        <p:nvPicPr>
          <p:cNvPr id="6" name="Рисунок 5">
            <a:extLst>
              <a:ext uri="{FF2B5EF4-FFF2-40B4-BE49-F238E27FC236}">
                <a16:creationId xmlns:a16="http://schemas.microsoft.com/office/drawing/2014/main" id="{E62344D4-1441-C83C-9E9F-6E635AD8D8D2}"/>
              </a:ext>
            </a:extLst>
          </p:cNvPr>
          <p:cNvPicPr>
            <a:picLocks noChangeAspect="1"/>
          </p:cNvPicPr>
          <p:nvPr/>
        </p:nvPicPr>
        <p:blipFill>
          <a:blip r:embed="rId3"/>
          <a:srcRect r="83759" b="37128"/>
          <a:stretch/>
        </p:blipFill>
        <p:spPr>
          <a:xfrm>
            <a:off x="6503331" y="869497"/>
            <a:ext cx="4643090" cy="2153795"/>
          </a:xfrm>
          <a:prstGeom prst="rect">
            <a:avLst/>
          </a:prstGeom>
        </p:spPr>
      </p:pic>
      <p:pic>
        <p:nvPicPr>
          <p:cNvPr id="8" name="Рисунок 7">
            <a:extLst>
              <a:ext uri="{FF2B5EF4-FFF2-40B4-BE49-F238E27FC236}">
                <a16:creationId xmlns:a16="http://schemas.microsoft.com/office/drawing/2014/main" id="{1422D727-3CF2-C621-6BBB-29DDA5E7BB11}"/>
              </a:ext>
            </a:extLst>
          </p:cNvPr>
          <p:cNvPicPr>
            <a:picLocks noChangeAspect="1"/>
          </p:cNvPicPr>
          <p:nvPr/>
        </p:nvPicPr>
        <p:blipFill>
          <a:blip r:embed="rId4"/>
          <a:stretch>
            <a:fillRect/>
          </a:stretch>
        </p:blipFill>
        <p:spPr>
          <a:xfrm>
            <a:off x="9223232" y="3429000"/>
            <a:ext cx="2333951" cy="3057952"/>
          </a:xfrm>
          <a:prstGeom prst="rect">
            <a:avLst/>
          </a:prstGeom>
        </p:spPr>
      </p:pic>
    </p:spTree>
    <p:extLst>
      <p:ext uri="{BB962C8B-B14F-4D97-AF65-F5344CB8AC3E}">
        <p14:creationId xmlns:p14="http://schemas.microsoft.com/office/powerpoint/2010/main" val="1887491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431186" y="3701400"/>
            <a:ext cx="6098720" cy="3737177"/>
          </a:xfrm>
          <a:prstGeom prst="rect">
            <a:avLst/>
          </a:prstGeom>
          <a:noFill/>
        </p:spPr>
        <p:txBody>
          <a:bodyPr wrap="square">
            <a:spAutoFit/>
          </a:bodyPr>
          <a:lstStyle/>
          <a:p>
            <a:pP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Табличные части и перечисления</a:t>
            </a:r>
            <a:br>
              <a:rPr lang="ru-RU" sz="2000" dirty="0">
                <a:effectLst/>
                <a:latin typeface="Times New Roman" panose="02020603050405020304" pitchFamily="18" charset="0"/>
                <a:ea typeface="Calibri" panose="020F0502020204030204" pitchFamily="34" charset="0"/>
                <a:cs typeface="Times New Roman" panose="02020603050405020304" pitchFamily="18" charset="0"/>
              </a:rPr>
            </a:b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Табличная часть – элемент справочника предназначенный для хранения информации в виде таблицы</a:t>
            </a:r>
            <a:r>
              <a:rPr lang="ru-RU" sz="2000" dirty="0">
                <a:latin typeface="Calibri" panose="020F0502020204030204" pitchFamily="34" charset="0"/>
                <a:ea typeface="Calibri" panose="020F0502020204030204" pitchFamily="34" charset="0"/>
                <a:cs typeface="Times New Roman" panose="02020603050405020304" pitchFamily="18" charset="0"/>
              </a:rPr>
              <a:t>.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 нашем случае табличная часть будет использоваться для хранения расписания клиники. По итогу мы получаем таблицу, в которую необходимо самостоятельно заводить каждый день недели для клиники, а также неудобным образом выбирать свойство рабочего дня, с ненужным указанием номера строки</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6000"/>
              </a:lnSpc>
              <a:spcAft>
                <a:spcPts val="800"/>
              </a:spcAft>
            </a:pP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A3DDF714-C333-C42F-EFBE-F327D6E63D70}"/>
              </a:ext>
            </a:extLst>
          </p:cNvPr>
          <p:cNvPicPr>
            <a:picLocks noChangeAspect="1"/>
          </p:cNvPicPr>
          <p:nvPr/>
        </p:nvPicPr>
        <p:blipFill>
          <a:blip r:embed="rId2"/>
          <a:stretch>
            <a:fillRect/>
          </a:stretch>
        </p:blipFill>
        <p:spPr>
          <a:xfrm>
            <a:off x="851645" y="721054"/>
            <a:ext cx="2324424" cy="1790950"/>
          </a:xfrm>
          <a:prstGeom prst="rect">
            <a:avLst/>
          </a:prstGeom>
        </p:spPr>
      </p:pic>
      <p:pic>
        <p:nvPicPr>
          <p:cNvPr id="8" name="Рисунок 7">
            <a:extLst>
              <a:ext uri="{FF2B5EF4-FFF2-40B4-BE49-F238E27FC236}">
                <a16:creationId xmlns:a16="http://schemas.microsoft.com/office/drawing/2014/main" id="{1AB97302-DABC-CD56-DBD8-7AE78C0828DD}"/>
              </a:ext>
            </a:extLst>
          </p:cNvPr>
          <p:cNvPicPr>
            <a:picLocks noChangeAspect="1"/>
          </p:cNvPicPr>
          <p:nvPr/>
        </p:nvPicPr>
        <p:blipFill>
          <a:blip r:embed="rId3"/>
          <a:stretch>
            <a:fillRect/>
          </a:stretch>
        </p:blipFill>
        <p:spPr>
          <a:xfrm>
            <a:off x="3666977" y="721054"/>
            <a:ext cx="2114845" cy="1876687"/>
          </a:xfrm>
          <a:prstGeom prst="rect">
            <a:avLst/>
          </a:prstGeom>
        </p:spPr>
      </p:pic>
      <p:pic>
        <p:nvPicPr>
          <p:cNvPr id="9" name="Рисунок 8">
            <a:extLst>
              <a:ext uri="{FF2B5EF4-FFF2-40B4-BE49-F238E27FC236}">
                <a16:creationId xmlns:a16="http://schemas.microsoft.com/office/drawing/2014/main" id="{5B0BCA29-077D-8CA5-890F-3D12F57D90A0}"/>
              </a:ext>
            </a:extLst>
          </p:cNvPr>
          <p:cNvPicPr>
            <a:picLocks noChangeAspect="1"/>
          </p:cNvPicPr>
          <p:nvPr/>
        </p:nvPicPr>
        <p:blipFill>
          <a:blip r:embed="rId4"/>
          <a:stretch>
            <a:fillRect/>
          </a:stretch>
        </p:blipFill>
        <p:spPr>
          <a:xfrm>
            <a:off x="6930532" y="512671"/>
            <a:ext cx="4829810" cy="4820285"/>
          </a:xfrm>
          <a:prstGeom prst="rect">
            <a:avLst/>
          </a:prstGeom>
        </p:spPr>
      </p:pic>
    </p:spTree>
    <p:extLst>
      <p:ext uri="{BB962C8B-B14F-4D97-AF65-F5344CB8AC3E}">
        <p14:creationId xmlns:p14="http://schemas.microsoft.com/office/powerpoint/2010/main" val="3103580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316886" y="235456"/>
            <a:ext cx="6098720" cy="2171044"/>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Формы</a:t>
            </a:r>
          </a:p>
          <a:p>
            <a:pPr>
              <a:lnSpc>
                <a:spcPct val="106000"/>
              </a:lnSpc>
              <a:spcAft>
                <a:spcPts val="800"/>
              </a:spcAft>
            </a:pP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Мы устраняем предыдущую проблему путем создания формы. </a:t>
            </a:r>
            <a:r>
              <a:rPr lang="ru-RU" sz="1800" dirty="0">
                <a:effectLst/>
                <a:latin typeface="Times New Roman" panose="02020603050405020304" pitchFamily="18" charset="0"/>
                <a:ea typeface="Calibri" panose="020F0502020204030204" pitchFamily="34" charset="0"/>
              </a:rPr>
              <a:t>Форма – объект справочника, в рамках которого происходит редактирование отображения содержимого справочника. В форме мы редактируем модуль и некоторый вид отображения, путем написания процедур</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Рисунок 1">
            <a:extLst>
              <a:ext uri="{FF2B5EF4-FFF2-40B4-BE49-F238E27FC236}">
                <a16:creationId xmlns:a16="http://schemas.microsoft.com/office/drawing/2014/main" id="{A9100CF1-9558-6802-39E1-A2E9D04F6629}"/>
              </a:ext>
            </a:extLst>
          </p:cNvPr>
          <p:cNvPicPr>
            <a:picLocks noChangeAspect="1"/>
          </p:cNvPicPr>
          <p:nvPr/>
        </p:nvPicPr>
        <p:blipFill>
          <a:blip r:embed="rId2"/>
          <a:stretch>
            <a:fillRect/>
          </a:stretch>
        </p:blipFill>
        <p:spPr>
          <a:xfrm>
            <a:off x="522514" y="2600028"/>
            <a:ext cx="3628798" cy="4022516"/>
          </a:xfrm>
          <a:prstGeom prst="rect">
            <a:avLst/>
          </a:prstGeom>
        </p:spPr>
      </p:pic>
      <p:pic>
        <p:nvPicPr>
          <p:cNvPr id="5" name="Рисунок 4">
            <a:extLst>
              <a:ext uri="{FF2B5EF4-FFF2-40B4-BE49-F238E27FC236}">
                <a16:creationId xmlns:a16="http://schemas.microsoft.com/office/drawing/2014/main" id="{1D1084C3-F3C6-2F18-12A5-B921B6BC54B1}"/>
              </a:ext>
            </a:extLst>
          </p:cNvPr>
          <p:cNvPicPr>
            <a:picLocks noChangeAspect="1"/>
          </p:cNvPicPr>
          <p:nvPr/>
        </p:nvPicPr>
        <p:blipFill>
          <a:blip r:embed="rId3"/>
          <a:stretch>
            <a:fillRect/>
          </a:stretch>
        </p:blipFill>
        <p:spPr>
          <a:xfrm>
            <a:off x="5232446" y="4196443"/>
            <a:ext cx="5877745" cy="1962424"/>
          </a:xfrm>
          <a:prstGeom prst="rect">
            <a:avLst/>
          </a:prstGeom>
        </p:spPr>
      </p:pic>
      <p:pic>
        <p:nvPicPr>
          <p:cNvPr id="6" name="Рисунок 5">
            <a:extLst>
              <a:ext uri="{FF2B5EF4-FFF2-40B4-BE49-F238E27FC236}">
                <a16:creationId xmlns:a16="http://schemas.microsoft.com/office/drawing/2014/main" id="{A79EB1D8-6C50-3316-39D7-A1749813ED5A}"/>
              </a:ext>
            </a:extLst>
          </p:cNvPr>
          <p:cNvPicPr>
            <a:picLocks noChangeAspect="1"/>
          </p:cNvPicPr>
          <p:nvPr/>
        </p:nvPicPr>
        <p:blipFill>
          <a:blip r:embed="rId4"/>
          <a:stretch>
            <a:fillRect/>
          </a:stretch>
        </p:blipFill>
        <p:spPr>
          <a:xfrm>
            <a:off x="7516948" y="353861"/>
            <a:ext cx="3888992" cy="3075139"/>
          </a:xfrm>
          <a:prstGeom prst="rect">
            <a:avLst/>
          </a:prstGeom>
        </p:spPr>
      </p:pic>
    </p:spTree>
    <p:extLst>
      <p:ext uri="{BB962C8B-B14F-4D97-AF65-F5344CB8AC3E}">
        <p14:creationId xmlns:p14="http://schemas.microsoft.com/office/powerpoint/2010/main" val="1033015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5688986" y="153813"/>
            <a:ext cx="6098720" cy="2415213"/>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Документы</a:t>
            </a:r>
          </a:p>
          <a:p>
            <a:pPr>
              <a:lnSpc>
                <a:spcPct val="107000"/>
              </a:lnSpc>
              <a:spcAft>
                <a:spcPts val="800"/>
              </a:spcAf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Документ – основной объект конфигурации, отражающий информацию о определенном типе операций. В нашем случае это будет запись в ремонтную мастерскую. Документ является более функциональным справочником. На этом этапе мы создаем и редактируем документ, а так же его форму и реквизит. </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Рисунок 2">
            <a:extLst>
              <a:ext uri="{FF2B5EF4-FFF2-40B4-BE49-F238E27FC236}">
                <a16:creationId xmlns:a16="http://schemas.microsoft.com/office/drawing/2014/main" id="{736F9F90-5BB2-D3D7-61E7-954CA786FDE9}"/>
              </a:ext>
            </a:extLst>
          </p:cNvPr>
          <p:cNvPicPr>
            <a:picLocks noChangeAspect="1"/>
          </p:cNvPicPr>
          <p:nvPr/>
        </p:nvPicPr>
        <p:blipFill>
          <a:blip r:embed="rId2"/>
          <a:stretch>
            <a:fillRect/>
          </a:stretch>
        </p:blipFill>
        <p:spPr>
          <a:xfrm>
            <a:off x="674745" y="3449751"/>
            <a:ext cx="1268180" cy="1153412"/>
          </a:xfrm>
          <a:prstGeom prst="rect">
            <a:avLst/>
          </a:prstGeom>
        </p:spPr>
      </p:pic>
      <p:pic>
        <p:nvPicPr>
          <p:cNvPr id="12" name="Рисунок 11">
            <a:extLst>
              <a:ext uri="{FF2B5EF4-FFF2-40B4-BE49-F238E27FC236}">
                <a16:creationId xmlns:a16="http://schemas.microsoft.com/office/drawing/2014/main" id="{B1863E76-E383-3172-D940-82BA19704B68}"/>
              </a:ext>
            </a:extLst>
          </p:cNvPr>
          <p:cNvPicPr>
            <a:picLocks noChangeAspect="1"/>
          </p:cNvPicPr>
          <p:nvPr/>
        </p:nvPicPr>
        <p:blipFill>
          <a:blip r:embed="rId3"/>
          <a:stretch>
            <a:fillRect/>
          </a:stretch>
        </p:blipFill>
        <p:spPr>
          <a:xfrm>
            <a:off x="8004972" y="2613114"/>
            <a:ext cx="3697910" cy="3351722"/>
          </a:xfrm>
          <a:prstGeom prst="rect">
            <a:avLst/>
          </a:prstGeom>
        </p:spPr>
      </p:pic>
      <p:pic>
        <p:nvPicPr>
          <p:cNvPr id="15" name="Рисунок 14">
            <a:extLst>
              <a:ext uri="{FF2B5EF4-FFF2-40B4-BE49-F238E27FC236}">
                <a16:creationId xmlns:a16="http://schemas.microsoft.com/office/drawing/2014/main" id="{CA81AC0E-E5A9-0485-6658-FFC54C6324BC}"/>
              </a:ext>
            </a:extLst>
          </p:cNvPr>
          <p:cNvPicPr>
            <a:picLocks noChangeAspect="1"/>
          </p:cNvPicPr>
          <p:nvPr/>
        </p:nvPicPr>
        <p:blipFill>
          <a:blip r:embed="rId4"/>
          <a:stretch>
            <a:fillRect/>
          </a:stretch>
        </p:blipFill>
        <p:spPr>
          <a:xfrm>
            <a:off x="674745" y="773433"/>
            <a:ext cx="3241293" cy="2035005"/>
          </a:xfrm>
          <a:prstGeom prst="rect">
            <a:avLst/>
          </a:prstGeom>
        </p:spPr>
      </p:pic>
      <p:pic>
        <p:nvPicPr>
          <p:cNvPr id="16" name="Рисунок 15">
            <a:extLst>
              <a:ext uri="{FF2B5EF4-FFF2-40B4-BE49-F238E27FC236}">
                <a16:creationId xmlns:a16="http://schemas.microsoft.com/office/drawing/2014/main" id="{066C3207-3A02-FF97-0E1F-69CAFCFB1A10}"/>
              </a:ext>
            </a:extLst>
          </p:cNvPr>
          <p:cNvPicPr>
            <a:picLocks noChangeAspect="1"/>
          </p:cNvPicPr>
          <p:nvPr/>
        </p:nvPicPr>
        <p:blipFill>
          <a:blip r:embed="rId5"/>
          <a:stretch>
            <a:fillRect/>
          </a:stretch>
        </p:blipFill>
        <p:spPr>
          <a:xfrm>
            <a:off x="4710049" y="3601376"/>
            <a:ext cx="3305493" cy="2693148"/>
          </a:xfrm>
          <a:prstGeom prst="rect">
            <a:avLst/>
          </a:prstGeom>
        </p:spPr>
      </p:pic>
      <p:pic>
        <p:nvPicPr>
          <p:cNvPr id="18" name="Рисунок 17">
            <a:extLst>
              <a:ext uri="{FF2B5EF4-FFF2-40B4-BE49-F238E27FC236}">
                <a16:creationId xmlns:a16="http://schemas.microsoft.com/office/drawing/2014/main" id="{5CEE99D9-815F-6DF1-CA11-93D166B2D004}"/>
              </a:ext>
            </a:extLst>
          </p:cNvPr>
          <p:cNvPicPr>
            <a:picLocks noChangeAspect="1"/>
          </p:cNvPicPr>
          <p:nvPr/>
        </p:nvPicPr>
        <p:blipFill>
          <a:blip r:embed="rId6"/>
          <a:stretch>
            <a:fillRect/>
          </a:stretch>
        </p:blipFill>
        <p:spPr>
          <a:xfrm>
            <a:off x="929912" y="4947950"/>
            <a:ext cx="3801005" cy="1448002"/>
          </a:xfrm>
          <a:prstGeom prst="rect">
            <a:avLst/>
          </a:prstGeom>
        </p:spPr>
      </p:pic>
      <p:pic>
        <p:nvPicPr>
          <p:cNvPr id="20" name="Рисунок 19">
            <a:extLst>
              <a:ext uri="{FF2B5EF4-FFF2-40B4-BE49-F238E27FC236}">
                <a16:creationId xmlns:a16="http://schemas.microsoft.com/office/drawing/2014/main" id="{904EA587-914F-86CD-F996-5A2642954AE0}"/>
              </a:ext>
            </a:extLst>
          </p:cNvPr>
          <p:cNvPicPr>
            <a:picLocks noChangeAspect="1"/>
          </p:cNvPicPr>
          <p:nvPr/>
        </p:nvPicPr>
        <p:blipFill>
          <a:blip r:embed="rId7"/>
          <a:stretch>
            <a:fillRect/>
          </a:stretch>
        </p:blipFill>
        <p:spPr>
          <a:xfrm>
            <a:off x="4148066" y="563476"/>
            <a:ext cx="1450156" cy="2693148"/>
          </a:xfrm>
          <a:prstGeom prst="rect">
            <a:avLst/>
          </a:prstGeom>
        </p:spPr>
      </p:pic>
    </p:spTree>
    <p:extLst>
      <p:ext uri="{BB962C8B-B14F-4D97-AF65-F5344CB8AC3E}">
        <p14:creationId xmlns:p14="http://schemas.microsoft.com/office/powerpoint/2010/main" val="2514157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316886" y="235456"/>
            <a:ext cx="6098720" cy="3007939"/>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Регистры</a:t>
            </a:r>
          </a:p>
          <a:p>
            <a:pPr>
              <a:lnSpc>
                <a:spcPct val="107000"/>
              </a:lnSpc>
              <a:spcAft>
                <a:spcPts val="800"/>
              </a:spcAft>
            </a:pPr>
            <a:r>
              <a:rPr lang="ru-RU" sz="1800" b="1" dirty="0">
                <a:effectLst/>
                <a:latin typeface="Times New Roman" panose="02020603050405020304" pitchFamily="18" charset="0"/>
                <a:ea typeface="Calibri" panose="020F0502020204030204" pitchFamily="34" charset="0"/>
                <a:cs typeface="Times New Roman" panose="02020603050405020304" pitchFamily="18" charset="0"/>
              </a:rPr>
              <a:t>Регистры –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таблицы, заполняемые автоматически при проведении документов для сбора аналитики. Один из регистров был использован ранее для записи изменений Цены. Регистры помогают отслеживать изменение данных, что необходимо для создания БД по техническому заданию. Создаем и настраиваем регистры, которые работают с нашими ранее созданными документами, используя встроенные конструкторы.</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Рисунок 2">
            <a:extLst>
              <a:ext uri="{FF2B5EF4-FFF2-40B4-BE49-F238E27FC236}">
                <a16:creationId xmlns:a16="http://schemas.microsoft.com/office/drawing/2014/main" id="{B20D5674-C5DE-DB8A-CFE6-CC0D14EB76A3}"/>
              </a:ext>
            </a:extLst>
          </p:cNvPr>
          <p:cNvPicPr>
            <a:picLocks noChangeAspect="1"/>
          </p:cNvPicPr>
          <p:nvPr/>
        </p:nvPicPr>
        <p:blipFill>
          <a:blip r:embed="rId2"/>
          <a:stretch>
            <a:fillRect/>
          </a:stretch>
        </p:blipFill>
        <p:spPr>
          <a:xfrm>
            <a:off x="9213243" y="452022"/>
            <a:ext cx="2191056" cy="5953956"/>
          </a:xfrm>
          <a:prstGeom prst="rect">
            <a:avLst/>
          </a:prstGeom>
        </p:spPr>
      </p:pic>
      <p:pic>
        <p:nvPicPr>
          <p:cNvPr id="6" name="Рисунок 5">
            <a:extLst>
              <a:ext uri="{FF2B5EF4-FFF2-40B4-BE49-F238E27FC236}">
                <a16:creationId xmlns:a16="http://schemas.microsoft.com/office/drawing/2014/main" id="{E387A746-9CB0-937A-43E6-E48A32F329FA}"/>
              </a:ext>
            </a:extLst>
          </p:cNvPr>
          <p:cNvPicPr>
            <a:picLocks noChangeAspect="1"/>
          </p:cNvPicPr>
          <p:nvPr/>
        </p:nvPicPr>
        <p:blipFill>
          <a:blip r:embed="rId3"/>
          <a:stretch>
            <a:fillRect/>
          </a:stretch>
        </p:blipFill>
        <p:spPr>
          <a:xfrm>
            <a:off x="6671265" y="697779"/>
            <a:ext cx="2286319" cy="3829584"/>
          </a:xfrm>
          <a:prstGeom prst="rect">
            <a:avLst/>
          </a:prstGeom>
        </p:spPr>
      </p:pic>
      <p:pic>
        <p:nvPicPr>
          <p:cNvPr id="8" name="Рисунок 7">
            <a:extLst>
              <a:ext uri="{FF2B5EF4-FFF2-40B4-BE49-F238E27FC236}">
                <a16:creationId xmlns:a16="http://schemas.microsoft.com/office/drawing/2014/main" id="{8A04FB2A-38B0-2082-969D-C0408324D6C4}"/>
              </a:ext>
            </a:extLst>
          </p:cNvPr>
          <p:cNvPicPr>
            <a:picLocks noChangeAspect="1"/>
          </p:cNvPicPr>
          <p:nvPr/>
        </p:nvPicPr>
        <p:blipFill>
          <a:blip r:embed="rId4"/>
          <a:stretch>
            <a:fillRect/>
          </a:stretch>
        </p:blipFill>
        <p:spPr>
          <a:xfrm>
            <a:off x="396033" y="3603754"/>
            <a:ext cx="5940425" cy="3018790"/>
          </a:xfrm>
          <a:prstGeom prst="rect">
            <a:avLst/>
          </a:prstGeom>
        </p:spPr>
      </p:pic>
    </p:spTree>
    <p:extLst>
      <p:ext uri="{BB962C8B-B14F-4D97-AF65-F5344CB8AC3E}">
        <p14:creationId xmlns:p14="http://schemas.microsoft.com/office/powerpoint/2010/main" val="109139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316886" y="235456"/>
            <a:ext cx="11456014" cy="2329420"/>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Расчет зарплаты</a:t>
            </a:r>
            <a:br>
              <a:rPr lang="ru-RU" sz="2800" b="1" dirty="0">
                <a:effectLst/>
                <a:latin typeface="Times New Roman" panose="02020603050405020304" pitchFamily="18" charset="0"/>
                <a:ea typeface="Calibri" panose="020F0502020204030204" pitchFamily="34" charset="0"/>
                <a:cs typeface="Times New Roman" panose="02020603050405020304" pitchFamily="18" charset="0"/>
              </a:rPr>
            </a:b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Мы на финальном этапе. Нам осталось только </a:t>
            </a:r>
            <a:r>
              <a:rPr lang="ru-RU" dirty="0">
                <a:latin typeface="Times New Roman" panose="02020603050405020304" pitchFamily="18" charset="0"/>
                <a:ea typeface="Calibri" panose="020F0502020204030204" pitchFamily="34" charset="0"/>
                <a:cs typeface="Times New Roman" panose="02020603050405020304" pitchFamily="18" charset="0"/>
              </a:rPr>
              <a:t>п</a:t>
            </a:r>
            <a:r>
              <a:rPr lang="ru-RU" sz="1800" dirty="0">
                <a:effectLst/>
                <a:latin typeface="Times New Roman" panose="02020603050405020304" pitchFamily="18" charset="0"/>
                <a:ea typeface="Calibri" panose="020F0502020204030204" pitchFamily="34" charset="0"/>
              </a:rPr>
              <a:t>редусмотрим расчёт зарплаты работникам. С целью демонстрации многообразия бизнес-процессов реализуем начисление работникам помимо основной зарплаты, фиксированный процент от продажи. Данный функционал может быть реализован разными способами. Для обеспечения максимальной возможности разграничения прав доступа за начисление процента будет отвечать Регистр сведений «</a:t>
            </a:r>
            <a:r>
              <a:rPr lang="ru-RU" sz="1800" dirty="0" err="1">
                <a:effectLst/>
                <a:latin typeface="Times New Roman" panose="02020603050405020304" pitchFamily="18" charset="0"/>
                <a:ea typeface="Calibri" panose="020F0502020204030204" pitchFamily="34" charset="0"/>
              </a:rPr>
              <a:t>ПроцентыПоЗарплате</a:t>
            </a:r>
            <a:r>
              <a:rPr lang="ru-RU" sz="1800" dirty="0">
                <a:effectLst/>
                <a:latin typeface="Times New Roman" panose="02020603050405020304" pitchFamily="18" charset="0"/>
                <a:ea typeface="Calibri" panose="020F0502020204030204" pitchFamily="34" charset="0"/>
              </a:rPr>
              <a:t>», регистр будет непериодическим, т.к. нам не интересна история, добавим измерение число </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Рисунок 1">
            <a:extLst>
              <a:ext uri="{FF2B5EF4-FFF2-40B4-BE49-F238E27FC236}">
                <a16:creationId xmlns:a16="http://schemas.microsoft.com/office/drawing/2014/main" id="{104DFEE5-FDEE-96D2-A948-45B05A310003}"/>
              </a:ext>
            </a:extLst>
          </p:cNvPr>
          <p:cNvPicPr>
            <a:picLocks noChangeAspect="1"/>
          </p:cNvPicPr>
          <p:nvPr/>
        </p:nvPicPr>
        <p:blipFill>
          <a:blip r:embed="rId2"/>
          <a:stretch>
            <a:fillRect/>
          </a:stretch>
        </p:blipFill>
        <p:spPr>
          <a:xfrm>
            <a:off x="921430" y="2564876"/>
            <a:ext cx="5940425" cy="3053080"/>
          </a:xfrm>
          <a:prstGeom prst="rect">
            <a:avLst/>
          </a:prstGeom>
        </p:spPr>
      </p:pic>
      <p:pic>
        <p:nvPicPr>
          <p:cNvPr id="3" name="Рисунок 2">
            <a:extLst>
              <a:ext uri="{FF2B5EF4-FFF2-40B4-BE49-F238E27FC236}">
                <a16:creationId xmlns:a16="http://schemas.microsoft.com/office/drawing/2014/main" id="{9F6A427E-B1F6-321C-2152-85061DA8AE68}"/>
              </a:ext>
            </a:extLst>
          </p:cNvPr>
          <p:cNvPicPr>
            <a:picLocks noChangeAspect="1"/>
          </p:cNvPicPr>
          <p:nvPr/>
        </p:nvPicPr>
        <p:blipFill>
          <a:blip r:embed="rId3"/>
          <a:stretch>
            <a:fillRect/>
          </a:stretch>
        </p:blipFill>
        <p:spPr>
          <a:xfrm>
            <a:off x="7466399" y="2869512"/>
            <a:ext cx="3960813" cy="2443807"/>
          </a:xfrm>
          <a:prstGeom prst="rect">
            <a:avLst/>
          </a:prstGeom>
        </p:spPr>
      </p:pic>
    </p:spTree>
    <p:extLst>
      <p:ext uri="{BB962C8B-B14F-4D97-AF65-F5344CB8AC3E}">
        <p14:creationId xmlns:p14="http://schemas.microsoft.com/office/powerpoint/2010/main" val="635704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AD3BD-F738-71A6-49C5-863306E6EFCC}"/>
              </a:ext>
            </a:extLst>
          </p:cNvPr>
          <p:cNvSpPr txBox="1"/>
          <p:nvPr/>
        </p:nvSpPr>
        <p:spPr>
          <a:xfrm>
            <a:off x="316886" y="235456"/>
            <a:ext cx="6098720" cy="3572325"/>
          </a:xfrm>
          <a:prstGeom prst="rect">
            <a:avLst/>
          </a:prstGeom>
          <a:noFill/>
        </p:spPr>
        <p:txBody>
          <a:bodyPr wrap="square">
            <a:spAutoFit/>
          </a:bodyPr>
          <a:lstStyle/>
          <a:p>
            <a:pPr algn="ctr">
              <a:lnSpc>
                <a:spcPct val="106000"/>
              </a:lnSpc>
              <a:spcAft>
                <a:spcPts val="800"/>
              </a:spcAft>
            </a:pPr>
            <a:r>
              <a:rPr lang="ru-RU" sz="2800" b="1" dirty="0">
                <a:effectLst/>
                <a:latin typeface="Times New Roman" panose="02020603050405020304" pitchFamily="18" charset="0"/>
                <a:ea typeface="Calibri" panose="020F0502020204030204" pitchFamily="34" charset="0"/>
                <a:cs typeface="Times New Roman" panose="02020603050405020304" pitchFamily="18" charset="0"/>
              </a:rPr>
              <a:t>Отчёты</a:t>
            </a:r>
          </a:p>
          <a:p>
            <a:pPr>
              <a:lnSpc>
                <a:spcPct val="106000"/>
              </a:lnSpc>
              <a:spcAft>
                <a:spcPts val="800"/>
              </a:spcAft>
            </a:pP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Отчет можно распечатать и графически более приятно отобразить необходимые данные для пользователя. По этой же причине мы и делаем отчет на самом последнем этапе, ведь отчеты делает не разработчик. Но зато их настраивает, что мы и делаем на этом этапе. После того, как мы сделали отчет, мы переименовали некоторые данные, т к изначально делали базу данных клиники, а после делаем отчет в виде презентации.</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Рисунок 1">
            <a:extLst>
              <a:ext uri="{FF2B5EF4-FFF2-40B4-BE49-F238E27FC236}">
                <a16:creationId xmlns:a16="http://schemas.microsoft.com/office/drawing/2014/main" id="{EBA789B7-67ED-EEA6-F56F-C00D63C3E4F6}"/>
              </a:ext>
            </a:extLst>
          </p:cNvPr>
          <p:cNvPicPr>
            <a:picLocks noChangeAspect="1"/>
          </p:cNvPicPr>
          <p:nvPr/>
        </p:nvPicPr>
        <p:blipFill>
          <a:blip r:embed="rId2"/>
          <a:stretch>
            <a:fillRect/>
          </a:stretch>
        </p:blipFill>
        <p:spPr>
          <a:xfrm>
            <a:off x="6946674" y="537391"/>
            <a:ext cx="4630284" cy="2700463"/>
          </a:xfrm>
          <a:prstGeom prst="rect">
            <a:avLst/>
          </a:prstGeom>
        </p:spPr>
      </p:pic>
      <p:pic>
        <p:nvPicPr>
          <p:cNvPr id="3" name="Рисунок 2">
            <a:extLst>
              <a:ext uri="{FF2B5EF4-FFF2-40B4-BE49-F238E27FC236}">
                <a16:creationId xmlns:a16="http://schemas.microsoft.com/office/drawing/2014/main" id="{C6149030-2AE0-FDFB-8488-7E3532B4CAC5}"/>
              </a:ext>
            </a:extLst>
          </p:cNvPr>
          <p:cNvPicPr>
            <a:picLocks noChangeAspect="1"/>
          </p:cNvPicPr>
          <p:nvPr/>
        </p:nvPicPr>
        <p:blipFill>
          <a:blip r:embed="rId3"/>
          <a:stretch>
            <a:fillRect/>
          </a:stretch>
        </p:blipFill>
        <p:spPr>
          <a:xfrm>
            <a:off x="7175274" y="3429000"/>
            <a:ext cx="4173084" cy="3178770"/>
          </a:xfrm>
          <a:prstGeom prst="rect">
            <a:avLst/>
          </a:prstGeom>
        </p:spPr>
      </p:pic>
      <p:pic>
        <p:nvPicPr>
          <p:cNvPr id="5" name="Рисунок 4">
            <a:extLst>
              <a:ext uri="{FF2B5EF4-FFF2-40B4-BE49-F238E27FC236}">
                <a16:creationId xmlns:a16="http://schemas.microsoft.com/office/drawing/2014/main" id="{EFDB9FAE-7F60-8AF6-7248-C8269B44C0E2}"/>
              </a:ext>
            </a:extLst>
          </p:cNvPr>
          <p:cNvPicPr>
            <a:picLocks noChangeAspect="1"/>
          </p:cNvPicPr>
          <p:nvPr/>
        </p:nvPicPr>
        <p:blipFill>
          <a:blip r:embed="rId4"/>
          <a:stretch>
            <a:fillRect/>
          </a:stretch>
        </p:blipFill>
        <p:spPr>
          <a:xfrm>
            <a:off x="1552414" y="4361160"/>
            <a:ext cx="3105150" cy="1314450"/>
          </a:xfrm>
          <a:prstGeom prst="rect">
            <a:avLst/>
          </a:prstGeom>
        </p:spPr>
      </p:pic>
    </p:spTree>
    <p:extLst>
      <p:ext uri="{BB962C8B-B14F-4D97-AF65-F5344CB8AC3E}">
        <p14:creationId xmlns:p14="http://schemas.microsoft.com/office/powerpoint/2010/main" val="4100871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02BC70-C212-8048-2958-356774FC7920}"/>
              </a:ext>
            </a:extLst>
          </p:cNvPr>
          <p:cNvSpPr>
            <a:spLocks noGrp="1"/>
          </p:cNvSpPr>
          <p:nvPr>
            <p:ph type="title"/>
          </p:nvPr>
        </p:nvSpPr>
        <p:spPr>
          <a:xfrm>
            <a:off x="838200" y="2766218"/>
            <a:ext cx="10515600" cy="1325563"/>
          </a:xfrm>
        </p:spPr>
        <p:txBody>
          <a:bodyPr/>
          <a:lstStyle/>
          <a:p>
            <a:pPr algn="ctr"/>
            <a:r>
              <a:rPr lang="ru-RU" b="1" dirty="0">
                <a:latin typeface="Ink Free" panose="03080402000500000000" pitchFamily="66" charset="0"/>
              </a:rPr>
              <a:t>КОНЕЦ</a:t>
            </a:r>
          </a:p>
        </p:txBody>
      </p:sp>
    </p:spTree>
    <p:extLst>
      <p:ext uri="{BB962C8B-B14F-4D97-AF65-F5344CB8AC3E}">
        <p14:creationId xmlns:p14="http://schemas.microsoft.com/office/powerpoint/2010/main" val="321699945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3750</TotalTime>
  <Words>586</Words>
  <Application>Microsoft Office PowerPoint</Application>
  <PresentationFormat>Широкоэкранный</PresentationFormat>
  <Paragraphs>28</Paragraphs>
  <Slides>13</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13</vt:i4>
      </vt:variant>
    </vt:vector>
  </HeadingPairs>
  <TitlesOfParts>
    <vt:vector size="20" baseType="lpstr">
      <vt:lpstr>Aptos</vt:lpstr>
      <vt:lpstr>Aptos Display</vt:lpstr>
      <vt:lpstr>Arial</vt:lpstr>
      <vt:lpstr>Calibri</vt:lpstr>
      <vt:lpstr>Ink Free</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КОНЕЦ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Дмитрий Новиков</dc:creator>
  <cp:lastModifiedBy>Дмитрий Новиков</cp:lastModifiedBy>
  <cp:revision>2</cp:revision>
  <dcterms:created xsi:type="dcterms:W3CDTF">2025-11-17T09:03:37Z</dcterms:created>
  <dcterms:modified xsi:type="dcterms:W3CDTF">2026-01-26T06:48:19Z</dcterms:modified>
</cp:coreProperties>
</file>